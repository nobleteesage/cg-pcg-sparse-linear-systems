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7" d="100"/>
          <a:sy n="87" d="100"/>
        </p:scale>
        <p:origin x="90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86900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yourselves and the project. CG is Method 20, PCG is Method 30 from the list of 34. We chose them because they are the optimal pair for SPD systems from PDE discretisation.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problem with direct methods is not speed, it is fill-in. LU destroys the sparsity that made the problem tractable. Iterative methods avoid factorising A entirely.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8: CSR stores nonzeros AA[], column indices JA[], and row pointers IA[]. For our gr30x30 matrix: n=900, nnz=7744, far fewer than n^2=810,000.</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spy plots directly. Tridiagonal = 1D connectivity = moderate condition number. Five-band = 2D connectivity = larger condition number. The shape tells you how hard the problem is.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not Jacobi or SOR: those are stationary methods with convergence rate rho(G) = 1 - O(h^2). Exponentially slower than CG as h approaches 0.</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symmetry of A is what makes CG efficient. Without it you need GMRES and must store O(m*n) basis vectors. The Lanczos three-term recurrence is what reduces CG to O(n) memory.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conceptual slide. The examiner WILL ask why it is called Conjugate Gradient. Answer: Gradient = from energy functional gradient = residual. Conjugate = A-orthogonal. The p_j are gradient directions modified to be A-conjugate.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Alpha and beta are not chosen arbitrarily. They are the unique values that satisfy orthogonality and A-conjugacy simultaneously. This is what makes CG both optimal and uniquely defined.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step. The convergence check happens AFTER updating r_{k+1} to avoid one unnecessary computation.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convergence plot confirms: kappa=10 converges fast, kappa=1000 converges slowly. The square root dependence is why CG beats Jacobi for ill-conditioned systems even without preconditioning.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preconditioning transforms the system so the effective condition number is smaller. The M-inner product framework preserves the CG structure. IC is natural for SPD because Cholesky is the SPD factorisation.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directly to the red highlighted line. Say clearly: this one line is the entire difference. Everything else is structurally identical to CG.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naming conflict was a real bug we hit early on. MATLAB Live Script (.mlx) files have this restriction. The fix was renaming CG_solver and PCG_solver.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methods recovered the exact solution to machine precision. CG's 5-iteration result confirms the finite termination property. PCG's 1-iteration result shows perfect preconditioning.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analytical observation in the scaling test. The constant iteration count is not a coincidence — it is a direct consequence of the spectral structure of the test matrices.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single-iteration PCG result is explained geometrically: tridiagonal matrix = bidiagonal Cholesky = no fill-in = IC is exact = perfect preconditioning.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CPU paradox is the most analytically interesting result. Show you understand: iteration count alone does not determine efficiency. The per-iteration cost matters. The crossover where PCG wins in CPU time depends on problem scale and condition number.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plot directly shows the preconditioning benefit. PCG reaches tolerance in approximately half the iterations of CG. The non-smooth behaviour is theoretical — in practice the curves may vary but the trend is consistent.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directly answers the examiner question: what is the difference between CG and PCG? Point to each row. The one extra step z_{k+1}=M^{-1}r_{k+1} is the entire algorithmic difference.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four conclusions. Be ready for: Why CG and not GMRES? What is the difference between CG and PCG? Why was PCG slower in CPU time? What does the condition number do?</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78992"/>
          </a:xfrm>
          <a:prstGeom prst="rect">
            <a:avLst/>
          </a:prstGeom>
          <a:solidFill>
            <a:srgbClr val="003087"/>
          </a:solidFill>
          <a:ln w="12700">
            <a:solidFill>
              <a:srgbClr val="003087"/>
            </a:solidFill>
            <a:prstDash val="solid"/>
          </a:ln>
        </p:spPr>
        <p:txBody>
          <a:bodyPr/>
          <a:lstStyle/>
          <a:p>
            <a:endParaRPr lang="en-NG"/>
          </a:p>
        </p:txBody>
      </p:sp>
      <p:sp>
        <p:nvSpPr>
          <p:cNvPr id="3" name="Shape 1"/>
          <p:cNvSpPr/>
          <p:nvPr/>
        </p:nvSpPr>
        <p:spPr>
          <a:xfrm>
            <a:off x="0" y="1078992"/>
            <a:ext cx="9144000" cy="54864"/>
          </a:xfrm>
          <a:prstGeom prst="rect">
            <a:avLst/>
          </a:prstGeom>
          <a:solidFill>
            <a:srgbClr val="C8102E"/>
          </a:solidFill>
          <a:ln w="12700">
            <a:solidFill>
              <a:srgbClr val="C8102E"/>
            </a:solidFill>
            <a:prstDash val="solid"/>
          </a:ln>
        </p:spPr>
        <p:txBody>
          <a:bodyPr/>
          <a:lstStyle/>
          <a:p>
            <a:endParaRPr lang="en-NG"/>
          </a:p>
        </p:txBody>
      </p:sp>
      <p:pic>
        <p:nvPicPr>
          <p:cNvPr id="4" name="Image 0" descr="preencoded.png"/>
          <p:cNvPicPr>
            <a:picLocks noChangeAspect="1"/>
          </p:cNvPicPr>
          <p:nvPr/>
        </p:nvPicPr>
        <p:blipFill>
          <a:blip r:embed="rId3"/>
          <a:stretch>
            <a:fillRect/>
          </a:stretch>
        </p:blipFill>
        <p:spPr>
          <a:xfrm>
            <a:off x="274320" y="128016"/>
            <a:ext cx="841248" cy="841248"/>
          </a:xfrm>
          <a:prstGeom prst="rect">
            <a:avLst/>
          </a:prstGeom>
        </p:spPr>
      </p:pic>
      <p:sp>
        <p:nvSpPr>
          <p:cNvPr id="5" name="Text 2"/>
          <p:cNvSpPr/>
          <p:nvPr/>
        </p:nvSpPr>
        <p:spPr>
          <a:xfrm>
            <a:off x="1234440" y="137160"/>
            <a:ext cx="6400800" cy="365760"/>
          </a:xfrm>
          <a:prstGeom prst="rect">
            <a:avLst/>
          </a:prstGeom>
          <a:noFill/>
          <a:ln/>
        </p:spPr>
        <p:txBody>
          <a:bodyPr wrap="square" lIns="25400" tIns="25400" rIns="25400" bIns="25400"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Southern Federal University</a:t>
            </a:r>
            <a:endParaRPr lang="en-US" sz="1400" dirty="0"/>
          </a:p>
        </p:txBody>
      </p:sp>
      <p:sp>
        <p:nvSpPr>
          <p:cNvPr id="6" name="Text 3"/>
          <p:cNvSpPr/>
          <p:nvPr/>
        </p:nvSpPr>
        <p:spPr>
          <a:xfrm>
            <a:off x="1234440" y="530352"/>
            <a:ext cx="7498080" cy="347472"/>
          </a:xfrm>
          <a:prstGeom prst="rect">
            <a:avLst/>
          </a:prstGeom>
          <a:noFill/>
          <a:ln/>
        </p:spPr>
        <p:txBody>
          <a:bodyPr wrap="square" lIns="25400" tIns="25400" rIns="25400" bIns="25400" rtlCol="0" anchor="ctr"/>
          <a:lstStyle/>
          <a:p>
            <a:pPr marL="0" indent="0">
              <a:buNone/>
            </a:pPr>
            <a:r>
              <a:rPr lang="en-US" sz="1000" dirty="0">
                <a:solidFill>
                  <a:srgbClr val="B8CCF0"/>
                </a:solidFill>
                <a:latin typeface="Arial" pitchFamily="34" charset="0"/>
                <a:ea typeface="Arial" pitchFamily="34" charset="-122"/>
                <a:cs typeface="Arial" pitchFamily="34" charset="-120"/>
              </a:rPr>
              <a:t>Institute of Mathematics, Mechanics and Computer Science   ·   Dept. of Mathematical Modeling</a:t>
            </a:r>
            <a:endParaRPr lang="en-US" sz="1000" dirty="0"/>
          </a:p>
        </p:txBody>
      </p:sp>
      <p:sp>
        <p:nvSpPr>
          <p:cNvPr id="7" name="Shape 4"/>
          <p:cNvSpPr/>
          <p:nvPr/>
        </p:nvSpPr>
        <p:spPr>
          <a:xfrm>
            <a:off x="457200" y="1234440"/>
            <a:ext cx="8229600" cy="347472"/>
          </a:xfrm>
          <a:prstGeom prst="roundRect">
            <a:avLst>
              <a:gd name="adj" fmla="val 15789"/>
            </a:avLst>
          </a:prstGeom>
          <a:solidFill>
            <a:srgbClr val="EBF0FA"/>
          </a:solidFill>
          <a:ln w="12700">
            <a:solidFill>
              <a:srgbClr val="003087"/>
            </a:solidFill>
            <a:prstDash val="solid"/>
          </a:ln>
        </p:spPr>
        <p:txBody>
          <a:bodyPr/>
          <a:lstStyle/>
          <a:p>
            <a:endParaRPr lang="en-NG"/>
          </a:p>
        </p:txBody>
      </p:sp>
      <p:sp>
        <p:nvSpPr>
          <p:cNvPr id="8" name="Text 5"/>
          <p:cNvSpPr/>
          <p:nvPr/>
        </p:nvSpPr>
        <p:spPr>
          <a:xfrm>
            <a:off x="457200" y="1234440"/>
            <a:ext cx="8229600" cy="347472"/>
          </a:xfrm>
          <a:prstGeom prst="rect">
            <a:avLst/>
          </a:prstGeom>
          <a:noFill/>
          <a:ln/>
        </p:spPr>
        <p:txBody>
          <a:bodyPr wrap="square" lIns="0" tIns="0" rIns="0" bIns="0" rtlCol="0" anchor="ctr"/>
          <a:lstStyle/>
          <a:p>
            <a:pPr marL="0" indent="0" algn="ctr">
              <a:buNone/>
            </a:pPr>
            <a:r>
              <a:rPr lang="en-US" sz="1100" dirty="0">
                <a:solidFill>
                  <a:srgbClr val="003087"/>
                </a:solidFill>
                <a:latin typeface="Arial" pitchFamily="34" charset="0"/>
                <a:ea typeface="Arial" pitchFamily="34" charset="-122"/>
                <a:cs typeface="Arial" pitchFamily="34" charset="-120"/>
              </a:rPr>
              <a:t>Numerical Methods of Linear Algebra  —  Individual Project  ·  Methods No. 20 (CG)  &amp;  No. 30 (PCG)</a:t>
            </a:r>
            <a:endParaRPr lang="en-US" sz="1100" dirty="0"/>
          </a:p>
        </p:txBody>
      </p:sp>
      <p:sp>
        <p:nvSpPr>
          <p:cNvPr id="9" name="Text 6"/>
          <p:cNvSpPr/>
          <p:nvPr/>
        </p:nvSpPr>
        <p:spPr>
          <a:xfrm>
            <a:off x="457200" y="1719072"/>
            <a:ext cx="8229600" cy="685800"/>
          </a:xfrm>
          <a:prstGeom prst="rect">
            <a:avLst/>
          </a:prstGeom>
          <a:noFill/>
          <a:ln/>
        </p:spPr>
        <p:txBody>
          <a:bodyPr wrap="square" lIns="0" tIns="0" rIns="0" bIns="0" rtlCol="0" anchor="ctr"/>
          <a:lstStyle/>
          <a:p>
            <a:pPr marL="0" indent="0" algn="ctr">
              <a:buNone/>
            </a:pPr>
            <a:r>
              <a:rPr lang="en-US" sz="3000" b="1" dirty="0">
                <a:solidFill>
                  <a:srgbClr val="003087"/>
                </a:solidFill>
                <a:latin typeface="Cambria" pitchFamily="34" charset="0"/>
                <a:ea typeface="Cambria" pitchFamily="34" charset="-122"/>
                <a:cs typeface="Cambria" pitchFamily="34" charset="-120"/>
              </a:rPr>
              <a:t>Solving Large Sparse Linear Systems:</a:t>
            </a:r>
            <a:endParaRPr lang="en-US" sz="3000" dirty="0"/>
          </a:p>
        </p:txBody>
      </p:sp>
      <p:sp>
        <p:nvSpPr>
          <p:cNvPr id="10" name="Text 7"/>
          <p:cNvSpPr/>
          <p:nvPr/>
        </p:nvSpPr>
        <p:spPr>
          <a:xfrm>
            <a:off x="457200" y="2423160"/>
            <a:ext cx="8229600" cy="621792"/>
          </a:xfrm>
          <a:prstGeom prst="rect">
            <a:avLst/>
          </a:prstGeom>
          <a:noFill/>
          <a:ln/>
        </p:spPr>
        <p:txBody>
          <a:bodyPr wrap="square" lIns="0" tIns="0" rIns="0" bIns="0" rtlCol="0" anchor="ctr"/>
          <a:lstStyle/>
          <a:p>
            <a:pPr marL="0" indent="0" algn="ctr">
              <a:buNone/>
            </a:pPr>
            <a:r>
              <a:rPr lang="en-US" sz="1600" i="1" dirty="0">
                <a:solidFill>
                  <a:srgbClr val="6B7C99"/>
                </a:solidFill>
                <a:latin typeface="Cambria" pitchFamily="34" charset="0"/>
                <a:ea typeface="Cambria" pitchFamily="34" charset="-122"/>
                <a:cs typeface="Cambria" pitchFamily="34" charset="-120"/>
              </a:rPr>
              <a:t>A Comparative Study of the Conjugate Gradient and Preconditioned Conjugate Gradient Methods</a:t>
            </a:r>
            <a:endParaRPr lang="en-US" sz="1600" dirty="0"/>
          </a:p>
        </p:txBody>
      </p:sp>
      <p:sp>
        <p:nvSpPr>
          <p:cNvPr id="11" name="Shape 8"/>
          <p:cNvSpPr/>
          <p:nvPr/>
        </p:nvSpPr>
        <p:spPr>
          <a:xfrm>
            <a:off x="1371600" y="3154680"/>
            <a:ext cx="6400800" cy="1024128"/>
          </a:xfrm>
          <a:prstGeom prst="roundRect">
            <a:avLst>
              <a:gd name="adj" fmla="val 5357"/>
            </a:avLst>
          </a:prstGeom>
          <a:solidFill>
            <a:srgbClr val="F0F4FA"/>
          </a:solidFill>
          <a:ln w="15240">
            <a:solidFill>
              <a:srgbClr val="003087"/>
            </a:solidFill>
            <a:prstDash val="solid"/>
          </a:ln>
        </p:spPr>
        <p:txBody>
          <a:bodyPr/>
          <a:lstStyle/>
          <a:p>
            <a:endParaRPr lang="en-NG"/>
          </a:p>
        </p:txBody>
      </p:sp>
      <p:sp>
        <p:nvSpPr>
          <p:cNvPr id="12" name="Text 9"/>
          <p:cNvSpPr/>
          <p:nvPr/>
        </p:nvSpPr>
        <p:spPr>
          <a:xfrm>
            <a:off x="1371600" y="3218688"/>
            <a:ext cx="6400800" cy="256032"/>
          </a:xfrm>
          <a:prstGeom prst="rect">
            <a:avLst/>
          </a:prstGeom>
          <a:noFill/>
          <a:ln/>
        </p:spPr>
        <p:txBody>
          <a:bodyPr wrap="square" lIns="0" tIns="0" rIns="0" bIns="0" rtlCol="0" anchor="ctr"/>
          <a:lstStyle/>
          <a:p>
            <a:pPr marL="0" indent="0" algn="ctr">
              <a:buNone/>
            </a:pPr>
            <a:r>
              <a:rPr lang="en-US" sz="950" kern="0" spc="100" dirty="0">
                <a:solidFill>
                  <a:srgbClr val="6B7C99"/>
                </a:solidFill>
                <a:latin typeface="Arial" pitchFamily="34" charset="0"/>
                <a:ea typeface="Arial" pitchFamily="34" charset="-122"/>
                <a:cs typeface="Arial" pitchFamily="34" charset="-120"/>
              </a:rPr>
              <a:t>Prepared by:</a:t>
            </a:r>
            <a:endParaRPr lang="en-US" sz="950" dirty="0"/>
          </a:p>
        </p:txBody>
      </p:sp>
      <p:sp>
        <p:nvSpPr>
          <p:cNvPr id="13" name="Text 10"/>
          <p:cNvSpPr/>
          <p:nvPr/>
        </p:nvSpPr>
        <p:spPr>
          <a:xfrm>
            <a:off x="1371600" y="3493008"/>
            <a:ext cx="6400800" cy="310896"/>
          </a:xfrm>
          <a:prstGeom prst="rect">
            <a:avLst/>
          </a:prstGeom>
          <a:noFill/>
          <a:ln/>
        </p:spPr>
        <p:txBody>
          <a:bodyPr wrap="square" lIns="0" tIns="0" rIns="0" bIns="0" rtlCol="0" anchor="ctr"/>
          <a:lstStyle/>
          <a:p>
            <a:pPr marL="0" indent="0" algn="ctr">
              <a:buNone/>
            </a:pPr>
            <a:r>
              <a:rPr lang="en-US" sz="1400" b="1" dirty="0">
                <a:solidFill>
                  <a:srgbClr val="1A1A2E"/>
                </a:solidFill>
                <a:latin typeface="Arial" pitchFamily="34" charset="0"/>
                <a:ea typeface="Arial" pitchFamily="34" charset="-122"/>
                <a:cs typeface="Arial" pitchFamily="34" charset="-120"/>
              </a:rPr>
              <a:t>Гориола-Обафеми Бабатунде Суканми</a:t>
            </a:r>
            <a:endParaRPr lang="en-US" sz="1400" dirty="0"/>
          </a:p>
        </p:txBody>
      </p:sp>
      <p:sp>
        <p:nvSpPr>
          <p:cNvPr id="14" name="Text 11"/>
          <p:cNvSpPr/>
          <p:nvPr/>
        </p:nvSpPr>
        <p:spPr>
          <a:xfrm>
            <a:off x="1371600" y="3813048"/>
            <a:ext cx="6400800" cy="292608"/>
          </a:xfrm>
          <a:prstGeom prst="rect">
            <a:avLst/>
          </a:prstGeom>
          <a:noFill/>
          <a:ln/>
        </p:spPr>
        <p:txBody>
          <a:bodyPr wrap="square" lIns="0" tIns="0" rIns="0" bIns="0" rtlCol="0" anchor="ctr"/>
          <a:lstStyle/>
          <a:p>
            <a:pPr marL="0" indent="0" algn="ctr">
              <a:buNone/>
            </a:pPr>
            <a:r>
              <a:rPr lang="en-US" sz="1400" b="1" dirty="0">
                <a:solidFill>
                  <a:srgbClr val="1A1A2E"/>
                </a:solidFill>
                <a:latin typeface="Arial" pitchFamily="34" charset="0"/>
                <a:ea typeface="Arial" pitchFamily="34" charset="-122"/>
                <a:cs typeface="Arial" pitchFamily="34" charset="-120"/>
              </a:rPr>
              <a:t>Оволабани Айобами</a:t>
            </a:r>
            <a:endParaRPr lang="en-US" sz="1400" dirty="0"/>
          </a:p>
        </p:txBody>
      </p:sp>
      <p:sp>
        <p:nvSpPr>
          <p:cNvPr id="15" name="Text 12"/>
          <p:cNvSpPr/>
          <p:nvPr/>
        </p:nvSpPr>
        <p:spPr>
          <a:xfrm>
            <a:off x="457200" y="4315968"/>
            <a:ext cx="8229600" cy="274320"/>
          </a:xfrm>
          <a:prstGeom prst="rect">
            <a:avLst/>
          </a:prstGeom>
          <a:noFill/>
          <a:ln/>
        </p:spPr>
        <p:txBody>
          <a:bodyPr wrap="square" lIns="0" tIns="0" rIns="0" bIns="0" rtlCol="0" anchor="ctr"/>
          <a:lstStyle/>
          <a:p>
            <a:pPr marL="0" indent="0" algn="ctr">
              <a:buNone/>
            </a:pPr>
            <a:r>
              <a:rPr lang="en-US" sz="1000" dirty="0">
                <a:solidFill>
                  <a:srgbClr val="6B7C99"/>
                </a:solidFill>
                <a:latin typeface="Arial" pitchFamily="34" charset="0"/>
                <a:ea typeface="Arial" pitchFamily="34" charset="-122"/>
                <a:cs typeface="Arial" pitchFamily="34" charset="-120"/>
              </a:rPr>
              <a:t>Supervisor: Anna Nasedkina   ·   Rostov-on-Don   ·   July 6, 2026</a:t>
            </a:r>
            <a:endParaRPr lang="en-US" sz="1000" dirty="0"/>
          </a:p>
        </p:txBody>
      </p:sp>
      <p:sp>
        <p:nvSpPr>
          <p:cNvPr id="16" name="Shape 13"/>
          <p:cNvSpPr/>
          <p:nvPr/>
        </p:nvSpPr>
        <p:spPr>
          <a:xfrm>
            <a:off x="0" y="4983480"/>
            <a:ext cx="9144000" cy="164592"/>
          </a:xfrm>
          <a:prstGeom prst="rect">
            <a:avLst/>
          </a:prstGeom>
          <a:solidFill>
            <a:srgbClr val="C8102E"/>
          </a:solidFill>
          <a:ln w="12700">
            <a:solidFill>
              <a:srgbClr val="C8102E"/>
            </a:solidFill>
            <a:prstDash val="solid"/>
          </a:ln>
        </p:spPr>
        <p:txBody>
          <a:bodyPr/>
          <a:lstStyle/>
          <a:p>
            <a:endParaRPr lang="en-NG"/>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3087"/>
          </a:solidFill>
          <a:ln w="12700">
            <a:solidFill>
              <a:srgbClr val="003087"/>
            </a:solidFill>
            <a:prstDash val="solid"/>
          </a:ln>
        </p:spPr>
        <p:txBody>
          <a:bodyPr/>
          <a:lstStyle/>
          <a:p>
            <a:endParaRPr lang="en-NG"/>
          </a:p>
        </p:txBody>
      </p:sp>
      <p:sp>
        <p:nvSpPr>
          <p:cNvPr id="3" name="Text 1"/>
          <p:cNvSpPr/>
          <p:nvPr/>
        </p:nvSpPr>
        <p:spPr>
          <a:xfrm>
            <a:off x="320040" y="54864"/>
            <a:ext cx="7589520" cy="530352"/>
          </a:xfrm>
          <a:prstGeom prst="rect">
            <a:avLst/>
          </a:prstGeom>
          <a:noFill/>
          <a:ln/>
        </p:spPr>
        <p:txBody>
          <a:bodyPr wrap="square" lIns="50800" tIns="50800" rIns="50800" bIns="50800" rtlCol="0" anchor="ctr"/>
          <a:lstStyle/>
          <a:p>
            <a:pPr marL="0" indent="0" algn="l">
              <a:buNone/>
            </a:pPr>
            <a:r>
              <a:rPr lang="en-US" sz="1900" b="1" dirty="0">
                <a:solidFill>
                  <a:srgbClr val="FFFFFF"/>
                </a:solidFill>
                <a:latin typeface="Cambria" pitchFamily="34" charset="0"/>
                <a:ea typeface="Cambria" pitchFamily="34" charset="-122"/>
                <a:cs typeface="Cambria" pitchFamily="34" charset="-120"/>
              </a:rPr>
              <a:t>2.  Motivation — Why Iterative Methods?</a:t>
            </a:r>
            <a:endParaRPr lang="en-US" sz="1900" dirty="0"/>
          </a:p>
        </p:txBody>
      </p:sp>
      <p:sp>
        <p:nvSpPr>
          <p:cNvPr id="4" name="Text 2"/>
          <p:cNvSpPr/>
          <p:nvPr/>
        </p:nvSpPr>
        <p:spPr>
          <a:xfrm>
            <a:off x="8138160" y="54864"/>
            <a:ext cx="640080" cy="530352"/>
          </a:xfrm>
          <a:prstGeom prst="rect">
            <a:avLst/>
          </a:prstGeom>
          <a:noFill/>
          <a:ln/>
        </p:spPr>
        <p:txBody>
          <a:bodyPr wrap="square" lIns="25400" tIns="25400" rIns="25400" bIns="25400" rtlCol="0" anchor="ctr"/>
          <a:lstStyle/>
          <a:p>
            <a:pPr marL="0" indent="0" algn="r">
              <a:buNone/>
            </a:pPr>
            <a:r>
              <a:rPr lang="en-US" sz="1000" dirty="0">
                <a:solidFill>
                  <a:srgbClr val="AAC0E8"/>
                </a:solidFill>
                <a:latin typeface="Arial" pitchFamily="34" charset="0"/>
                <a:ea typeface="Arial" pitchFamily="34" charset="-122"/>
                <a:cs typeface="Arial" pitchFamily="34" charset="-120"/>
              </a:rPr>
              <a:t>2 / 20</a:t>
            </a:r>
            <a:endParaRPr lang="en-US" sz="1000" dirty="0"/>
          </a:p>
        </p:txBody>
      </p:sp>
      <p:sp>
        <p:nvSpPr>
          <p:cNvPr id="5" name="Shape 3"/>
          <p:cNvSpPr/>
          <p:nvPr/>
        </p:nvSpPr>
        <p:spPr>
          <a:xfrm>
            <a:off x="0" y="640080"/>
            <a:ext cx="9144000" cy="45720"/>
          </a:xfrm>
          <a:prstGeom prst="rect">
            <a:avLst/>
          </a:prstGeom>
          <a:solidFill>
            <a:srgbClr val="C8102E"/>
          </a:solidFill>
          <a:ln w="12700">
            <a:solidFill>
              <a:srgbClr val="C8102E"/>
            </a:solidFill>
            <a:prstDash val="solid"/>
          </a:ln>
        </p:spPr>
        <p:txBody>
          <a:bodyPr/>
          <a:lstStyle/>
          <a:p>
            <a:endParaRPr lang="en-NG"/>
          </a:p>
        </p:txBody>
      </p:sp>
      <p:sp>
        <p:nvSpPr>
          <p:cNvPr id="6" name="Shape 4"/>
          <p:cNvSpPr/>
          <p:nvPr/>
        </p:nvSpPr>
        <p:spPr>
          <a:xfrm>
            <a:off x="320040" y="749808"/>
            <a:ext cx="8503920" cy="502920"/>
          </a:xfrm>
          <a:prstGeom prst="roundRect">
            <a:avLst>
              <a:gd name="adj" fmla="val 10909"/>
            </a:avLst>
          </a:prstGeom>
          <a:solidFill>
            <a:srgbClr val="F4F6FA"/>
          </a:solidFill>
          <a:ln w="15240">
            <a:solidFill>
              <a:srgbClr val="003087"/>
            </a:solidFill>
            <a:prstDash val="solid"/>
          </a:ln>
        </p:spPr>
        <p:txBody>
          <a:bodyPr/>
          <a:lstStyle/>
          <a:p>
            <a:endParaRPr lang="en-NG"/>
          </a:p>
        </p:txBody>
      </p:sp>
      <p:sp>
        <p:nvSpPr>
          <p:cNvPr id="7" name="Text 5"/>
          <p:cNvSpPr/>
          <p:nvPr/>
        </p:nvSpPr>
        <p:spPr>
          <a:xfrm>
            <a:off x="457200" y="795528"/>
            <a:ext cx="8229600" cy="411480"/>
          </a:xfrm>
          <a:prstGeom prst="rect">
            <a:avLst/>
          </a:prstGeom>
          <a:noFill/>
          <a:ln/>
        </p:spPr>
        <p:txBody>
          <a:bodyPr wrap="square" lIns="63500" tIns="63500" rIns="63500" bIns="63500" rtlCol="0" anchor="t"/>
          <a:lstStyle/>
          <a:p>
            <a:pPr marL="0" indent="0" algn="l">
              <a:buNone/>
            </a:pPr>
            <a:r>
              <a:rPr lang="en-US" sz="1100" dirty="0">
                <a:solidFill>
                  <a:srgbClr val="1A1A2E"/>
                </a:solidFill>
                <a:latin typeface="Arial" pitchFamily="34" charset="0"/>
                <a:ea typeface="Arial" pitchFamily="34" charset="-122"/>
                <a:cs typeface="Arial" pitchFamily="34" charset="-120"/>
              </a:rPr>
              <a:t>Large sparse linear systems Ax = b arise in structural mechanics, heat transfer, fluid dynamics, and electromagnetics. As spatial resolution grows, system size reaches millions of unknowns — exposing a critical gap in classical direct methods.</a:t>
            </a:r>
            <a:endParaRPr lang="en-US" sz="1100" dirty="0"/>
          </a:p>
        </p:txBody>
      </p:sp>
      <p:sp>
        <p:nvSpPr>
          <p:cNvPr id="8" name="Shape 6"/>
          <p:cNvSpPr/>
          <p:nvPr/>
        </p:nvSpPr>
        <p:spPr>
          <a:xfrm>
            <a:off x="320040" y="1389888"/>
            <a:ext cx="2697480" cy="932688"/>
          </a:xfrm>
          <a:prstGeom prst="roundRect">
            <a:avLst>
              <a:gd name="adj" fmla="val 5882"/>
            </a:avLst>
          </a:prstGeom>
          <a:solidFill>
            <a:srgbClr val="EBF0FA"/>
          </a:solidFill>
          <a:ln w="12700">
            <a:solidFill>
              <a:srgbClr val="003087"/>
            </a:solidFill>
            <a:prstDash val="solid"/>
          </a:ln>
        </p:spPr>
        <p:txBody>
          <a:bodyPr/>
          <a:lstStyle/>
          <a:p>
            <a:endParaRPr lang="en-NG"/>
          </a:p>
        </p:txBody>
      </p:sp>
      <p:sp>
        <p:nvSpPr>
          <p:cNvPr id="9" name="Text 7"/>
          <p:cNvSpPr/>
          <p:nvPr/>
        </p:nvSpPr>
        <p:spPr>
          <a:xfrm>
            <a:off x="320040" y="1426464"/>
            <a:ext cx="2697480" cy="502920"/>
          </a:xfrm>
          <a:prstGeom prst="rect">
            <a:avLst/>
          </a:prstGeom>
          <a:noFill/>
          <a:ln/>
        </p:spPr>
        <p:txBody>
          <a:bodyPr wrap="square" lIns="0" tIns="0" rIns="0" bIns="0" rtlCol="0" anchor="ctr"/>
          <a:lstStyle/>
          <a:p>
            <a:pPr marL="0" indent="0" algn="ctr">
              <a:buNone/>
            </a:pPr>
            <a:r>
              <a:rPr lang="en-US" sz="2800" b="1" dirty="0">
                <a:solidFill>
                  <a:srgbClr val="003087"/>
                </a:solidFill>
                <a:latin typeface="Cambria" pitchFamily="34" charset="0"/>
                <a:ea typeface="Cambria" pitchFamily="34" charset="-122"/>
                <a:cs typeface="Cambria" pitchFamily="34" charset="-120"/>
              </a:rPr>
              <a:t>10⁶⁺</a:t>
            </a:r>
            <a:endParaRPr lang="en-US" sz="2800" dirty="0"/>
          </a:p>
        </p:txBody>
      </p:sp>
      <p:sp>
        <p:nvSpPr>
          <p:cNvPr id="10" name="Text 8"/>
          <p:cNvSpPr/>
          <p:nvPr/>
        </p:nvSpPr>
        <p:spPr>
          <a:xfrm>
            <a:off x="320040" y="1938528"/>
            <a:ext cx="2697480" cy="347472"/>
          </a:xfrm>
          <a:prstGeom prst="rect">
            <a:avLst/>
          </a:prstGeom>
          <a:noFill/>
          <a:ln/>
        </p:spPr>
        <p:txBody>
          <a:bodyPr wrap="square" lIns="25400" tIns="25400" rIns="25400" bIns="25400" rtlCol="0" anchor="t"/>
          <a:lstStyle/>
          <a:p>
            <a:pPr marL="0" indent="0" algn="ctr">
              <a:buNone/>
            </a:pPr>
            <a:r>
              <a:rPr lang="en-US" sz="1000" dirty="0">
                <a:solidFill>
                  <a:srgbClr val="6B7C99"/>
                </a:solidFill>
                <a:latin typeface="Arial" pitchFamily="34" charset="0"/>
                <a:ea typeface="Arial" pitchFamily="34" charset="-122"/>
                <a:cs typeface="Arial" pitchFamily="34" charset="-120"/>
              </a:rPr>
              <a:t>unknowns in</a:t>
            </a:r>
            <a:endParaRPr lang="en-US" sz="1000" dirty="0"/>
          </a:p>
          <a:p>
            <a:pPr marL="0" indent="0" algn="ctr">
              <a:buNone/>
            </a:pPr>
            <a:r>
              <a:rPr lang="en-US" sz="1000" dirty="0">
                <a:solidFill>
                  <a:srgbClr val="6B7C99"/>
                </a:solidFill>
                <a:latin typeface="Arial" pitchFamily="34" charset="0"/>
                <a:ea typeface="Arial" pitchFamily="34" charset="-122"/>
                <a:cs typeface="Arial" pitchFamily="34" charset="-120"/>
              </a:rPr>
              <a:t>real PDE systems</a:t>
            </a:r>
            <a:endParaRPr lang="en-US" sz="1000" dirty="0"/>
          </a:p>
        </p:txBody>
      </p:sp>
      <p:sp>
        <p:nvSpPr>
          <p:cNvPr id="11" name="Shape 9"/>
          <p:cNvSpPr/>
          <p:nvPr/>
        </p:nvSpPr>
        <p:spPr>
          <a:xfrm>
            <a:off x="3172968" y="1389888"/>
            <a:ext cx="2697480" cy="932688"/>
          </a:xfrm>
          <a:prstGeom prst="roundRect">
            <a:avLst>
              <a:gd name="adj" fmla="val 5882"/>
            </a:avLst>
          </a:prstGeom>
          <a:solidFill>
            <a:srgbClr val="EBF0FA"/>
          </a:solidFill>
          <a:ln w="12700">
            <a:solidFill>
              <a:srgbClr val="003087"/>
            </a:solidFill>
            <a:prstDash val="solid"/>
          </a:ln>
        </p:spPr>
        <p:txBody>
          <a:bodyPr/>
          <a:lstStyle/>
          <a:p>
            <a:endParaRPr lang="en-NG"/>
          </a:p>
        </p:txBody>
      </p:sp>
      <p:sp>
        <p:nvSpPr>
          <p:cNvPr id="12" name="Text 10"/>
          <p:cNvSpPr/>
          <p:nvPr/>
        </p:nvSpPr>
        <p:spPr>
          <a:xfrm>
            <a:off x="3172968" y="1426464"/>
            <a:ext cx="2697480" cy="502920"/>
          </a:xfrm>
          <a:prstGeom prst="rect">
            <a:avLst/>
          </a:prstGeom>
          <a:noFill/>
          <a:ln/>
        </p:spPr>
        <p:txBody>
          <a:bodyPr wrap="square" lIns="0" tIns="0" rIns="0" bIns="0" rtlCol="0" anchor="ctr"/>
          <a:lstStyle/>
          <a:p>
            <a:pPr marL="0" indent="0" algn="ctr">
              <a:buNone/>
            </a:pPr>
            <a:r>
              <a:rPr lang="en-US" sz="2800" b="1" dirty="0">
                <a:solidFill>
                  <a:srgbClr val="003087"/>
                </a:solidFill>
                <a:latin typeface="Cambria" pitchFamily="34" charset="0"/>
                <a:ea typeface="Cambria" pitchFamily="34" charset="-122"/>
                <a:cs typeface="Cambria" pitchFamily="34" charset="-120"/>
              </a:rPr>
              <a:t>&gt;99%</a:t>
            </a:r>
            <a:endParaRPr lang="en-US" sz="2800" dirty="0"/>
          </a:p>
        </p:txBody>
      </p:sp>
      <p:sp>
        <p:nvSpPr>
          <p:cNvPr id="13" name="Text 11"/>
          <p:cNvSpPr/>
          <p:nvPr/>
        </p:nvSpPr>
        <p:spPr>
          <a:xfrm>
            <a:off x="3172968" y="1938528"/>
            <a:ext cx="2697480" cy="347472"/>
          </a:xfrm>
          <a:prstGeom prst="rect">
            <a:avLst/>
          </a:prstGeom>
          <a:noFill/>
          <a:ln/>
        </p:spPr>
        <p:txBody>
          <a:bodyPr wrap="square" lIns="25400" tIns="25400" rIns="25400" bIns="25400" rtlCol="0" anchor="t"/>
          <a:lstStyle/>
          <a:p>
            <a:pPr marL="0" indent="0" algn="ctr">
              <a:buNone/>
            </a:pPr>
            <a:r>
              <a:rPr lang="en-US" sz="1000" dirty="0">
                <a:solidFill>
                  <a:srgbClr val="6B7C99"/>
                </a:solidFill>
                <a:latin typeface="Arial" pitchFamily="34" charset="0"/>
                <a:ea typeface="Arial" pitchFamily="34" charset="-122"/>
                <a:cs typeface="Arial" pitchFamily="34" charset="-120"/>
              </a:rPr>
              <a:t>entries are zero</a:t>
            </a:r>
            <a:endParaRPr lang="en-US" sz="1000" dirty="0"/>
          </a:p>
          <a:p>
            <a:pPr marL="0" indent="0" algn="ctr">
              <a:buNone/>
            </a:pPr>
            <a:r>
              <a:rPr lang="en-US" sz="1000" dirty="0">
                <a:solidFill>
                  <a:srgbClr val="6B7C99"/>
                </a:solidFill>
                <a:latin typeface="Arial" pitchFamily="34" charset="0"/>
                <a:ea typeface="Arial" pitchFamily="34" charset="-122"/>
                <a:cs typeface="Arial" pitchFamily="34" charset="-120"/>
              </a:rPr>
              <a:t>— truly sparse</a:t>
            </a:r>
            <a:endParaRPr lang="en-US" sz="1000" dirty="0"/>
          </a:p>
        </p:txBody>
      </p:sp>
      <p:sp>
        <p:nvSpPr>
          <p:cNvPr id="14" name="Shape 12"/>
          <p:cNvSpPr/>
          <p:nvPr/>
        </p:nvSpPr>
        <p:spPr>
          <a:xfrm>
            <a:off x="6025896" y="1389888"/>
            <a:ext cx="2697480" cy="932688"/>
          </a:xfrm>
          <a:prstGeom prst="roundRect">
            <a:avLst>
              <a:gd name="adj" fmla="val 5882"/>
            </a:avLst>
          </a:prstGeom>
          <a:solidFill>
            <a:srgbClr val="EBF0FA"/>
          </a:solidFill>
          <a:ln w="12700">
            <a:solidFill>
              <a:srgbClr val="003087"/>
            </a:solidFill>
            <a:prstDash val="solid"/>
          </a:ln>
        </p:spPr>
        <p:txBody>
          <a:bodyPr/>
          <a:lstStyle/>
          <a:p>
            <a:endParaRPr lang="en-NG"/>
          </a:p>
        </p:txBody>
      </p:sp>
      <p:sp>
        <p:nvSpPr>
          <p:cNvPr id="15" name="Text 13"/>
          <p:cNvSpPr/>
          <p:nvPr/>
        </p:nvSpPr>
        <p:spPr>
          <a:xfrm>
            <a:off x="6025896" y="1426464"/>
            <a:ext cx="2697480" cy="502920"/>
          </a:xfrm>
          <a:prstGeom prst="rect">
            <a:avLst/>
          </a:prstGeom>
          <a:noFill/>
          <a:ln/>
        </p:spPr>
        <p:txBody>
          <a:bodyPr wrap="square" lIns="0" tIns="0" rIns="0" bIns="0" rtlCol="0" anchor="ctr"/>
          <a:lstStyle/>
          <a:p>
            <a:pPr marL="0" indent="0" algn="ctr">
              <a:buNone/>
            </a:pPr>
            <a:r>
              <a:rPr lang="en-US" sz="2800" b="1" dirty="0">
                <a:solidFill>
                  <a:srgbClr val="003087"/>
                </a:solidFill>
                <a:latin typeface="Cambria" pitchFamily="34" charset="0"/>
                <a:ea typeface="Cambria" pitchFamily="34" charset="-122"/>
                <a:cs typeface="Cambria" pitchFamily="34" charset="-120"/>
              </a:rPr>
              <a:t>8 TB</a:t>
            </a:r>
            <a:endParaRPr lang="en-US" sz="2800" dirty="0"/>
          </a:p>
        </p:txBody>
      </p:sp>
      <p:sp>
        <p:nvSpPr>
          <p:cNvPr id="16" name="Text 14"/>
          <p:cNvSpPr/>
          <p:nvPr/>
        </p:nvSpPr>
        <p:spPr>
          <a:xfrm>
            <a:off x="6025896" y="1938528"/>
            <a:ext cx="2697480" cy="347472"/>
          </a:xfrm>
          <a:prstGeom prst="rect">
            <a:avLst/>
          </a:prstGeom>
          <a:noFill/>
          <a:ln/>
        </p:spPr>
        <p:txBody>
          <a:bodyPr wrap="square" lIns="25400" tIns="25400" rIns="25400" bIns="25400" rtlCol="0" anchor="t"/>
          <a:lstStyle/>
          <a:p>
            <a:pPr marL="0" indent="0" algn="ctr">
              <a:buNone/>
            </a:pPr>
            <a:r>
              <a:rPr lang="en-US" sz="1000" dirty="0">
                <a:solidFill>
                  <a:srgbClr val="6B7C99"/>
                </a:solidFill>
                <a:latin typeface="Arial" pitchFamily="34" charset="0"/>
                <a:ea typeface="Arial" pitchFamily="34" charset="-122"/>
                <a:cs typeface="Arial" pitchFamily="34" charset="-120"/>
              </a:rPr>
              <a:t>memory for dense LU</a:t>
            </a:r>
            <a:endParaRPr lang="en-US" sz="1000" dirty="0"/>
          </a:p>
          <a:p>
            <a:pPr marL="0" indent="0" algn="ctr">
              <a:buNone/>
            </a:pPr>
            <a:r>
              <a:rPr lang="en-US" sz="1000" dirty="0">
                <a:solidFill>
                  <a:srgbClr val="6B7C99"/>
                </a:solidFill>
                <a:latin typeface="Arial" pitchFamily="34" charset="0"/>
                <a:ea typeface="Arial" pitchFamily="34" charset="-122"/>
                <a:cs typeface="Arial" pitchFamily="34" charset="-120"/>
              </a:rPr>
              <a:t>when n = 10⁶</a:t>
            </a:r>
            <a:endParaRPr lang="en-US" sz="1000" dirty="0"/>
          </a:p>
        </p:txBody>
      </p:sp>
      <p:sp>
        <p:nvSpPr>
          <p:cNvPr id="17" name="Shape 15"/>
          <p:cNvSpPr/>
          <p:nvPr/>
        </p:nvSpPr>
        <p:spPr>
          <a:xfrm>
            <a:off x="320040" y="2423160"/>
            <a:ext cx="4096512" cy="1627632"/>
          </a:xfrm>
          <a:prstGeom prst="roundRect">
            <a:avLst>
              <a:gd name="adj" fmla="val 3371"/>
            </a:avLst>
          </a:prstGeom>
          <a:solidFill>
            <a:srgbClr val="FFF5F5"/>
          </a:solidFill>
          <a:ln w="15240">
            <a:solidFill>
              <a:srgbClr val="C8102E"/>
            </a:solidFill>
            <a:prstDash val="solid"/>
          </a:ln>
        </p:spPr>
        <p:txBody>
          <a:bodyPr/>
          <a:lstStyle/>
          <a:p>
            <a:endParaRPr lang="en-NG"/>
          </a:p>
        </p:txBody>
      </p:sp>
      <p:sp>
        <p:nvSpPr>
          <p:cNvPr id="18" name="Text 16"/>
          <p:cNvSpPr/>
          <p:nvPr/>
        </p:nvSpPr>
        <p:spPr>
          <a:xfrm>
            <a:off x="429768" y="2468880"/>
            <a:ext cx="3877056" cy="292608"/>
          </a:xfrm>
          <a:prstGeom prst="rect">
            <a:avLst/>
          </a:prstGeom>
          <a:noFill/>
          <a:ln/>
        </p:spPr>
        <p:txBody>
          <a:bodyPr wrap="square" lIns="63500" tIns="63500" rIns="63500" bIns="63500" rtlCol="0" anchor="t"/>
          <a:lstStyle/>
          <a:p>
            <a:pPr marL="0" indent="0" algn="l">
              <a:buNone/>
            </a:pPr>
            <a:r>
              <a:rPr lang="en-US" sz="1200" b="1" dirty="0">
                <a:solidFill>
                  <a:srgbClr val="C8102E"/>
                </a:solidFill>
                <a:latin typeface="Cambria" pitchFamily="34" charset="0"/>
                <a:ea typeface="Cambria" pitchFamily="34" charset="-122"/>
                <a:cs typeface="Cambria" pitchFamily="34" charset="-120"/>
              </a:rPr>
              <a:t>❌  Direct Methods (LU, Gaussian)</a:t>
            </a:r>
            <a:endParaRPr lang="en-US" sz="1200" dirty="0"/>
          </a:p>
        </p:txBody>
      </p:sp>
      <p:sp>
        <p:nvSpPr>
          <p:cNvPr id="19" name="Text 17"/>
          <p:cNvSpPr/>
          <p:nvPr/>
        </p:nvSpPr>
        <p:spPr>
          <a:xfrm>
            <a:off x="484632" y="2807208"/>
            <a:ext cx="3749040" cy="274320"/>
          </a:xfrm>
          <a:prstGeom prst="rect">
            <a:avLst/>
          </a:prstGeom>
          <a:noFill/>
          <a:ln/>
        </p:spPr>
        <p:txBody>
          <a:bodyPr wrap="square" lIns="63500" tIns="63500" rIns="63500" bIns="63500" rtlCol="0" anchor="t"/>
          <a:lstStyle/>
          <a:p>
            <a:pPr marL="0" indent="0" algn="l">
              <a:buNone/>
            </a:pPr>
            <a:r>
              <a:rPr lang="en-US" sz="1050" dirty="0">
                <a:solidFill>
                  <a:srgbClr val="8B0000"/>
                </a:solidFill>
                <a:latin typeface="Arial" pitchFamily="34" charset="0"/>
                <a:ea typeface="Arial" pitchFamily="34" charset="-122"/>
                <a:cs typeface="Arial" pitchFamily="34" charset="-120"/>
              </a:rPr>
              <a:t>✗  Fill-in destroys sparsity in L and U</a:t>
            </a:r>
            <a:endParaRPr lang="en-US" sz="1050" dirty="0"/>
          </a:p>
        </p:txBody>
      </p:sp>
      <p:sp>
        <p:nvSpPr>
          <p:cNvPr id="20" name="Text 18"/>
          <p:cNvSpPr/>
          <p:nvPr/>
        </p:nvSpPr>
        <p:spPr>
          <a:xfrm>
            <a:off x="484632" y="3108960"/>
            <a:ext cx="3749040" cy="274320"/>
          </a:xfrm>
          <a:prstGeom prst="rect">
            <a:avLst/>
          </a:prstGeom>
          <a:noFill/>
          <a:ln/>
        </p:spPr>
        <p:txBody>
          <a:bodyPr wrap="square" lIns="63500" tIns="63500" rIns="63500" bIns="63500" rtlCol="0" anchor="t"/>
          <a:lstStyle/>
          <a:p>
            <a:pPr marL="0" indent="0" algn="l">
              <a:buNone/>
            </a:pPr>
            <a:r>
              <a:rPr lang="en-US" sz="1050" dirty="0">
                <a:solidFill>
                  <a:srgbClr val="8B0000"/>
                </a:solidFill>
                <a:latin typeface="Arial" pitchFamily="34" charset="0"/>
                <a:ea typeface="Arial" pitchFamily="34" charset="-122"/>
                <a:cs typeface="Arial" pitchFamily="34" charset="-120"/>
              </a:rPr>
              <a:t>✗  Cost O(n³) — infeasible for large n</a:t>
            </a:r>
            <a:endParaRPr lang="en-US" sz="1050" dirty="0"/>
          </a:p>
        </p:txBody>
      </p:sp>
      <p:sp>
        <p:nvSpPr>
          <p:cNvPr id="21" name="Text 19"/>
          <p:cNvSpPr/>
          <p:nvPr/>
        </p:nvSpPr>
        <p:spPr>
          <a:xfrm>
            <a:off x="484632" y="3410712"/>
            <a:ext cx="3749040" cy="274320"/>
          </a:xfrm>
          <a:prstGeom prst="rect">
            <a:avLst/>
          </a:prstGeom>
          <a:noFill/>
          <a:ln/>
        </p:spPr>
        <p:txBody>
          <a:bodyPr wrap="square" lIns="63500" tIns="63500" rIns="63500" bIns="63500" rtlCol="0" anchor="t"/>
          <a:lstStyle/>
          <a:p>
            <a:pPr marL="0" indent="0" algn="l">
              <a:buNone/>
            </a:pPr>
            <a:r>
              <a:rPr lang="en-US" sz="1050" dirty="0">
                <a:solidFill>
                  <a:srgbClr val="8B0000"/>
                </a:solidFill>
                <a:latin typeface="Arial" pitchFamily="34" charset="0"/>
                <a:ea typeface="Arial" pitchFamily="34" charset="-122"/>
                <a:cs typeface="Arial" pitchFamily="34" charset="-120"/>
              </a:rPr>
              <a:t>✗  Memory O(n²) regardless of sparsity</a:t>
            </a:r>
            <a:endParaRPr lang="en-US" sz="1050" dirty="0"/>
          </a:p>
        </p:txBody>
      </p:sp>
      <p:sp>
        <p:nvSpPr>
          <p:cNvPr id="22" name="Text 20"/>
          <p:cNvSpPr/>
          <p:nvPr/>
        </p:nvSpPr>
        <p:spPr>
          <a:xfrm>
            <a:off x="484632" y="3712464"/>
            <a:ext cx="3749040" cy="274320"/>
          </a:xfrm>
          <a:prstGeom prst="rect">
            <a:avLst/>
          </a:prstGeom>
          <a:noFill/>
          <a:ln/>
        </p:spPr>
        <p:txBody>
          <a:bodyPr wrap="square" lIns="63500" tIns="63500" rIns="63500" bIns="63500" rtlCol="0" anchor="t"/>
          <a:lstStyle/>
          <a:p>
            <a:pPr marL="0" indent="0" algn="l">
              <a:buNone/>
            </a:pPr>
            <a:r>
              <a:rPr lang="en-US" sz="1050" dirty="0">
                <a:solidFill>
                  <a:srgbClr val="8B0000"/>
                </a:solidFill>
                <a:latin typeface="Arial" pitchFamily="34" charset="0"/>
                <a:ea typeface="Arial" pitchFamily="34" charset="-122"/>
                <a:cs typeface="Arial" pitchFamily="34" charset="-120"/>
              </a:rPr>
              <a:t>✗  Cannot exploit the structure of A</a:t>
            </a:r>
            <a:endParaRPr lang="en-US" sz="1050" dirty="0"/>
          </a:p>
        </p:txBody>
      </p:sp>
      <p:sp>
        <p:nvSpPr>
          <p:cNvPr id="23" name="Shape 21"/>
          <p:cNvSpPr/>
          <p:nvPr/>
        </p:nvSpPr>
        <p:spPr>
          <a:xfrm>
            <a:off x="4709160" y="2423160"/>
            <a:ext cx="4096512" cy="1627632"/>
          </a:xfrm>
          <a:prstGeom prst="roundRect">
            <a:avLst>
              <a:gd name="adj" fmla="val 3371"/>
            </a:avLst>
          </a:prstGeom>
          <a:solidFill>
            <a:srgbClr val="F0FAF4"/>
          </a:solidFill>
          <a:ln w="15240">
            <a:solidFill>
              <a:srgbClr val="1B6B3A"/>
            </a:solidFill>
            <a:prstDash val="solid"/>
          </a:ln>
        </p:spPr>
        <p:txBody>
          <a:bodyPr/>
          <a:lstStyle/>
          <a:p>
            <a:endParaRPr lang="en-NG"/>
          </a:p>
        </p:txBody>
      </p:sp>
      <p:sp>
        <p:nvSpPr>
          <p:cNvPr id="24" name="Text 22"/>
          <p:cNvSpPr/>
          <p:nvPr/>
        </p:nvSpPr>
        <p:spPr>
          <a:xfrm>
            <a:off x="4818888" y="2468880"/>
            <a:ext cx="3877056" cy="292608"/>
          </a:xfrm>
          <a:prstGeom prst="rect">
            <a:avLst/>
          </a:prstGeom>
          <a:noFill/>
          <a:ln/>
        </p:spPr>
        <p:txBody>
          <a:bodyPr wrap="square" lIns="63500" tIns="63500" rIns="63500" bIns="63500" rtlCol="0" anchor="t"/>
          <a:lstStyle/>
          <a:p>
            <a:pPr marL="0" indent="0" algn="l">
              <a:buNone/>
            </a:pPr>
            <a:r>
              <a:rPr lang="en-US" sz="1200" b="1" dirty="0">
                <a:solidFill>
                  <a:srgbClr val="1B6B3A"/>
                </a:solidFill>
                <a:latin typeface="Cambria" pitchFamily="34" charset="0"/>
                <a:ea typeface="Cambria" pitchFamily="34" charset="-122"/>
                <a:cs typeface="Cambria" pitchFamily="34" charset="-120"/>
              </a:rPr>
              <a:t>✓  Iterative Methods (CG, PCG)</a:t>
            </a:r>
            <a:endParaRPr lang="en-US" sz="1200" dirty="0"/>
          </a:p>
        </p:txBody>
      </p:sp>
      <p:sp>
        <p:nvSpPr>
          <p:cNvPr id="25" name="Text 23"/>
          <p:cNvSpPr/>
          <p:nvPr/>
        </p:nvSpPr>
        <p:spPr>
          <a:xfrm>
            <a:off x="4855464" y="2807208"/>
            <a:ext cx="3822192" cy="274320"/>
          </a:xfrm>
          <a:prstGeom prst="rect">
            <a:avLst/>
          </a:prstGeom>
          <a:noFill/>
          <a:ln/>
        </p:spPr>
        <p:txBody>
          <a:bodyPr wrap="square" lIns="63500" tIns="63500" rIns="63500" bIns="63500" rtlCol="0" anchor="t"/>
          <a:lstStyle/>
          <a:p>
            <a:pPr marL="0" indent="0" algn="l">
              <a:buNone/>
            </a:pPr>
            <a:r>
              <a:rPr lang="en-US" sz="1050" dirty="0">
                <a:solidFill>
                  <a:srgbClr val="1A5C30"/>
                </a:solidFill>
                <a:latin typeface="Arial" pitchFamily="34" charset="0"/>
                <a:ea typeface="Arial" pitchFamily="34" charset="-122"/>
                <a:cs typeface="Arial" pitchFamily="34" charset="-120"/>
              </a:rPr>
              <a:t>✓  One matrix-vector product per step: O(nnz)</a:t>
            </a:r>
            <a:endParaRPr lang="en-US" sz="1050" dirty="0"/>
          </a:p>
        </p:txBody>
      </p:sp>
      <p:sp>
        <p:nvSpPr>
          <p:cNvPr id="26" name="Text 24"/>
          <p:cNvSpPr/>
          <p:nvPr/>
        </p:nvSpPr>
        <p:spPr>
          <a:xfrm>
            <a:off x="4855464" y="3108960"/>
            <a:ext cx="3822192" cy="274320"/>
          </a:xfrm>
          <a:prstGeom prst="rect">
            <a:avLst/>
          </a:prstGeom>
          <a:noFill/>
          <a:ln/>
        </p:spPr>
        <p:txBody>
          <a:bodyPr wrap="square" lIns="63500" tIns="63500" rIns="63500" bIns="63500" rtlCol="0" anchor="t"/>
          <a:lstStyle/>
          <a:p>
            <a:pPr marL="0" indent="0" algn="l">
              <a:buNone/>
            </a:pPr>
            <a:r>
              <a:rPr lang="en-US" sz="1050" dirty="0">
                <a:solidFill>
                  <a:srgbClr val="1A5C30"/>
                </a:solidFill>
                <a:latin typeface="Arial" pitchFamily="34" charset="0"/>
                <a:ea typeface="Arial" pitchFamily="34" charset="-122"/>
                <a:cs typeface="Arial" pitchFamily="34" charset="-120"/>
              </a:rPr>
              <a:t>✓  Memory O(nnz) — sparsity preserved</a:t>
            </a:r>
            <a:endParaRPr lang="en-US" sz="1050" dirty="0"/>
          </a:p>
        </p:txBody>
      </p:sp>
      <p:sp>
        <p:nvSpPr>
          <p:cNvPr id="27" name="Text 25"/>
          <p:cNvSpPr/>
          <p:nvPr/>
        </p:nvSpPr>
        <p:spPr>
          <a:xfrm>
            <a:off x="4855464" y="3410712"/>
            <a:ext cx="3822192" cy="274320"/>
          </a:xfrm>
          <a:prstGeom prst="rect">
            <a:avLst/>
          </a:prstGeom>
          <a:noFill/>
          <a:ln/>
        </p:spPr>
        <p:txBody>
          <a:bodyPr wrap="square" lIns="63500" tIns="63500" rIns="63500" bIns="63500" rtlCol="0" anchor="t"/>
          <a:lstStyle/>
          <a:p>
            <a:pPr marL="0" indent="0" algn="l">
              <a:buNone/>
            </a:pPr>
            <a:r>
              <a:rPr lang="en-US" sz="1050" dirty="0">
                <a:solidFill>
                  <a:srgbClr val="1A5C30"/>
                </a:solidFill>
                <a:latin typeface="Arial" pitchFamily="34" charset="0"/>
                <a:ea typeface="Arial" pitchFamily="34" charset="-122"/>
                <a:cs typeface="Arial" pitchFamily="34" charset="-120"/>
              </a:rPr>
              <a:t>✓  Stop early when tolerance ε is met</a:t>
            </a:r>
            <a:endParaRPr lang="en-US" sz="1050" dirty="0"/>
          </a:p>
        </p:txBody>
      </p:sp>
      <p:sp>
        <p:nvSpPr>
          <p:cNvPr id="28" name="Text 26"/>
          <p:cNvSpPr/>
          <p:nvPr/>
        </p:nvSpPr>
        <p:spPr>
          <a:xfrm>
            <a:off x="4855464" y="3712464"/>
            <a:ext cx="3822192" cy="274320"/>
          </a:xfrm>
          <a:prstGeom prst="rect">
            <a:avLst/>
          </a:prstGeom>
          <a:noFill/>
          <a:ln/>
        </p:spPr>
        <p:txBody>
          <a:bodyPr wrap="square" lIns="63500" tIns="63500" rIns="63500" bIns="63500" rtlCol="0" anchor="t"/>
          <a:lstStyle/>
          <a:p>
            <a:pPr marL="0" indent="0" algn="l">
              <a:buNone/>
            </a:pPr>
            <a:r>
              <a:rPr lang="en-US" sz="1050" dirty="0">
                <a:solidFill>
                  <a:srgbClr val="1A5C30"/>
                </a:solidFill>
                <a:latin typeface="Arial" pitchFamily="34" charset="0"/>
                <a:ea typeface="Arial" pitchFamily="34" charset="-122"/>
                <a:cs typeface="Arial" pitchFamily="34" charset="-120"/>
              </a:rPr>
              <a:t>✓  Natural fit for PDE-based sparse systems</a:t>
            </a:r>
            <a:endParaRPr lang="en-US" sz="1050" dirty="0"/>
          </a:p>
        </p:txBody>
      </p:sp>
      <p:sp>
        <p:nvSpPr>
          <p:cNvPr id="29" name="Shape 27"/>
          <p:cNvSpPr/>
          <p:nvPr/>
        </p:nvSpPr>
        <p:spPr>
          <a:xfrm>
            <a:off x="320040" y="4142232"/>
            <a:ext cx="8503920" cy="804672"/>
          </a:xfrm>
          <a:prstGeom prst="roundRect">
            <a:avLst>
              <a:gd name="adj" fmla="val 6818"/>
            </a:avLst>
          </a:prstGeom>
          <a:solidFill>
            <a:srgbClr val="003087"/>
          </a:solidFill>
          <a:ln w="12700">
            <a:solidFill>
              <a:srgbClr val="003087"/>
            </a:solidFill>
            <a:prstDash val="solid"/>
          </a:ln>
        </p:spPr>
        <p:txBody>
          <a:bodyPr/>
          <a:lstStyle/>
          <a:p>
            <a:endParaRPr lang="en-NG"/>
          </a:p>
        </p:txBody>
      </p:sp>
      <p:sp>
        <p:nvSpPr>
          <p:cNvPr id="30" name="Text 28"/>
          <p:cNvSpPr/>
          <p:nvPr/>
        </p:nvSpPr>
        <p:spPr>
          <a:xfrm>
            <a:off x="484632" y="4187952"/>
            <a:ext cx="8174736" cy="713232"/>
          </a:xfrm>
          <a:prstGeom prst="rect">
            <a:avLst/>
          </a:prstGeom>
          <a:noFill/>
          <a:ln/>
        </p:spPr>
        <p:txBody>
          <a:bodyPr wrap="square" lIns="50800" tIns="50800" rIns="50800" bIns="50800" rtlCol="0" anchor="t"/>
          <a:lstStyle/>
          <a:p>
            <a:pPr marL="0" indent="0" algn="l">
              <a:buNone/>
            </a:pPr>
            <a:r>
              <a:rPr lang="en-US" sz="1100" dirty="0">
                <a:solidFill>
                  <a:srgbClr val="FFFFFF"/>
                </a:solidFill>
                <a:latin typeface="Arial" pitchFamily="34" charset="0"/>
                <a:ea typeface="Arial" pitchFamily="34" charset="-122"/>
                <a:cs typeface="Arial" pitchFamily="34" charset="-120"/>
              </a:rPr>
              <a:t>⚡  The Method Gap: Gaussian elimination on a 10⁶×10⁶ sparse matrix requires ∼10¹⁸ operations — 31 years at 1 GHz. Iterative methods on the same system converge in a few hundred matrix-vector products each costing O(nnz). This is not a speed difference — it is a feasibility difference.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3087"/>
          </a:solidFill>
          <a:ln w="12700">
            <a:solidFill>
              <a:srgbClr val="003087"/>
            </a:solidFill>
            <a:prstDash val="solid"/>
          </a:ln>
        </p:spPr>
        <p:txBody>
          <a:bodyPr/>
          <a:lstStyle/>
          <a:p>
            <a:endParaRPr lang="en-NG"/>
          </a:p>
        </p:txBody>
      </p:sp>
      <p:sp>
        <p:nvSpPr>
          <p:cNvPr id="3" name="Text 1"/>
          <p:cNvSpPr/>
          <p:nvPr/>
        </p:nvSpPr>
        <p:spPr>
          <a:xfrm>
            <a:off x="320040" y="54864"/>
            <a:ext cx="7589520" cy="530352"/>
          </a:xfrm>
          <a:prstGeom prst="rect">
            <a:avLst/>
          </a:prstGeom>
          <a:noFill/>
          <a:ln/>
        </p:spPr>
        <p:txBody>
          <a:bodyPr wrap="square" lIns="50800" tIns="50800" rIns="50800" bIns="50800" rtlCol="0" anchor="ctr"/>
          <a:lstStyle/>
          <a:p>
            <a:pPr marL="0" indent="0" algn="l">
              <a:buNone/>
            </a:pPr>
            <a:r>
              <a:rPr lang="en-US" sz="1900" b="1" dirty="0">
                <a:solidFill>
                  <a:srgbClr val="FFFFFF"/>
                </a:solidFill>
                <a:latin typeface="Cambria" pitchFamily="34" charset="0"/>
                <a:ea typeface="Cambria" pitchFamily="34" charset="-122"/>
                <a:cs typeface="Cambria" pitchFamily="34" charset="-120"/>
              </a:rPr>
              <a:t>3.  Sparse Matrices — Definition and Origin</a:t>
            </a:r>
            <a:endParaRPr lang="en-US" sz="1900" dirty="0"/>
          </a:p>
        </p:txBody>
      </p:sp>
      <p:sp>
        <p:nvSpPr>
          <p:cNvPr id="4" name="Text 2"/>
          <p:cNvSpPr/>
          <p:nvPr/>
        </p:nvSpPr>
        <p:spPr>
          <a:xfrm>
            <a:off x="8138160" y="54864"/>
            <a:ext cx="640080" cy="530352"/>
          </a:xfrm>
          <a:prstGeom prst="rect">
            <a:avLst/>
          </a:prstGeom>
          <a:noFill/>
          <a:ln/>
        </p:spPr>
        <p:txBody>
          <a:bodyPr wrap="square" lIns="25400" tIns="25400" rIns="25400" bIns="25400" rtlCol="0" anchor="ctr"/>
          <a:lstStyle/>
          <a:p>
            <a:pPr marL="0" indent="0" algn="r">
              <a:buNone/>
            </a:pPr>
            <a:r>
              <a:rPr lang="en-US" sz="1000" dirty="0">
                <a:solidFill>
                  <a:srgbClr val="AAC0E8"/>
                </a:solidFill>
                <a:latin typeface="Arial" pitchFamily="34" charset="0"/>
                <a:ea typeface="Arial" pitchFamily="34" charset="-122"/>
                <a:cs typeface="Arial" pitchFamily="34" charset="-120"/>
              </a:rPr>
              <a:t>3 / 20</a:t>
            </a:r>
            <a:endParaRPr lang="en-US" sz="1000" dirty="0"/>
          </a:p>
        </p:txBody>
      </p:sp>
      <p:sp>
        <p:nvSpPr>
          <p:cNvPr id="5" name="Shape 3"/>
          <p:cNvSpPr/>
          <p:nvPr/>
        </p:nvSpPr>
        <p:spPr>
          <a:xfrm>
            <a:off x="0" y="640080"/>
            <a:ext cx="9144000" cy="45720"/>
          </a:xfrm>
          <a:prstGeom prst="rect">
            <a:avLst/>
          </a:prstGeom>
          <a:solidFill>
            <a:srgbClr val="C8102E"/>
          </a:solidFill>
          <a:ln w="12700">
            <a:solidFill>
              <a:srgbClr val="C8102E"/>
            </a:solidFill>
            <a:prstDash val="solid"/>
          </a:ln>
        </p:spPr>
        <p:txBody>
          <a:bodyPr/>
          <a:lstStyle/>
          <a:p>
            <a:endParaRPr lang="en-NG"/>
          </a:p>
        </p:txBody>
      </p:sp>
      <p:sp>
        <p:nvSpPr>
          <p:cNvPr id="6" name="Shape 4"/>
          <p:cNvSpPr/>
          <p:nvPr/>
        </p:nvSpPr>
        <p:spPr>
          <a:xfrm>
            <a:off x="320040" y="749808"/>
            <a:ext cx="8503920" cy="530352"/>
          </a:xfrm>
          <a:prstGeom prst="roundRect">
            <a:avLst>
              <a:gd name="adj" fmla="val 10345"/>
            </a:avLst>
          </a:prstGeom>
          <a:solidFill>
            <a:srgbClr val="F4F6FA"/>
          </a:solidFill>
          <a:ln w="15240">
            <a:solidFill>
              <a:srgbClr val="003087"/>
            </a:solidFill>
            <a:prstDash val="solid"/>
          </a:ln>
        </p:spPr>
        <p:txBody>
          <a:bodyPr/>
          <a:lstStyle/>
          <a:p>
            <a:endParaRPr lang="en-NG"/>
          </a:p>
        </p:txBody>
      </p:sp>
      <p:sp>
        <p:nvSpPr>
          <p:cNvPr id="7" name="Text 5"/>
          <p:cNvSpPr/>
          <p:nvPr/>
        </p:nvSpPr>
        <p:spPr>
          <a:xfrm>
            <a:off x="457200" y="804672"/>
            <a:ext cx="8229600" cy="420624"/>
          </a:xfrm>
          <a:prstGeom prst="rect">
            <a:avLst/>
          </a:prstGeom>
          <a:noFill/>
          <a:ln/>
        </p:spPr>
        <p:txBody>
          <a:bodyPr wrap="square" lIns="63500" tIns="63500" rIns="63500" bIns="63500" rtlCol="0" anchor="t"/>
          <a:lstStyle/>
          <a:p>
            <a:pPr marL="0" indent="0" algn="l">
              <a:buNone/>
            </a:pPr>
            <a:r>
              <a:rPr lang="en-US" sz="1150" dirty="0">
                <a:solidFill>
                  <a:srgbClr val="1A1A2E"/>
                </a:solidFill>
                <a:latin typeface="Arial" pitchFamily="34" charset="0"/>
                <a:ea typeface="Arial" pitchFamily="34" charset="-122"/>
                <a:cs typeface="Arial" pitchFamily="34" charset="-120"/>
              </a:rPr>
              <a:t>Definition: A matrix A ∈ ℝ^{n×n} is sparse when nnz(A) ≪ n². Sparsity arises from PDE discretisation: each grid point connects only to its neighbours, so each row of A has O(1) nonzero entries regardless of n.</a:t>
            </a:r>
            <a:endParaRPr lang="en-US" sz="1150" dirty="0"/>
          </a:p>
        </p:txBody>
      </p:sp>
      <p:sp>
        <p:nvSpPr>
          <p:cNvPr id="8" name="Shape 6"/>
          <p:cNvSpPr/>
          <p:nvPr/>
        </p:nvSpPr>
        <p:spPr>
          <a:xfrm>
            <a:off x="320040" y="1417320"/>
            <a:ext cx="2697480" cy="1170432"/>
          </a:xfrm>
          <a:prstGeom prst="roundRect">
            <a:avLst>
              <a:gd name="adj" fmla="val 4688"/>
            </a:avLst>
          </a:prstGeom>
          <a:solidFill>
            <a:srgbClr val="EBF0FA"/>
          </a:solidFill>
          <a:ln w="12700">
            <a:solidFill>
              <a:srgbClr val="003087"/>
            </a:solidFill>
            <a:prstDash val="solid"/>
          </a:ln>
        </p:spPr>
        <p:txBody>
          <a:bodyPr/>
          <a:lstStyle/>
          <a:p>
            <a:endParaRPr lang="en-NG"/>
          </a:p>
        </p:txBody>
      </p:sp>
      <p:sp>
        <p:nvSpPr>
          <p:cNvPr id="9" name="Text 7"/>
          <p:cNvSpPr/>
          <p:nvPr/>
        </p:nvSpPr>
        <p:spPr>
          <a:xfrm>
            <a:off x="429768" y="1463040"/>
            <a:ext cx="2487168" cy="292608"/>
          </a:xfrm>
          <a:prstGeom prst="rect">
            <a:avLst/>
          </a:prstGeom>
          <a:noFill/>
          <a:ln/>
        </p:spPr>
        <p:txBody>
          <a:bodyPr wrap="square" lIns="63500" tIns="63500" rIns="63500" bIns="63500" rtlCol="0" anchor="t"/>
          <a:lstStyle/>
          <a:p>
            <a:pPr marL="0" indent="0" algn="l">
              <a:buNone/>
            </a:pPr>
            <a:r>
              <a:rPr lang="en-US" sz="1100" b="1" dirty="0">
                <a:solidFill>
                  <a:srgbClr val="003087"/>
                </a:solidFill>
                <a:latin typeface="Cambria" pitchFamily="34" charset="0"/>
                <a:ea typeface="Cambria" pitchFamily="34" charset="-122"/>
                <a:cs typeface="Cambria" pitchFamily="34" charset="-120"/>
              </a:rPr>
              <a:t>Finite Difference Method (FDM)</a:t>
            </a:r>
            <a:endParaRPr lang="en-US" sz="1100" dirty="0"/>
          </a:p>
        </p:txBody>
      </p:sp>
      <p:sp>
        <p:nvSpPr>
          <p:cNvPr id="10" name="Text 8"/>
          <p:cNvSpPr/>
          <p:nvPr/>
        </p:nvSpPr>
        <p:spPr>
          <a:xfrm>
            <a:off x="429768" y="1783080"/>
            <a:ext cx="2487168" cy="749808"/>
          </a:xfrm>
          <a:prstGeom prst="rect">
            <a:avLst/>
          </a:prstGeom>
          <a:noFill/>
          <a:ln/>
        </p:spPr>
        <p:txBody>
          <a:bodyPr wrap="square" lIns="63500" tIns="63500" rIns="63500" bIns="63500" rtlCol="0" anchor="t"/>
          <a:lstStyle/>
          <a:p>
            <a:pPr marL="0" indent="0" algn="l">
              <a:buNone/>
            </a:pPr>
            <a:r>
              <a:rPr lang="en-US" sz="1000" dirty="0">
                <a:solidFill>
                  <a:srgbClr val="1A1A2E"/>
                </a:solidFill>
                <a:latin typeface="Arial" pitchFamily="34" charset="0"/>
                <a:ea typeface="Arial" pitchFamily="34" charset="-122"/>
                <a:cs typeface="Arial" pitchFamily="34" charset="-120"/>
              </a:rPr>
              <a:t>Derivatives replaced by difference quotients on a regular grid. Each equation involves 2-6 neighbours. Produces banded sparse matrices.</a:t>
            </a:r>
            <a:endParaRPr lang="en-US" sz="1000" dirty="0"/>
          </a:p>
        </p:txBody>
      </p:sp>
      <p:sp>
        <p:nvSpPr>
          <p:cNvPr id="11" name="Shape 9"/>
          <p:cNvSpPr/>
          <p:nvPr/>
        </p:nvSpPr>
        <p:spPr>
          <a:xfrm>
            <a:off x="3172968" y="1417320"/>
            <a:ext cx="2697480" cy="1170432"/>
          </a:xfrm>
          <a:prstGeom prst="roundRect">
            <a:avLst>
              <a:gd name="adj" fmla="val 4688"/>
            </a:avLst>
          </a:prstGeom>
          <a:solidFill>
            <a:srgbClr val="EBF0FA"/>
          </a:solidFill>
          <a:ln w="12700">
            <a:solidFill>
              <a:srgbClr val="003087"/>
            </a:solidFill>
            <a:prstDash val="solid"/>
          </a:ln>
        </p:spPr>
        <p:txBody>
          <a:bodyPr/>
          <a:lstStyle/>
          <a:p>
            <a:endParaRPr lang="en-NG"/>
          </a:p>
        </p:txBody>
      </p:sp>
      <p:sp>
        <p:nvSpPr>
          <p:cNvPr id="12" name="Text 10"/>
          <p:cNvSpPr/>
          <p:nvPr/>
        </p:nvSpPr>
        <p:spPr>
          <a:xfrm>
            <a:off x="3282696" y="1463040"/>
            <a:ext cx="2487168" cy="292608"/>
          </a:xfrm>
          <a:prstGeom prst="rect">
            <a:avLst/>
          </a:prstGeom>
          <a:noFill/>
          <a:ln/>
        </p:spPr>
        <p:txBody>
          <a:bodyPr wrap="square" lIns="63500" tIns="63500" rIns="63500" bIns="63500" rtlCol="0" anchor="t"/>
          <a:lstStyle/>
          <a:p>
            <a:pPr marL="0" indent="0" algn="l">
              <a:buNone/>
            </a:pPr>
            <a:r>
              <a:rPr lang="en-US" sz="1100" b="1" dirty="0">
                <a:solidFill>
                  <a:srgbClr val="003087"/>
                </a:solidFill>
                <a:latin typeface="Cambria" pitchFamily="34" charset="0"/>
                <a:ea typeface="Cambria" pitchFamily="34" charset="-122"/>
                <a:cs typeface="Cambria" pitchFamily="34" charset="-120"/>
              </a:rPr>
              <a:t>Finite Element Method (FEM)</a:t>
            </a:r>
            <a:endParaRPr lang="en-US" sz="1100" dirty="0"/>
          </a:p>
        </p:txBody>
      </p:sp>
      <p:sp>
        <p:nvSpPr>
          <p:cNvPr id="13" name="Text 11"/>
          <p:cNvSpPr/>
          <p:nvPr/>
        </p:nvSpPr>
        <p:spPr>
          <a:xfrm>
            <a:off x="3282696" y="1783080"/>
            <a:ext cx="2487168" cy="749808"/>
          </a:xfrm>
          <a:prstGeom prst="rect">
            <a:avLst/>
          </a:prstGeom>
          <a:noFill/>
          <a:ln/>
        </p:spPr>
        <p:txBody>
          <a:bodyPr wrap="square" lIns="63500" tIns="63500" rIns="63500" bIns="63500" rtlCol="0" anchor="t"/>
          <a:lstStyle/>
          <a:p>
            <a:pPr marL="0" indent="0" algn="l">
              <a:buNone/>
            </a:pPr>
            <a:r>
              <a:rPr lang="en-US" sz="1000" dirty="0">
                <a:solidFill>
                  <a:srgbClr val="1A1A2E"/>
                </a:solidFill>
                <a:latin typeface="Arial" pitchFamily="34" charset="0"/>
                <a:ea typeface="Arial" pitchFamily="34" charset="-122"/>
                <a:cs typeface="Arial" pitchFamily="34" charset="-120"/>
              </a:rPr>
              <a:t>Domain split into elements. Each node connects to element neighbours only. Produces symmetric sparse matrices. Used in structural mechanics.</a:t>
            </a:r>
            <a:endParaRPr lang="en-US" sz="1000" dirty="0"/>
          </a:p>
        </p:txBody>
      </p:sp>
      <p:sp>
        <p:nvSpPr>
          <p:cNvPr id="14" name="Shape 12"/>
          <p:cNvSpPr/>
          <p:nvPr/>
        </p:nvSpPr>
        <p:spPr>
          <a:xfrm>
            <a:off x="6025896" y="1417320"/>
            <a:ext cx="2697480" cy="1170432"/>
          </a:xfrm>
          <a:prstGeom prst="roundRect">
            <a:avLst>
              <a:gd name="adj" fmla="val 4688"/>
            </a:avLst>
          </a:prstGeom>
          <a:solidFill>
            <a:srgbClr val="EBF0FA"/>
          </a:solidFill>
          <a:ln w="12700">
            <a:solidFill>
              <a:srgbClr val="003087"/>
            </a:solidFill>
            <a:prstDash val="solid"/>
          </a:ln>
        </p:spPr>
        <p:txBody>
          <a:bodyPr/>
          <a:lstStyle/>
          <a:p>
            <a:endParaRPr lang="en-NG"/>
          </a:p>
        </p:txBody>
      </p:sp>
      <p:sp>
        <p:nvSpPr>
          <p:cNvPr id="15" name="Text 13"/>
          <p:cNvSpPr/>
          <p:nvPr/>
        </p:nvSpPr>
        <p:spPr>
          <a:xfrm>
            <a:off x="6135624" y="1463040"/>
            <a:ext cx="2487168" cy="292608"/>
          </a:xfrm>
          <a:prstGeom prst="rect">
            <a:avLst/>
          </a:prstGeom>
          <a:noFill/>
          <a:ln/>
        </p:spPr>
        <p:txBody>
          <a:bodyPr wrap="square" lIns="63500" tIns="63500" rIns="63500" bIns="63500" rtlCol="0" anchor="t"/>
          <a:lstStyle/>
          <a:p>
            <a:pPr marL="0" indent="0" algn="l">
              <a:buNone/>
            </a:pPr>
            <a:r>
              <a:rPr lang="en-US" sz="1100" b="1" dirty="0">
                <a:solidFill>
                  <a:srgbClr val="003087"/>
                </a:solidFill>
                <a:latin typeface="Cambria" pitchFamily="34" charset="0"/>
                <a:ea typeface="Cambria" pitchFamily="34" charset="-122"/>
                <a:cs typeface="Cambria" pitchFamily="34" charset="-120"/>
              </a:rPr>
              <a:t>Finite Volume Method (FVM)</a:t>
            </a:r>
            <a:endParaRPr lang="en-US" sz="1100" dirty="0"/>
          </a:p>
        </p:txBody>
      </p:sp>
      <p:sp>
        <p:nvSpPr>
          <p:cNvPr id="16" name="Text 14"/>
          <p:cNvSpPr/>
          <p:nvPr/>
        </p:nvSpPr>
        <p:spPr>
          <a:xfrm>
            <a:off x="6135624" y="1783080"/>
            <a:ext cx="2487168" cy="749808"/>
          </a:xfrm>
          <a:prstGeom prst="rect">
            <a:avLst/>
          </a:prstGeom>
          <a:noFill/>
          <a:ln/>
        </p:spPr>
        <p:txBody>
          <a:bodyPr wrap="square" lIns="63500" tIns="63500" rIns="63500" bIns="63500" rtlCol="0" anchor="t"/>
          <a:lstStyle/>
          <a:p>
            <a:pPr marL="0" indent="0" algn="l">
              <a:buNone/>
            </a:pPr>
            <a:r>
              <a:rPr lang="en-US" sz="1000" dirty="0">
                <a:solidFill>
                  <a:srgbClr val="1A1A2E"/>
                </a:solidFill>
                <a:latin typeface="Arial" pitchFamily="34" charset="0"/>
                <a:ea typeface="Arial" pitchFamily="34" charset="-122"/>
                <a:cs typeface="Arial" pitchFamily="34" charset="-120"/>
              </a:rPr>
              <a:t>Divergence theorem converts volume integrals to surface integrals. Flux-based: each cell communicates with face-adjacent cells only.</a:t>
            </a:r>
            <a:endParaRPr lang="en-US" sz="1000" dirty="0"/>
          </a:p>
        </p:txBody>
      </p:sp>
      <p:sp>
        <p:nvSpPr>
          <p:cNvPr id="17" name="Shape 15"/>
          <p:cNvSpPr/>
          <p:nvPr/>
        </p:nvSpPr>
        <p:spPr>
          <a:xfrm>
            <a:off x="320040" y="2596896"/>
            <a:ext cx="8503920" cy="484632"/>
          </a:xfrm>
          <a:prstGeom prst="roundRect">
            <a:avLst>
              <a:gd name="adj" fmla="val 14286"/>
            </a:avLst>
          </a:prstGeom>
          <a:solidFill>
            <a:srgbClr val="EBF0FA"/>
          </a:solidFill>
          <a:ln w="12700">
            <a:solidFill>
              <a:srgbClr val="003087"/>
            </a:solidFill>
            <a:prstDash val="solid"/>
          </a:ln>
        </p:spPr>
        <p:txBody>
          <a:bodyPr/>
          <a:lstStyle/>
          <a:p>
            <a:endParaRPr lang="en-NG"/>
          </a:p>
        </p:txBody>
      </p:sp>
      <p:sp>
        <p:nvSpPr>
          <p:cNvPr id="18" name="Text 16"/>
          <p:cNvSpPr/>
          <p:nvPr/>
        </p:nvSpPr>
        <p:spPr>
          <a:xfrm>
            <a:off x="457200" y="2724912"/>
            <a:ext cx="8229600" cy="320040"/>
          </a:xfrm>
          <a:prstGeom prst="rect">
            <a:avLst/>
          </a:prstGeom>
          <a:noFill/>
          <a:ln/>
        </p:spPr>
        <p:txBody>
          <a:bodyPr wrap="square" lIns="25400" tIns="25400" rIns="25400" bIns="25400" rtlCol="0" anchor="ctr"/>
          <a:lstStyle/>
          <a:p>
            <a:pPr marL="0" indent="0" algn="ctr">
              <a:buNone/>
            </a:pPr>
            <a:r>
              <a:rPr lang="en-US" sz="1100" b="1" dirty="0">
                <a:solidFill>
                  <a:srgbClr val="003087"/>
                </a:solidFill>
                <a:latin typeface="Arial" pitchFamily="34" charset="0"/>
                <a:ea typeface="Arial" pitchFamily="34" charset="-122"/>
                <a:cs typeface="Arial" pitchFamily="34" charset="-120"/>
              </a:rPr>
              <a:t>Key SPD properties for CG:   (1) A = Aᵀ (symmetry)   ·   (2) xᵀAx &gt; 0 for all x ≠ 0 (positive definite)   ·   (3) All eigenvalues strictly positive</a:t>
            </a:r>
            <a:endParaRPr lang="en-US" sz="1100" dirty="0"/>
          </a:p>
        </p:txBody>
      </p:sp>
      <p:sp>
        <p:nvSpPr>
          <p:cNvPr id="19" name="Shape 17"/>
          <p:cNvSpPr/>
          <p:nvPr/>
        </p:nvSpPr>
        <p:spPr>
          <a:xfrm>
            <a:off x="320040" y="3099816"/>
            <a:ext cx="8503920" cy="804672"/>
          </a:xfrm>
          <a:prstGeom prst="roundRect">
            <a:avLst>
              <a:gd name="adj" fmla="val 6818"/>
            </a:avLst>
          </a:prstGeom>
          <a:solidFill>
            <a:srgbClr val="F4F6FA"/>
          </a:solidFill>
          <a:ln w="12700">
            <a:solidFill>
              <a:srgbClr val="DDE3EF"/>
            </a:solidFill>
            <a:prstDash val="solid"/>
          </a:ln>
        </p:spPr>
        <p:txBody>
          <a:bodyPr/>
          <a:lstStyle/>
          <a:p>
            <a:endParaRPr lang="en-NG"/>
          </a:p>
        </p:txBody>
      </p:sp>
      <p:sp>
        <p:nvSpPr>
          <p:cNvPr id="20" name="Text 18"/>
          <p:cNvSpPr/>
          <p:nvPr/>
        </p:nvSpPr>
        <p:spPr>
          <a:xfrm>
            <a:off x="429768" y="3127247"/>
            <a:ext cx="2313432" cy="280049"/>
          </a:xfrm>
          <a:prstGeom prst="rect">
            <a:avLst/>
          </a:prstGeom>
          <a:noFill/>
          <a:ln/>
        </p:spPr>
        <p:txBody>
          <a:bodyPr wrap="square" lIns="63500" tIns="63500" rIns="63500" bIns="63500" rtlCol="0" anchor="t"/>
          <a:lstStyle/>
          <a:p>
            <a:pPr marL="0" indent="0" algn="l">
              <a:buNone/>
            </a:pPr>
            <a:r>
              <a:rPr lang="en-US" sz="1100" b="1" dirty="0">
                <a:solidFill>
                  <a:srgbClr val="003087"/>
                </a:solidFill>
                <a:latin typeface="Cambria" pitchFamily="34" charset="0"/>
                <a:ea typeface="Cambria" pitchFamily="34" charset="-122"/>
                <a:cs typeface="Cambria" pitchFamily="34" charset="-120"/>
              </a:rPr>
              <a:t>How to verify SPD in MATLAB:</a:t>
            </a:r>
            <a:endParaRPr lang="en-US" sz="1100" dirty="0"/>
          </a:p>
        </p:txBody>
      </p:sp>
      <p:sp>
        <p:nvSpPr>
          <p:cNvPr id="21" name="Text 19"/>
          <p:cNvSpPr/>
          <p:nvPr/>
        </p:nvSpPr>
        <p:spPr>
          <a:xfrm>
            <a:off x="484632" y="3502152"/>
            <a:ext cx="8174736" cy="128016"/>
          </a:xfrm>
          <a:prstGeom prst="rect">
            <a:avLst/>
          </a:prstGeom>
          <a:noFill/>
          <a:ln/>
        </p:spPr>
        <p:txBody>
          <a:bodyPr wrap="square" lIns="0" tIns="0" rIns="0" bIns="0" rtlCol="0" anchor="t"/>
          <a:lstStyle/>
          <a:p>
            <a:pPr marL="0" indent="0" algn="l">
              <a:buNone/>
            </a:pPr>
            <a:r>
              <a:rPr lang="en-US" sz="1050" dirty="0">
                <a:solidFill>
                  <a:srgbClr val="1A1A2E"/>
                </a:solidFill>
                <a:latin typeface="Arial" pitchFamily="34" charset="0"/>
                <a:ea typeface="Arial" pitchFamily="34" charset="-122"/>
                <a:cs typeface="Arial" pitchFamily="34" charset="-120"/>
              </a:rPr>
              <a:t>▸  issymmetric(A)  →  returns 1 if A = Aᵀ</a:t>
            </a:r>
            <a:endParaRPr lang="en-US" sz="1050" dirty="0"/>
          </a:p>
        </p:txBody>
      </p:sp>
      <p:sp>
        <p:nvSpPr>
          <p:cNvPr id="22" name="Text 20"/>
          <p:cNvSpPr/>
          <p:nvPr/>
        </p:nvSpPr>
        <p:spPr>
          <a:xfrm>
            <a:off x="484632" y="3639312"/>
            <a:ext cx="8174736" cy="128016"/>
          </a:xfrm>
          <a:prstGeom prst="rect">
            <a:avLst/>
          </a:prstGeom>
          <a:noFill/>
          <a:ln/>
        </p:spPr>
        <p:txBody>
          <a:bodyPr wrap="square" lIns="0" tIns="0" rIns="0" bIns="0" rtlCol="0" anchor="t"/>
          <a:lstStyle/>
          <a:p>
            <a:pPr marL="0" indent="0" algn="l">
              <a:buNone/>
            </a:pPr>
            <a:r>
              <a:rPr lang="en-US" sz="1050" dirty="0">
                <a:solidFill>
                  <a:srgbClr val="1A1A2E"/>
                </a:solidFill>
                <a:latin typeface="Arial" pitchFamily="34" charset="0"/>
                <a:ea typeface="Arial" pitchFamily="34" charset="-122"/>
                <a:cs typeface="Arial" pitchFamily="34" charset="-120"/>
              </a:rPr>
              <a:t>▸  min(eig(full(A))) &gt; 0  →  confirms positive definite</a:t>
            </a:r>
            <a:endParaRPr lang="en-US" sz="1050" dirty="0"/>
          </a:p>
        </p:txBody>
      </p:sp>
      <p:sp>
        <p:nvSpPr>
          <p:cNvPr id="23" name="Text 21"/>
          <p:cNvSpPr/>
          <p:nvPr/>
        </p:nvSpPr>
        <p:spPr>
          <a:xfrm>
            <a:off x="484632" y="3776472"/>
            <a:ext cx="8174736" cy="128016"/>
          </a:xfrm>
          <a:prstGeom prst="rect">
            <a:avLst/>
          </a:prstGeom>
          <a:noFill/>
          <a:ln/>
        </p:spPr>
        <p:txBody>
          <a:bodyPr wrap="square" lIns="0" tIns="0" rIns="0" bIns="0" rtlCol="0" anchor="t"/>
          <a:lstStyle/>
          <a:p>
            <a:pPr marL="0" indent="0" algn="l">
              <a:buNone/>
            </a:pPr>
            <a:r>
              <a:rPr lang="en-US" sz="1050" dirty="0">
                <a:solidFill>
                  <a:srgbClr val="1A1A2E"/>
                </a:solidFill>
                <a:latin typeface="Arial" pitchFamily="34" charset="0"/>
                <a:ea typeface="Arial" pitchFamily="34" charset="-122"/>
                <a:cs typeface="Arial" pitchFamily="34" charset="-120"/>
              </a:rPr>
              <a:t>▸  ichol(A)  →  if it runs without error, A is SPD</a:t>
            </a:r>
            <a:endParaRPr lang="en-US" sz="1050" dirty="0"/>
          </a:p>
        </p:txBody>
      </p:sp>
      <p:sp>
        <p:nvSpPr>
          <p:cNvPr id="24" name="Shape 22"/>
          <p:cNvSpPr/>
          <p:nvPr/>
        </p:nvSpPr>
        <p:spPr>
          <a:xfrm>
            <a:off x="320040" y="3977640"/>
            <a:ext cx="8503920" cy="896112"/>
          </a:xfrm>
          <a:prstGeom prst="roundRect">
            <a:avLst>
              <a:gd name="adj" fmla="val 6122"/>
            </a:avLst>
          </a:prstGeom>
          <a:solidFill>
            <a:srgbClr val="FFFFFF"/>
          </a:solidFill>
          <a:ln w="12700">
            <a:solidFill>
              <a:srgbClr val="DDE3EF"/>
            </a:solidFill>
            <a:prstDash val="solid"/>
          </a:ln>
        </p:spPr>
        <p:txBody>
          <a:bodyPr/>
          <a:lstStyle/>
          <a:p>
            <a:endParaRPr lang="en-NG"/>
          </a:p>
        </p:txBody>
      </p:sp>
      <p:sp>
        <p:nvSpPr>
          <p:cNvPr id="25" name="Text 23"/>
          <p:cNvSpPr/>
          <p:nvPr/>
        </p:nvSpPr>
        <p:spPr>
          <a:xfrm>
            <a:off x="429767" y="3992513"/>
            <a:ext cx="1310897" cy="256032"/>
          </a:xfrm>
          <a:prstGeom prst="rect">
            <a:avLst/>
          </a:prstGeom>
          <a:noFill/>
          <a:ln/>
        </p:spPr>
        <p:txBody>
          <a:bodyPr wrap="square" lIns="63500" tIns="63500" rIns="63500" bIns="63500" rtlCol="0" anchor="t"/>
          <a:lstStyle/>
          <a:p>
            <a:pPr marL="0" indent="0" algn="l">
              <a:buNone/>
            </a:pPr>
            <a:r>
              <a:rPr lang="en-US" sz="1100" b="1" dirty="0">
                <a:solidFill>
                  <a:srgbClr val="003087"/>
                </a:solidFill>
                <a:latin typeface="Cambria" pitchFamily="34" charset="0"/>
                <a:ea typeface="Cambria" pitchFamily="34" charset="-122"/>
                <a:cs typeface="Cambria" pitchFamily="34" charset="-120"/>
              </a:rPr>
              <a:t>Storage formats:</a:t>
            </a:r>
            <a:endParaRPr lang="en-US" sz="1100" dirty="0"/>
          </a:p>
        </p:txBody>
      </p:sp>
      <p:sp>
        <p:nvSpPr>
          <p:cNvPr id="26" name="Text 24"/>
          <p:cNvSpPr/>
          <p:nvPr/>
        </p:nvSpPr>
        <p:spPr>
          <a:xfrm>
            <a:off x="429768" y="4343400"/>
            <a:ext cx="8284464" cy="530352"/>
          </a:xfrm>
          <a:prstGeom prst="rect">
            <a:avLst/>
          </a:prstGeom>
          <a:noFill/>
          <a:ln/>
        </p:spPr>
        <p:txBody>
          <a:bodyPr wrap="square" lIns="0" tIns="0" rIns="0" bIns="0" rtlCol="0" anchor="t"/>
          <a:lstStyle/>
          <a:p>
            <a:pPr marL="0" indent="0" algn="l">
              <a:buNone/>
            </a:pPr>
            <a:r>
              <a:rPr lang="en-US" sz="1050" dirty="0">
                <a:solidFill>
                  <a:srgbClr val="1A1A2E"/>
                </a:solidFill>
                <a:latin typeface="Arial" pitchFamily="34" charset="0"/>
                <a:ea typeface="Arial" pitchFamily="34" charset="-122"/>
                <a:cs typeface="Arial" pitchFamily="34" charset="-120"/>
              </a:rPr>
              <a:t>Sparse matrices are stored in compressed formats — COO (Coordinate), CSR (Compressed Sparse Row), CSC (Compressed Sparse Column), MSR (Modified Sparse Row) — to store only the nonzero values and their indices. MATLAB stores sparse matrices in CSC format. The choice of format affects matrix-vector product efficiency.</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3087"/>
          </a:solidFill>
          <a:ln w="12700">
            <a:solidFill>
              <a:srgbClr val="003087"/>
            </a:solidFill>
            <a:prstDash val="solid"/>
          </a:ln>
        </p:spPr>
        <p:txBody>
          <a:bodyPr/>
          <a:lstStyle/>
          <a:p>
            <a:endParaRPr lang="en-NG"/>
          </a:p>
        </p:txBody>
      </p:sp>
      <p:sp>
        <p:nvSpPr>
          <p:cNvPr id="3" name="Text 1"/>
          <p:cNvSpPr/>
          <p:nvPr/>
        </p:nvSpPr>
        <p:spPr>
          <a:xfrm>
            <a:off x="320040" y="54864"/>
            <a:ext cx="7589520" cy="530352"/>
          </a:xfrm>
          <a:prstGeom prst="rect">
            <a:avLst/>
          </a:prstGeom>
          <a:noFill/>
          <a:ln/>
        </p:spPr>
        <p:txBody>
          <a:bodyPr wrap="square" lIns="50800" tIns="50800" rIns="50800" bIns="50800" rtlCol="0" anchor="ctr"/>
          <a:lstStyle/>
          <a:p>
            <a:pPr marL="0" indent="0" algn="l">
              <a:buNone/>
            </a:pPr>
            <a:r>
              <a:rPr lang="en-US" sz="1900" b="1" dirty="0">
                <a:solidFill>
                  <a:srgbClr val="FFFFFF"/>
                </a:solidFill>
                <a:latin typeface="Cambria" pitchFamily="34" charset="0"/>
                <a:ea typeface="Cambria" pitchFamily="34" charset="-122"/>
                <a:cs typeface="Cambria" pitchFamily="34" charset="-120"/>
              </a:rPr>
              <a:t>4.  Sparsity Patterns — What the spy() Plot Tells Us</a:t>
            </a:r>
            <a:endParaRPr lang="en-US" sz="1900" dirty="0"/>
          </a:p>
        </p:txBody>
      </p:sp>
      <p:sp>
        <p:nvSpPr>
          <p:cNvPr id="4" name="Text 2"/>
          <p:cNvSpPr/>
          <p:nvPr/>
        </p:nvSpPr>
        <p:spPr>
          <a:xfrm>
            <a:off x="8138160" y="54864"/>
            <a:ext cx="640080" cy="530352"/>
          </a:xfrm>
          <a:prstGeom prst="rect">
            <a:avLst/>
          </a:prstGeom>
          <a:noFill/>
          <a:ln/>
        </p:spPr>
        <p:txBody>
          <a:bodyPr wrap="square" lIns="25400" tIns="25400" rIns="25400" bIns="25400" rtlCol="0" anchor="ctr"/>
          <a:lstStyle/>
          <a:p>
            <a:pPr marL="0" indent="0" algn="r">
              <a:buNone/>
            </a:pPr>
            <a:r>
              <a:rPr lang="en-US" sz="1000" dirty="0">
                <a:solidFill>
                  <a:srgbClr val="AAC0E8"/>
                </a:solidFill>
                <a:latin typeface="Arial" pitchFamily="34" charset="0"/>
                <a:ea typeface="Arial" pitchFamily="34" charset="-122"/>
                <a:cs typeface="Arial" pitchFamily="34" charset="-120"/>
              </a:rPr>
              <a:t>4 / 20</a:t>
            </a:r>
            <a:endParaRPr lang="en-US" sz="1000" dirty="0"/>
          </a:p>
        </p:txBody>
      </p:sp>
      <p:sp>
        <p:nvSpPr>
          <p:cNvPr id="5" name="Shape 3"/>
          <p:cNvSpPr/>
          <p:nvPr/>
        </p:nvSpPr>
        <p:spPr>
          <a:xfrm>
            <a:off x="0" y="640080"/>
            <a:ext cx="9144000" cy="45720"/>
          </a:xfrm>
          <a:prstGeom prst="rect">
            <a:avLst/>
          </a:prstGeom>
          <a:solidFill>
            <a:srgbClr val="C8102E"/>
          </a:solidFill>
          <a:ln w="12700">
            <a:solidFill>
              <a:srgbClr val="C8102E"/>
            </a:solidFill>
            <a:prstDash val="solid"/>
          </a:ln>
        </p:spPr>
        <p:txBody>
          <a:bodyPr/>
          <a:lstStyle/>
          <a:p>
            <a:endParaRPr lang="en-NG"/>
          </a:p>
        </p:txBody>
      </p:sp>
      <p:sp>
        <p:nvSpPr>
          <p:cNvPr id="6" name="Text 4"/>
          <p:cNvSpPr/>
          <p:nvPr/>
        </p:nvSpPr>
        <p:spPr>
          <a:xfrm>
            <a:off x="320040" y="749808"/>
            <a:ext cx="8503920" cy="347472"/>
          </a:xfrm>
          <a:prstGeom prst="rect">
            <a:avLst/>
          </a:prstGeom>
          <a:noFill/>
          <a:ln/>
        </p:spPr>
        <p:txBody>
          <a:bodyPr wrap="square" lIns="25400" tIns="25400" rIns="25400" bIns="25400" rtlCol="0" anchor="t"/>
          <a:lstStyle/>
          <a:p>
            <a:pPr marL="0" indent="0" algn="l">
              <a:buNone/>
            </a:pPr>
            <a:r>
              <a:rPr lang="en-US" sz="1100" dirty="0">
                <a:solidFill>
                  <a:srgbClr val="1A1A2E"/>
                </a:solidFill>
                <a:latin typeface="Arial" pitchFamily="34" charset="0"/>
                <a:ea typeface="Arial" pitchFamily="34" charset="-122"/>
                <a:cs typeface="Arial" pitchFamily="34" charset="-120"/>
              </a:rPr>
              <a:t>The sparsity pattern (the geometry of nonzero positions) reflects the underlying mesh connectivity and directly determines the condition number κ(A) and CG convergence speed.</a:t>
            </a:r>
            <a:endParaRPr lang="en-US" sz="1100" dirty="0"/>
          </a:p>
        </p:txBody>
      </p:sp>
      <p:sp>
        <p:nvSpPr>
          <p:cNvPr id="7" name="Shape 5"/>
          <p:cNvSpPr/>
          <p:nvPr/>
        </p:nvSpPr>
        <p:spPr>
          <a:xfrm>
            <a:off x="320040" y="1143000"/>
            <a:ext cx="4096512" cy="2743200"/>
          </a:xfrm>
          <a:prstGeom prst="roundRect">
            <a:avLst>
              <a:gd name="adj" fmla="val 2000"/>
            </a:avLst>
          </a:prstGeom>
          <a:solidFill>
            <a:srgbClr val="F4F6FA"/>
          </a:solidFill>
          <a:ln w="12700">
            <a:solidFill>
              <a:srgbClr val="003087"/>
            </a:solidFill>
            <a:prstDash val="solid"/>
          </a:ln>
        </p:spPr>
        <p:txBody>
          <a:bodyPr/>
          <a:lstStyle/>
          <a:p>
            <a:endParaRPr lang="en-NG"/>
          </a:p>
        </p:txBody>
      </p:sp>
      <p:sp>
        <p:nvSpPr>
          <p:cNvPr id="8" name="Text 6"/>
          <p:cNvSpPr/>
          <p:nvPr/>
        </p:nvSpPr>
        <p:spPr>
          <a:xfrm>
            <a:off x="429768" y="1188720"/>
            <a:ext cx="3877056" cy="292608"/>
          </a:xfrm>
          <a:prstGeom prst="rect">
            <a:avLst/>
          </a:prstGeom>
          <a:noFill/>
          <a:ln/>
        </p:spPr>
        <p:txBody>
          <a:bodyPr wrap="square" lIns="63500" tIns="63500" rIns="63500" bIns="63500" rtlCol="0" anchor="t"/>
          <a:lstStyle/>
          <a:p>
            <a:pPr marL="0" indent="0" algn="l">
              <a:buNone/>
            </a:pPr>
            <a:r>
              <a:rPr lang="en-US" sz="1150" b="1" dirty="0">
                <a:solidFill>
                  <a:srgbClr val="003087"/>
                </a:solidFill>
                <a:latin typeface="Cambria" pitchFamily="34" charset="0"/>
                <a:ea typeface="Cambria" pitchFamily="34" charset="-122"/>
                <a:cs typeface="Cambria" pitchFamily="34" charset="-120"/>
              </a:rPr>
              <a:t>1D Poisson  —  A = tridiag(−1, 4, −1) + I</a:t>
            </a:r>
            <a:endParaRPr lang="en-US" sz="1150" dirty="0"/>
          </a:p>
        </p:txBody>
      </p:sp>
      <p:pic>
        <p:nvPicPr>
          <p:cNvPr id="9" name="Image 0" descr="preencoded.png"/>
          <p:cNvPicPr>
            <a:picLocks noChangeAspect="1"/>
          </p:cNvPicPr>
          <p:nvPr/>
        </p:nvPicPr>
        <p:blipFill>
          <a:blip r:embed="rId3"/>
          <a:srcRect/>
          <a:stretch/>
        </p:blipFill>
        <p:spPr>
          <a:xfrm>
            <a:off x="457200" y="1508760"/>
            <a:ext cx="3822192" cy="1755648"/>
          </a:xfrm>
          <a:prstGeom prst="rect">
            <a:avLst/>
          </a:prstGeom>
        </p:spPr>
      </p:pic>
      <p:sp>
        <p:nvSpPr>
          <p:cNvPr id="10" name="Text 7"/>
          <p:cNvSpPr/>
          <p:nvPr/>
        </p:nvSpPr>
        <p:spPr>
          <a:xfrm>
            <a:off x="429768" y="3291840"/>
            <a:ext cx="3877056" cy="530352"/>
          </a:xfrm>
          <a:prstGeom prst="rect">
            <a:avLst/>
          </a:prstGeom>
          <a:noFill/>
          <a:ln/>
        </p:spPr>
        <p:txBody>
          <a:bodyPr wrap="square" lIns="25400" tIns="25400" rIns="25400" bIns="25400" rtlCol="0" anchor="t"/>
          <a:lstStyle/>
          <a:p>
            <a:pPr marL="0" indent="0" algn="l">
              <a:buNone/>
            </a:pPr>
            <a:r>
              <a:rPr lang="en-US" sz="1000" dirty="0">
                <a:solidFill>
                  <a:srgbClr val="1A1A2E"/>
                </a:solidFill>
                <a:latin typeface="Arial" pitchFamily="34" charset="0"/>
                <a:ea typeface="Arial" pitchFamily="34" charset="-122"/>
                <a:cs typeface="Arial" pitchFamily="34" charset="-120"/>
              </a:rPr>
              <a:t>n=500, nnz=1498, fill=0.60%</a:t>
            </a:r>
            <a:endParaRPr lang="en-US" sz="1000" dirty="0"/>
          </a:p>
          <a:p>
            <a:pPr marL="0" indent="0" algn="l">
              <a:buNone/>
            </a:pPr>
            <a:r>
              <a:rPr lang="en-US" sz="1000" dirty="0">
                <a:solidFill>
                  <a:srgbClr val="1A1A2E"/>
                </a:solidFill>
                <a:latin typeface="Arial" pitchFamily="34" charset="0"/>
                <a:ea typeface="Arial" pitchFamily="34" charset="-122"/>
                <a:cs typeface="Arial" pitchFamily="34" charset="-120"/>
              </a:rPr>
              <a:t>Tridiagonal: left &amp; right neighbours only</a:t>
            </a:r>
            <a:endParaRPr lang="en-US" sz="1000" dirty="0"/>
          </a:p>
          <a:p>
            <a:pPr marL="0" indent="0" algn="l">
              <a:buNone/>
            </a:pPr>
            <a:r>
              <a:rPr lang="en-US" sz="1000" dirty="0">
                <a:solidFill>
                  <a:srgbClr val="1A1A2E"/>
                </a:solidFill>
                <a:latin typeface="Arial" pitchFamily="34" charset="0"/>
                <a:ea typeface="Arial" pitchFamily="34" charset="-122"/>
                <a:cs typeface="Arial" pitchFamily="34" charset="-120"/>
              </a:rPr>
              <a:t>A=Aᵀ confirmed → CG applicable</a:t>
            </a:r>
            <a:endParaRPr lang="en-US" sz="1000" dirty="0"/>
          </a:p>
        </p:txBody>
      </p:sp>
      <p:sp>
        <p:nvSpPr>
          <p:cNvPr id="11" name="Shape 8"/>
          <p:cNvSpPr/>
          <p:nvPr/>
        </p:nvSpPr>
        <p:spPr>
          <a:xfrm>
            <a:off x="4727448" y="1143000"/>
            <a:ext cx="4096512" cy="2743200"/>
          </a:xfrm>
          <a:prstGeom prst="roundRect">
            <a:avLst>
              <a:gd name="adj" fmla="val 2000"/>
            </a:avLst>
          </a:prstGeom>
          <a:solidFill>
            <a:srgbClr val="F4F6FA"/>
          </a:solidFill>
          <a:ln w="12700">
            <a:solidFill>
              <a:srgbClr val="C8102E"/>
            </a:solidFill>
            <a:prstDash val="solid"/>
          </a:ln>
        </p:spPr>
        <p:txBody>
          <a:bodyPr/>
          <a:lstStyle/>
          <a:p>
            <a:endParaRPr lang="en-NG"/>
          </a:p>
        </p:txBody>
      </p:sp>
      <p:sp>
        <p:nvSpPr>
          <p:cNvPr id="12" name="Text 9"/>
          <p:cNvSpPr/>
          <p:nvPr/>
        </p:nvSpPr>
        <p:spPr>
          <a:xfrm>
            <a:off x="4837176" y="1188720"/>
            <a:ext cx="3877056" cy="292608"/>
          </a:xfrm>
          <a:prstGeom prst="rect">
            <a:avLst/>
          </a:prstGeom>
          <a:noFill/>
          <a:ln/>
        </p:spPr>
        <p:txBody>
          <a:bodyPr wrap="square" lIns="63500" tIns="63500" rIns="63500" bIns="63500" rtlCol="0" anchor="t"/>
          <a:lstStyle/>
          <a:p>
            <a:pPr marL="0" indent="0" algn="l">
              <a:buNone/>
            </a:pPr>
            <a:r>
              <a:rPr lang="en-US" sz="1150" b="1" dirty="0">
                <a:solidFill>
                  <a:srgbClr val="C8102E"/>
                </a:solidFill>
                <a:latin typeface="Cambria" pitchFamily="34" charset="0"/>
                <a:ea typeface="Cambria" pitchFamily="34" charset="-122"/>
                <a:cs typeface="Cambria" pitchFamily="34" charset="-120"/>
              </a:rPr>
              <a:t>gr30×30 Matrix Market — 2D Finite Diff.</a:t>
            </a:r>
            <a:endParaRPr lang="en-US" sz="1150" dirty="0"/>
          </a:p>
        </p:txBody>
      </p:sp>
      <p:pic>
        <p:nvPicPr>
          <p:cNvPr id="13" name="Image 1" descr="preencoded.png"/>
          <p:cNvPicPr>
            <a:picLocks noChangeAspect="1"/>
          </p:cNvPicPr>
          <p:nvPr/>
        </p:nvPicPr>
        <p:blipFill>
          <a:blip r:embed="rId4"/>
          <a:srcRect/>
          <a:stretch/>
        </p:blipFill>
        <p:spPr>
          <a:xfrm>
            <a:off x="4864608" y="1508760"/>
            <a:ext cx="3822192" cy="1755648"/>
          </a:xfrm>
          <a:prstGeom prst="rect">
            <a:avLst/>
          </a:prstGeom>
        </p:spPr>
      </p:pic>
      <p:sp>
        <p:nvSpPr>
          <p:cNvPr id="14" name="Text 10"/>
          <p:cNvSpPr/>
          <p:nvPr/>
        </p:nvSpPr>
        <p:spPr>
          <a:xfrm>
            <a:off x="4837176" y="3291840"/>
            <a:ext cx="3877056" cy="530352"/>
          </a:xfrm>
          <a:prstGeom prst="rect">
            <a:avLst/>
          </a:prstGeom>
          <a:noFill/>
          <a:ln/>
        </p:spPr>
        <p:txBody>
          <a:bodyPr wrap="square" lIns="25400" tIns="25400" rIns="25400" bIns="25400" rtlCol="0" anchor="t"/>
          <a:lstStyle/>
          <a:p>
            <a:pPr marL="0" indent="0" algn="l">
              <a:buNone/>
            </a:pPr>
            <a:r>
              <a:rPr lang="en-US" sz="1000" dirty="0">
                <a:solidFill>
                  <a:srgbClr val="1A1A2E"/>
                </a:solidFill>
                <a:latin typeface="Arial" pitchFamily="34" charset="0"/>
                <a:ea typeface="Arial" pitchFamily="34" charset="-122"/>
                <a:cs typeface="Arial" pitchFamily="34" charset="-120"/>
              </a:rPr>
              <a:t>n=900, nnz=7744, fill=0.96%</a:t>
            </a:r>
            <a:endParaRPr lang="en-US" sz="1000" dirty="0"/>
          </a:p>
          <a:p>
            <a:pPr marL="0" indent="0" algn="l">
              <a:buNone/>
            </a:pPr>
            <a:r>
              <a:rPr lang="en-US" sz="1000" dirty="0">
                <a:solidFill>
                  <a:srgbClr val="1A1A2E"/>
                </a:solidFill>
                <a:latin typeface="Arial" pitchFamily="34" charset="0"/>
                <a:ea typeface="Arial" pitchFamily="34" charset="-122"/>
                <a:cs typeface="Arial" pitchFamily="34" charset="-120"/>
              </a:rPr>
              <a:t>Five-band: N,S,E,W neighbours on 30×30 grid</a:t>
            </a:r>
            <a:endParaRPr lang="en-US" sz="1000" dirty="0"/>
          </a:p>
          <a:p>
            <a:pPr marL="0" indent="0" algn="l">
              <a:buNone/>
            </a:pPr>
            <a:r>
              <a:rPr lang="en-US" sz="1000" dirty="0">
                <a:solidFill>
                  <a:srgbClr val="1A1A2E"/>
                </a:solidFill>
                <a:latin typeface="Arial" pitchFamily="34" charset="0"/>
                <a:ea typeface="Arial" pitchFamily="34" charset="-122"/>
                <a:cs typeface="Arial" pitchFamily="34" charset="-120"/>
              </a:rPr>
              <a:t>Wider bandwidth → larger κ(A) → more iterations</a:t>
            </a:r>
            <a:endParaRPr lang="en-US" sz="1000" dirty="0"/>
          </a:p>
        </p:txBody>
      </p:sp>
      <p:sp>
        <p:nvSpPr>
          <p:cNvPr id="15" name="Shape 11"/>
          <p:cNvSpPr/>
          <p:nvPr/>
        </p:nvSpPr>
        <p:spPr>
          <a:xfrm>
            <a:off x="320040" y="3977640"/>
            <a:ext cx="8503920" cy="502920"/>
          </a:xfrm>
          <a:prstGeom prst="roundRect">
            <a:avLst>
              <a:gd name="adj" fmla="val 10909"/>
            </a:avLst>
          </a:prstGeom>
          <a:solidFill>
            <a:srgbClr val="EBF0FA"/>
          </a:solidFill>
          <a:ln w="12700">
            <a:solidFill>
              <a:srgbClr val="003087"/>
            </a:solidFill>
            <a:prstDash val="solid"/>
          </a:ln>
        </p:spPr>
        <p:txBody>
          <a:bodyPr/>
          <a:lstStyle/>
          <a:p>
            <a:endParaRPr lang="en-NG"/>
          </a:p>
        </p:txBody>
      </p:sp>
      <p:sp>
        <p:nvSpPr>
          <p:cNvPr id="16" name="Text 12"/>
          <p:cNvSpPr/>
          <p:nvPr/>
        </p:nvSpPr>
        <p:spPr>
          <a:xfrm>
            <a:off x="457200" y="4014216"/>
            <a:ext cx="8229600" cy="420624"/>
          </a:xfrm>
          <a:prstGeom prst="rect">
            <a:avLst/>
          </a:prstGeom>
          <a:noFill/>
          <a:ln/>
        </p:spPr>
        <p:txBody>
          <a:bodyPr wrap="square" lIns="50800" tIns="50800" rIns="50800" bIns="50800" rtlCol="0" anchor="ctr"/>
          <a:lstStyle/>
          <a:p>
            <a:pPr marL="0" indent="0" algn="ctr">
              <a:buNone/>
            </a:pPr>
            <a:r>
              <a:rPr lang="en-US" sz="1100" dirty="0">
                <a:solidFill>
                  <a:srgbClr val="003087"/>
                </a:solidFill>
                <a:latin typeface="Arial" pitchFamily="34" charset="0"/>
                <a:ea typeface="Arial" pitchFamily="34" charset="-122"/>
                <a:cs typeface="Arial" pitchFamily="34" charset="-120"/>
              </a:rPr>
              <a:t>Key insight: tridiagonal pattern ⇒ IC factor is exact ⇒ PCG converges in 1 iteration.   Five-band pattern ⇒ IC is approximate ⇒ PCG converges in 22 iterations (46% fewer than CG’s 41).</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3087"/>
          </a:solidFill>
          <a:ln w="12700">
            <a:solidFill>
              <a:srgbClr val="003087"/>
            </a:solidFill>
            <a:prstDash val="solid"/>
          </a:ln>
        </p:spPr>
        <p:txBody>
          <a:bodyPr/>
          <a:lstStyle/>
          <a:p>
            <a:endParaRPr lang="en-NG"/>
          </a:p>
        </p:txBody>
      </p:sp>
      <p:sp>
        <p:nvSpPr>
          <p:cNvPr id="3" name="Text 1"/>
          <p:cNvSpPr/>
          <p:nvPr/>
        </p:nvSpPr>
        <p:spPr>
          <a:xfrm>
            <a:off x="320040" y="54864"/>
            <a:ext cx="7589520" cy="530352"/>
          </a:xfrm>
          <a:prstGeom prst="rect">
            <a:avLst/>
          </a:prstGeom>
          <a:noFill/>
          <a:ln/>
        </p:spPr>
        <p:txBody>
          <a:bodyPr wrap="square" lIns="50800" tIns="50800" rIns="50800" bIns="50800" rtlCol="0" anchor="ctr"/>
          <a:lstStyle/>
          <a:p>
            <a:pPr marL="0" indent="0" algn="l">
              <a:buNone/>
            </a:pPr>
            <a:r>
              <a:rPr lang="en-US" sz="1900" b="1" dirty="0">
                <a:solidFill>
                  <a:srgbClr val="FFFFFF"/>
                </a:solidFill>
                <a:latin typeface="Cambria" pitchFamily="34" charset="0"/>
                <a:ea typeface="Cambria" pitchFamily="34" charset="-122"/>
                <a:cs typeface="Cambria" pitchFamily="34" charset="-120"/>
              </a:rPr>
              <a:t>5.  Why CG and PCG? — Strategic Choice from 34 Methods</a:t>
            </a:r>
            <a:endParaRPr lang="en-US" sz="1900" dirty="0"/>
          </a:p>
        </p:txBody>
      </p:sp>
      <p:sp>
        <p:nvSpPr>
          <p:cNvPr id="4" name="Text 2"/>
          <p:cNvSpPr/>
          <p:nvPr/>
        </p:nvSpPr>
        <p:spPr>
          <a:xfrm>
            <a:off x="8138160" y="54864"/>
            <a:ext cx="640080" cy="530352"/>
          </a:xfrm>
          <a:prstGeom prst="rect">
            <a:avLst/>
          </a:prstGeom>
          <a:noFill/>
          <a:ln/>
        </p:spPr>
        <p:txBody>
          <a:bodyPr wrap="square" lIns="25400" tIns="25400" rIns="25400" bIns="25400" rtlCol="0" anchor="ctr"/>
          <a:lstStyle/>
          <a:p>
            <a:pPr marL="0" indent="0" algn="r">
              <a:buNone/>
            </a:pPr>
            <a:r>
              <a:rPr lang="en-US" sz="1000" dirty="0">
                <a:solidFill>
                  <a:srgbClr val="AAC0E8"/>
                </a:solidFill>
                <a:latin typeface="Arial" pitchFamily="34" charset="0"/>
                <a:ea typeface="Arial" pitchFamily="34" charset="-122"/>
                <a:cs typeface="Arial" pitchFamily="34" charset="-120"/>
              </a:rPr>
              <a:t>5 / 20</a:t>
            </a:r>
            <a:endParaRPr lang="en-US" sz="1000" dirty="0"/>
          </a:p>
        </p:txBody>
      </p:sp>
      <p:sp>
        <p:nvSpPr>
          <p:cNvPr id="5" name="Shape 3"/>
          <p:cNvSpPr/>
          <p:nvPr/>
        </p:nvSpPr>
        <p:spPr>
          <a:xfrm>
            <a:off x="0" y="640080"/>
            <a:ext cx="9144000" cy="45720"/>
          </a:xfrm>
          <a:prstGeom prst="rect">
            <a:avLst/>
          </a:prstGeom>
          <a:solidFill>
            <a:srgbClr val="C8102E"/>
          </a:solidFill>
          <a:ln w="12700">
            <a:solidFill>
              <a:srgbClr val="C8102E"/>
            </a:solidFill>
            <a:prstDash val="solid"/>
          </a:ln>
        </p:spPr>
        <p:txBody>
          <a:bodyPr/>
          <a:lstStyle/>
          <a:p>
            <a:endParaRPr lang="en-NG"/>
          </a:p>
        </p:txBody>
      </p:sp>
      <p:sp>
        <p:nvSpPr>
          <p:cNvPr id="6" name="Text 4"/>
          <p:cNvSpPr/>
          <p:nvPr/>
        </p:nvSpPr>
        <p:spPr>
          <a:xfrm>
            <a:off x="320040" y="749808"/>
            <a:ext cx="8503920" cy="347472"/>
          </a:xfrm>
          <a:prstGeom prst="rect">
            <a:avLst/>
          </a:prstGeom>
          <a:noFill/>
          <a:ln/>
        </p:spPr>
        <p:txBody>
          <a:bodyPr wrap="square" lIns="25400" tIns="25400" rIns="25400" bIns="25400" rtlCol="0" anchor="t"/>
          <a:lstStyle/>
          <a:p>
            <a:pPr marL="0" indent="0" algn="l">
              <a:buNone/>
            </a:pPr>
            <a:r>
              <a:rPr lang="en-US" sz="1100" dirty="0">
                <a:solidFill>
                  <a:srgbClr val="1A1A2E"/>
                </a:solidFill>
                <a:latin typeface="Arial" pitchFamily="34" charset="0"/>
                <a:ea typeface="Arial" pitchFamily="34" charset="-122"/>
                <a:cs typeface="Arial" pitchFamily="34" charset="-120"/>
              </a:rPr>
              <a:t>From the project list of 34 iterative methods, CG (No. 20) and PCG (No. 30) are chosen for analytically grounded reasons:</a:t>
            </a:r>
            <a:endParaRPr lang="en-US" sz="1100" dirty="0"/>
          </a:p>
        </p:txBody>
      </p:sp>
      <p:sp>
        <p:nvSpPr>
          <p:cNvPr id="7" name="Shape 5"/>
          <p:cNvSpPr/>
          <p:nvPr/>
        </p:nvSpPr>
        <p:spPr>
          <a:xfrm>
            <a:off x="320040" y="1234440"/>
            <a:ext cx="2697480" cy="1572768"/>
          </a:xfrm>
          <a:prstGeom prst="roundRect">
            <a:avLst>
              <a:gd name="adj" fmla="val 3488"/>
            </a:avLst>
          </a:prstGeom>
          <a:solidFill>
            <a:srgbClr val="EBF0FA"/>
          </a:solidFill>
          <a:ln w="12700">
            <a:solidFill>
              <a:srgbClr val="003087"/>
            </a:solidFill>
            <a:prstDash val="solid"/>
          </a:ln>
        </p:spPr>
        <p:txBody>
          <a:bodyPr/>
          <a:lstStyle/>
          <a:p>
            <a:endParaRPr lang="en-NG"/>
          </a:p>
        </p:txBody>
      </p:sp>
      <p:sp>
        <p:nvSpPr>
          <p:cNvPr id="8" name="Text 6"/>
          <p:cNvSpPr/>
          <p:nvPr/>
        </p:nvSpPr>
        <p:spPr>
          <a:xfrm>
            <a:off x="429768" y="1280160"/>
            <a:ext cx="502920" cy="530352"/>
          </a:xfrm>
          <a:prstGeom prst="rect">
            <a:avLst/>
          </a:prstGeom>
          <a:noFill/>
          <a:ln/>
        </p:spPr>
        <p:txBody>
          <a:bodyPr wrap="square" lIns="0" tIns="0" rIns="0" bIns="0" rtlCol="0" anchor="ctr"/>
          <a:lstStyle/>
          <a:p>
            <a:pPr marL="0" indent="0" algn="ctr">
              <a:buNone/>
            </a:pPr>
            <a:r>
              <a:rPr lang="en-US" sz="2600" b="1" dirty="0">
                <a:solidFill>
                  <a:srgbClr val="003087"/>
                </a:solidFill>
                <a:latin typeface="Cambria" pitchFamily="34" charset="0"/>
                <a:ea typeface="Cambria" pitchFamily="34" charset="-122"/>
                <a:cs typeface="Cambria" pitchFamily="34" charset="-120"/>
              </a:rPr>
              <a:t>01</a:t>
            </a:r>
            <a:endParaRPr lang="en-US" sz="2600" dirty="0"/>
          </a:p>
        </p:txBody>
      </p:sp>
      <p:sp>
        <p:nvSpPr>
          <p:cNvPr id="9" name="Text 7"/>
          <p:cNvSpPr/>
          <p:nvPr/>
        </p:nvSpPr>
        <p:spPr>
          <a:xfrm>
            <a:off x="941832" y="1298448"/>
            <a:ext cx="1965960" cy="475488"/>
          </a:xfrm>
          <a:prstGeom prst="rect">
            <a:avLst/>
          </a:prstGeom>
          <a:noFill/>
          <a:ln/>
        </p:spPr>
        <p:txBody>
          <a:bodyPr wrap="square" lIns="63500" tIns="63500" rIns="63500" bIns="63500" rtlCol="0" anchor="t"/>
          <a:lstStyle/>
          <a:p>
            <a:pPr marL="0" indent="0" algn="l">
              <a:buNone/>
            </a:pPr>
            <a:r>
              <a:rPr lang="en-US" sz="1100" b="1" dirty="0">
                <a:solidFill>
                  <a:srgbClr val="003087"/>
                </a:solidFill>
                <a:latin typeface="Cambria" pitchFamily="34" charset="0"/>
                <a:ea typeface="Cambria" pitchFamily="34" charset="-122"/>
                <a:cs typeface="Cambria" pitchFamily="34" charset="-120"/>
              </a:rPr>
              <a:t>SPD Systems Are the Natural Target</a:t>
            </a:r>
            <a:endParaRPr lang="en-US" sz="1100" dirty="0"/>
          </a:p>
        </p:txBody>
      </p:sp>
      <p:sp>
        <p:nvSpPr>
          <p:cNvPr id="10" name="Text 8"/>
          <p:cNvSpPr/>
          <p:nvPr/>
        </p:nvSpPr>
        <p:spPr>
          <a:xfrm>
            <a:off x="429768" y="1810512"/>
            <a:ext cx="2487168" cy="932688"/>
          </a:xfrm>
          <a:prstGeom prst="rect">
            <a:avLst/>
          </a:prstGeom>
          <a:noFill/>
          <a:ln/>
        </p:spPr>
        <p:txBody>
          <a:bodyPr wrap="square" lIns="63500" tIns="63500" rIns="63500" bIns="63500" rtlCol="0" anchor="t"/>
          <a:lstStyle/>
          <a:p>
            <a:pPr marL="0" indent="0" algn="l">
              <a:buNone/>
            </a:pPr>
            <a:r>
              <a:rPr lang="en-US" sz="1000" dirty="0">
                <a:solidFill>
                  <a:srgbClr val="1A1A2E"/>
                </a:solidFill>
                <a:latin typeface="Arial" pitchFamily="34" charset="0"/>
                <a:ea typeface="Arial" pitchFamily="34" charset="-122"/>
                <a:cs typeface="Arial" pitchFamily="34" charset="-120"/>
              </a:rPr>
              <a:t>FD and FEM discretisations of elliptic PDEs always produce SPD matrices. Both our test matrices (Poisson and gr30×30) satisfy A=Aᵀ with all eigenvalues &gt; 0. CG is designed precisely for this class.</a:t>
            </a:r>
            <a:endParaRPr lang="en-US" sz="1000" dirty="0"/>
          </a:p>
        </p:txBody>
      </p:sp>
      <p:sp>
        <p:nvSpPr>
          <p:cNvPr id="11" name="Shape 9"/>
          <p:cNvSpPr/>
          <p:nvPr/>
        </p:nvSpPr>
        <p:spPr>
          <a:xfrm>
            <a:off x="3172968" y="1234440"/>
            <a:ext cx="2697480" cy="1572768"/>
          </a:xfrm>
          <a:prstGeom prst="roundRect">
            <a:avLst>
              <a:gd name="adj" fmla="val 3488"/>
            </a:avLst>
          </a:prstGeom>
          <a:solidFill>
            <a:srgbClr val="EBF0FA"/>
          </a:solidFill>
          <a:ln w="12700">
            <a:solidFill>
              <a:srgbClr val="003087"/>
            </a:solidFill>
            <a:prstDash val="solid"/>
          </a:ln>
        </p:spPr>
        <p:txBody>
          <a:bodyPr/>
          <a:lstStyle/>
          <a:p>
            <a:endParaRPr lang="en-NG"/>
          </a:p>
        </p:txBody>
      </p:sp>
      <p:sp>
        <p:nvSpPr>
          <p:cNvPr id="12" name="Text 10"/>
          <p:cNvSpPr/>
          <p:nvPr/>
        </p:nvSpPr>
        <p:spPr>
          <a:xfrm>
            <a:off x="3282696" y="1280160"/>
            <a:ext cx="502920" cy="530352"/>
          </a:xfrm>
          <a:prstGeom prst="rect">
            <a:avLst/>
          </a:prstGeom>
          <a:noFill/>
          <a:ln/>
        </p:spPr>
        <p:txBody>
          <a:bodyPr wrap="square" lIns="0" tIns="0" rIns="0" bIns="0" rtlCol="0" anchor="ctr"/>
          <a:lstStyle/>
          <a:p>
            <a:pPr marL="0" indent="0" algn="ctr">
              <a:buNone/>
            </a:pPr>
            <a:r>
              <a:rPr lang="en-US" sz="2600" b="1" dirty="0">
                <a:solidFill>
                  <a:srgbClr val="003087"/>
                </a:solidFill>
                <a:latin typeface="Cambria" pitchFamily="34" charset="0"/>
                <a:ea typeface="Cambria" pitchFamily="34" charset="-122"/>
                <a:cs typeface="Cambria" pitchFamily="34" charset="-120"/>
              </a:rPr>
              <a:t>02</a:t>
            </a:r>
            <a:endParaRPr lang="en-US" sz="2600" dirty="0"/>
          </a:p>
        </p:txBody>
      </p:sp>
      <p:sp>
        <p:nvSpPr>
          <p:cNvPr id="13" name="Text 11"/>
          <p:cNvSpPr/>
          <p:nvPr/>
        </p:nvSpPr>
        <p:spPr>
          <a:xfrm>
            <a:off x="3794760" y="1298448"/>
            <a:ext cx="1965960" cy="475488"/>
          </a:xfrm>
          <a:prstGeom prst="rect">
            <a:avLst/>
          </a:prstGeom>
          <a:noFill/>
          <a:ln/>
        </p:spPr>
        <p:txBody>
          <a:bodyPr wrap="square" lIns="63500" tIns="63500" rIns="63500" bIns="63500" rtlCol="0" anchor="t"/>
          <a:lstStyle/>
          <a:p>
            <a:pPr marL="0" indent="0" algn="l">
              <a:buNone/>
            </a:pPr>
            <a:r>
              <a:rPr lang="en-US" sz="1100" b="1" dirty="0">
                <a:solidFill>
                  <a:srgbClr val="003087"/>
                </a:solidFill>
                <a:latin typeface="Cambria" pitchFamily="34" charset="0"/>
                <a:ea typeface="Cambria" pitchFamily="34" charset="-122"/>
                <a:cs typeface="Cambria" pitchFamily="34" charset="-120"/>
              </a:rPr>
              <a:t>CG Is Theoretically Optimal for SPD</a:t>
            </a:r>
            <a:endParaRPr lang="en-US" sz="1100" dirty="0"/>
          </a:p>
        </p:txBody>
      </p:sp>
      <p:sp>
        <p:nvSpPr>
          <p:cNvPr id="14" name="Text 12"/>
          <p:cNvSpPr/>
          <p:nvPr/>
        </p:nvSpPr>
        <p:spPr>
          <a:xfrm>
            <a:off x="3282696" y="1810512"/>
            <a:ext cx="2487168" cy="932688"/>
          </a:xfrm>
          <a:prstGeom prst="rect">
            <a:avLst/>
          </a:prstGeom>
          <a:noFill/>
          <a:ln/>
        </p:spPr>
        <p:txBody>
          <a:bodyPr wrap="square" lIns="63500" tIns="63500" rIns="63500" bIns="63500" rtlCol="0" anchor="t"/>
          <a:lstStyle/>
          <a:p>
            <a:pPr marL="0" indent="0" algn="l">
              <a:buNone/>
            </a:pPr>
            <a:r>
              <a:rPr lang="en-US" sz="1000" dirty="0">
                <a:solidFill>
                  <a:srgbClr val="1A1A2E"/>
                </a:solidFill>
                <a:latin typeface="Arial" pitchFamily="34" charset="0"/>
                <a:ea typeface="Arial" pitchFamily="34" charset="-122"/>
                <a:cs typeface="Arial" pitchFamily="34" charset="-120"/>
              </a:rPr>
              <a:t>CG minimises ‖e_k‖_A over K_k(A,r₀) at every step. No Krylov method can do better on SPD systems with the same O(n) memory and 1 mat-vec per iteration. This is a theorem, not a claim.</a:t>
            </a:r>
            <a:endParaRPr lang="en-US" sz="1000" dirty="0"/>
          </a:p>
        </p:txBody>
      </p:sp>
      <p:sp>
        <p:nvSpPr>
          <p:cNvPr id="15" name="Shape 13"/>
          <p:cNvSpPr/>
          <p:nvPr/>
        </p:nvSpPr>
        <p:spPr>
          <a:xfrm>
            <a:off x="6025896" y="1234440"/>
            <a:ext cx="2697480" cy="1572768"/>
          </a:xfrm>
          <a:prstGeom prst="roundRect">
            <a:avLst>
              <a:gd name="adj" fmla="val 3488"/>
            </a:avLst>
          </a:prstGeom>
          <a:solidFill>
            <a:srgbClr val="EBF0FA"/>
          </a:solidFill>
          <a:ln w="12700">
            <a:solidFill>
              <a:srgbClr val="003087"/>
            </a:solidFill>
            <a:prstDash val="solid"/>
          </a:ln>
        </p:spPr>
        <p:txBody>
          <a:bodyPr/>
          <a:lstStyle/>
          <a:p>
            <a:endParaRPr lang="en-NG"/>
          </a:p>
        </p:txBody>
      </p:sp>
      <p:sp>
        <p:nvSpPr>
          <p:cNvPr id="16" name="Text 14"/>
          <p:cNvSpPr/>
          <p:nvPr/>
        </p:nvSpPr>
        <p:spPr>
          <a:xfrm>
            <a:off x="6135624" y="1280160"/>
            <a:ext cx="502920" cy="530352"/>
          </a:xfrm>
          <a:prstGeom prst="rect">
            <a:avLst/>
          </a:prstGeom>
          <a:noFill/>
          <a:ln/>
        </p:spPr>
        <p:txBody>
          <a:bodyPr wrap="square" lIns="0" tIns="0" rIns="0" bIns="0" rtlCol="0" anchor="ctr"/>
          <a:lstStyle/>
          <a:p>
            <a:pPr marL="0" indent="0" algn="ctr">
              <a:buNone/>
            </a:pPr>
            <a:r>
              <a:rPr lang="en-US" sz="2600" b="1" dirty="0">
                <a:solidFill>
                  <a:srgbClr val="003087"/>
                </a:solidFill>
                <a:latin typeface="Cambria" pitchFamily="34" charset="0"/>
                <a:ea typeface="Cambria" pitchFamily="34" charset="-122"/>
                <a:cs typeface="Cambria" pitchFamily="34" charset="-120"/>
              </a:rPr>
              <a:t>03</a:t>
            </a:r>
            <a:endParaRPr lang="en-US" sz="2600" dirty="0"/>
          </a:p>
        </p:txBody>
      </p:sp>
      <p:sp>
        <p:nvSpPr>
          <p:cNvPr id="17" name="Text 15"/>
          <p:cNvSpPr/>
          <p:nvPr/>
        </p:nvSpPr>
        <p:spPr>
          <a:xfrm>
            <a:off x="6647688" y="1298448"/>
            <a:ext cx="1965960" cy="475488"/>
          </a:xfrm>
          <a:prstGeom prst="rect">
            <a:avLst/>
          </a:prstGeom>
          <a:noFill/>
          <a:ln/>
        </p:spPr>
        <p:txBody>
          <a:bodyPr wrap="square" lIns="63500" tIns="63500" rIns="63500" bIns="63500" rtlCol="0" anchor="t"/>
          <a:lstStyle/>
          <a:p>
            <a:pPr marL="0" indent="0" algn="l">
              <a:buNone/>
            </a:pPr>
            <a:r>
              <a:rPr lang="en-US" sz="1100" b="1" dirty="0">
                <a:solidFill>
                  <a:srgbClr val="003087"/>
                </a:solidFill>
                <a:latin typeface="Cambria" pitchFamily="34" charset="0"/>
                <a:ea typeface="Cambria" pitchFamily="34" charset="-122"/>
                <a:cs typeface="Cambria" pitchFamily="34" charset="-120"/>
              </a:rPr>
              <a:t>PCG Is the Natural Extension of CG</a:t>
            </a:r>
            <a:endParaRPr lang="en-US" sz="1100" dirty="0"/>
          </a:p>
        </p:txBody>
      </p:sp>
      <p:sp>
        <p:nvSpPr>
          <p:cNvPr id="18" name="Text 16"/>
          <p:cNvSpPr/>
          <p:nvPr/>
        </p:nvSpPr>
        <p:spPr>
          <a:xfrm>
            <a:off x="6135624" y="1810512"/>
            <a:ext cx="2487168" cy="932688"/>
          </a:xfrm>
          <a:prstGeom prst="rect">
            <a:avLst/>
          </a:prstGeom>
          <a:noFill/>
          <a:ln/>
        </p:spPr>
        <p:txBody>
          <a:bodyPr wrap="square" lIns="63500" tIns="63500" rIns="63500" bIns="63500" rtlCol="0" anchor="t"/>
          <a:lstStyle/>
          <a:p>
            <a:pPr marL="0" indent="0" algn="l">
              <a:buNone/>
            </a:pPr>
            <a:r>
              <a:rPr lang="en-US" sz="1000" dirty="0">
                <a:solidFill>
                  <a:srgbClr val="1A1A2E"/>
                </a:solidFill>
                <a:latin typeface="Arial" pitchFamily="34" charset="0"/>
                <a:ea typeface="Arial" pitchFamily="34" charset="-122"/>
                <a:cs typeface="Arial" pitchFamily="34" charset="-120"/>
              </a:rPr>
              <a:t>PCG differs from CG by exactly one step per iteration: z_{k+1} = M⁻¹r_{k+1}. Implementing both reveals how preconditioning works and enables direct comparison of convergence.</a:t>
            </a:r>
            <a:endParaRPr lang="en-US" sz="1000" dirty="0"/>
          </a:p>
        </p:txBody>
      </p:sp>
      <p:sp>
        <p:nvSpPr>
          <p:cNvPr id="19" name="Shape 17"/>
          <p:cNvSpPr/>
          <p:nvPr/>
        </p:nvSpPr>
        <p:spPr>
          <a:xfrm>
            <a:off x="320040" y="2907792"/>
            <a:ext cx="4096512" cy="932688"/>
          </a:xfrm>
          <a:prstGeom prst="roundRect">
            <a:avLst>
              <a:gd name="adj" fmla="val 5882"/>
            </a:avLst>
          </a:prstGeom>
          <a:solidFill>
            <a:srgbClr val="FFF5F5"/>
          </a:solidFill>
          <a:ln w="12700">
            <a:solidFill>
              <a:srgbClr val="C8102E"/>
            </a:solidFill>
            <a:prstDash val="solid"/>
          </a:ln>
        </p:spPr>
        <p:txBody>
          <a:bodyPr/>
          <a:lstStyle/>
          <a:p>
            <a:endParaRPr lang="en-NG"/>
          </a:p>
        </p:txBody>
      </p:sp>
      <p:sp>
        <p:nvSpPr>
          <p:cNvPr id="20" name="Text 18"/>
          <p:cNvSpPr/>
          <p:nvPr/>
        </p:nvSpPr>
        <p:spPr>
          <a:xfrm>
            <a:off x="429768" y="2953512"/>
            <a:ext cx="3877056" cy="274320"/>
          </a:xfrm>
          <a:prstGeom prst="rect">
            <a:avLst/>
          </a:prstGeom>
          <a:noFill/>
          <a:ln/>
        </p:spPr>
        <p:txBody>
          <a:bodyPr wrap="square" lIns="63500" tIns="63500" rIns="63500" bIns="63500" rtlCol="0" anchor="t"/>
          <a:lstStyle/>
          <a:p>
            <a:pPr marL="0" indent="0" algn="l">
              <a:buNone/>
            </a:pPr>
            <a:r>
              <a:rPr lang="en-US" sz="1100" b="1" dirty="0">
                <a:solidFill>
                  <a:srgbClr val="C8102E"/>
                </a:solidFill>
                <a:latin typeface="Cambria" pitchFamily="34" charset="0"/>
                <a:ea typeface="Cambria" pitchFamily="34" charset="-122"/>
                <a:cs typeface="Cambria" pitchFamily="34" charset="-120"/>
              </a:rPr>
              <a:t>❌  Why Not Steepest Descent (Method 9)?</a:t>
            </a:r>
            <a:endParaRPr lang="en-US" sz="1100" dirty="0"/>
          </a:p>
        </p:txBody>
      </p:sp>
      <p:sp>
        <p:nvSpPr>
          <p:cNvPr id="21" name="Text 19"/>
          <p:cNvSpPr/>
          <p:nvPr/>
        </p:nvSpPr>
        <p:spPr>
          <a:xfrm>
            <a:off x="429768" y="3246120"/>
            <a:ext cx="3877056" cy="566928"/>
          </a:xfrm>
          <a:prstGeom prst="rect">
            <a:avLst/>
          </a:prstGeom>
          <a:noFill/>
          <a:ln/>
        </p:spPr>
        <p:txBody>
          <a:bodyPr wrap="square" lIns="63500" tIns="63500" rIns="63500" bIns="63500" rtlCol="0" anchor="t"/>
          <a:lstStyle/>
          <a:p>
            <a:pPr marL="0" indent="0" algn="l">
              <a:buNone/>
            </a:pPr>
            <a:r>
              <a:rPr lang="en-US" sz="1000" dirty="0">
                <a:solidFill>
                  <a:srgbClr val="8B0000"/>
                </a:solidFill>
                <a:latin typeface="Arial" pitchFamily="34" charset="0"/>
                <a:ea typeface="Arial" pitchFamily="34" charset="-122"/>
                <a:cs typeface="Arial" pitchFamily="34" charset="-120"/>
              </a:rPr>
              <a:t>No A-conjugacy → zigzag convergence path. Rate: ((k-1)/(k+1))^k, linear in κ. CG’s rate depends on √κ. CG strictly dominates for all κ &gt; 1.</a:t>
            </a:r>
            <a:endParaRPr lang="en-US" sz="1000" dirty="0"/>
          </a:p>
        </p:txBody>
      </p:sp>
      <p:sp>
        <p:nvSpPr>
          <p:cNvPr id="22" name="Shape 20"/>
          <p:cNvSpPr/>
          <p:nvPr/>
        </p:nvSpPr>
        <p:spPr>
          <a:xfrm>
            <a:off x="4727448" y="2907792"/>
            <a:ext cx="4096512" cy="932688"/>
          </a:xfrm>
          <a:prstGeom prst="roundRect">
            <a:avLst>
              <a:gd name="adj" fmla="val 5882"/>
            </a:avLst>
          </a:prstGeom>
          <a:solidFill>
            <a:srgbClr val="FFF5F5"/>
          </a:solidFill>
          <a:ln w="12700">
            <a:solidFill>
              <a:srgbClr val="C8102E"/>
            </a:solidFill>
            <a:prstDash val="solid"/>
          </a:ln>
        </p:spPr>
        <p:txBody>
          <a:bodyPr/>
          <a:lstStyle/>
          <a:p>
            <a:endParaRPr lang="en-NG"/>
          </a:p>
        </p:txBody>
      </p:sp>
      <p:sp>
        <p:nvSpPr>
          <p:cNvPr id="23" name="Text 21"/>
          <p:cNvSpPr/>
          <p:nvPr/>
        </p:nvSpPr>
        <p:spPr>
          <a:xfrm>
            <a:off x="4837176" y="2953512"/>
            <a:ext cx="3877056" cy="274320"/>
          </a:xfrm>
          <a:prstGeom prst="rect">
            <a:avLst/>
          </a:prstGeom>
          <a:noFill/>
          <a:ln/>
        </p:spPr>
        <p:txBody>
          <a:bodyPr wrap="square" lIns="63500" tIns="63500" rIns="63500" bIns="63500" rtlCol="0" anchor="t"/>
          <a:lstStyle/>
          <a:p>
            <a:pPr marL="0" indent="0" algn="l">
              <a:buNone/>
            </a:pPr>
            <a:r>
              <a:rPr lang="en-US" sz="1100" b="1" dirty="0">
                <a:solidFill>
                  <a:srgbClr val="C8102E"/>
                </a:solidFill>
                <a:latin typeface="Cambria" pitchFamily="34" charset="0"/>
                <a:ea typeface="Cambria" pitchFamily="34" charset="-122"/>
                <a:cs typeface="Cambria" pitchFamily="34" charset="-120"/>
              </a:rPr>
              <a:t>❌  Why Not GMRES (Method 15)?</a:t>
            </a:r>
            <a:endParaRPr lang="en-US" sz="1100" dirty="0"/>
          </a:p>
        </p:txBody>
      </p:sp>
      <p:sp>
        <p:nvSpPr>
          <p:cNvPr id="24" name="Text 22"/>
          <p:cNvSpPr/>
          <p:nvPr/>
        </p:nvSpPr>
        <p:spPr>
          <a:xfrm>
            <a:off x="4837176" y="3246120"/>
            <a:ext cx="3877056" cy="566928"/>
          </a:xfrm>
          <a:prstGeom prst="rect">
            <a:avLst/>
          </a:prstGeom>
          <a:noFill/>
          <a:ln/>
        </p:spPr>
        <p:txBody>
          <a:bodyPr wrap="square" lIns="63500" tIns="63500" rIns="63500" bIns="63500" rtlCol="0" anchor="t"/>
          <a:lstStyle/>
          <a:p>
            <a:pPr marL="0" indent="0" algn="l">
              <a:buNone/>
            </a:pPr>
            <a:r>
              <a:rPr lang="en-US" sz="1000" dirty="0">
                <a:solidFill>
                  <a:srgbClr val="8B0000"/>
                </a:solidFill>
                <a:latin typeface="Arial" pitchFamily="34" charset="0"/>
                <a:ea typeface="Arial" pitchFamily="34" charset="-122"/>
                <a:cs typeface="Arial" pitchFamily="34" charset="-120"/>
              </a:rPr>
              <a:t>Stores full Krylov basis: O(m·n) memory. For SPD systems GMRES reduces to CG mathematically. CG is GMRES specialised to the SPD case — cheaper, same convergence.</a:t>
            </a:r>
            <a:endParaRPr lang="en-US" sz="1000" dirty="0"/>
          </a:p>
        </p:txBody>
      </p:sp>
      <p:sp>
        <p:nvSpPr>
          <p:cNvPr id="25" name="Shape 23"/>
          <p:cNvSpPr/>
          <p:nvPr/>
        </p:nvSpPr>
        <p:spPr>
          <a:xfrm>
            <a:off x="320040" y="3931920"/>
            <a:ext cx="8503920" cy="566928"/>
          </a:xfrm>
          <a:prstGeom prst="roundRect">
            <a:avLst>
              <a:gd name="adj" fmla="val 9677"/>
            </a:avLst>
          </a:prstGeom>
          <a:solidFill>
            <a:srgbClr val="003087"/>
          </a:solidFill>
          <a:ln w="12700">
            <a:solidFill>
              <a:srgbClr val="003087"/>
            </a:solidFill>
            <a:prstDash val="solid"/>
          </a:ln>
        </p:spPr>
        <p:txBody>
          <a:bodyPr/>
          <a:lstStyle/>
          <a:p>
            <a:endParaRPr lang="en-NG"/>
          </a:p>
        </p:txBody>
      </p:sp>
      <p:sp>
        <p:nvSpPr>
          <p:cNvPr id="26" name="Text 24"/>
          <p:cNvSpPr/>
          <p:nvPr/>
        </p:nvSpPr>
        <p:spPr>
          <a:xfrm>
            <a:off x="457200" y="3968496"/>
            <a:ext cx="8229600" cy="493776"/>
          </a:xfrm>
          <a:prstGeom prst="rect">
            <a:avLst/>
          </a:prstGeom>
          <a:noFill/>
          <a:ln/>
        </p:spPr>
        <p:txBody>
          <a:bodyPr wrap="square" lIns="50800" tIns="50800" rIns="50800" bIns="50800" rtlCol="0" anchor="t"/>
          <a:lstStyle/>
          <a:p>
            <a:pPr marL="0" indent="0" algn="l">
              <a:buNone/>
            </a:pPr>
            <a:r>
              <a:rPr lang="en-US" sz="1100" dirty="0">
                <a:solidFill>
                  <a:srgbClr val="FFFFFF"/>
                </a:solidFill>
                <a:latin typeface="Arial" pitchFamily="34" charset="0"/>
                <a:ea typeface="Arial" pitchFamily="34" charset="-122"/>
                <a:cs typeface="Arial" pitchFamily="34" charset="-120"/>
              </a:rPr>
              <a:t>✅  Verdict: CG is the uniquely optimal, memory-efficient method for SPD systems. PCG extends it for ill-conditioned problems. Together they cover the full spectrum of sparse SPD systems from PDE discretisation.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3087"/>
          </a:solidFill>
          <a:ln w="12700">
            <a:solidFill>
              <a:srgbClr val="003087"/>
            </a:solidFill>
            <a:prstDash val="solid"/>
          </a:ln>
        </p:spPr>
        <p:txBody>
          <a:bodyPr/>
          <a:lstStyle/>
          <a:p>
            <a:endParaRPr lang="en-NG"/>
          </a:p>
        </p:txBody>
      </p:sp>
      <p:sp>
        <p:nvSpPr>
          <p:cNvPr id="3" name="Text 1"/>
          <p:cNvSpPr/>
          <p:nvPr/>
        </p:nvSpPr>
        <p:spPr>
          <a:xfrm>
            <a:off x="320040" y="54864"/>
            <a:ext cx="7589520" cy="530352"/>
          </a:xfrm>
          <a:prstGeom prst="rect">
            <a:avLst/>
          </a:prstGeom>
          <a:noFill/>
          <a:ln/>
        </p:spPr>
        <p:txBody>
          <a:bodyPr wrap="square" lIns="50800" tIns="50800" rIns="50800" bIns="50800" rtlCol="0" anchor="ctr"/>
          <a:lstStyle/>
          <a:p>
            <a:pPr marL="0" indent="0" algn="l">
              <a:buNone/>
            </a:pPr>
            <a:r>
              <a:rPr lang="en-US" sz="1900" b="1" dirty="0">
                <a:solidFill>
                  <a:srgbClr val="FFFFFF"/>
                </a:solidFill>
                <a:latin typeface="Cambria" pitchFamily="34" charset="0"/>
                <a:ea typeface="Cambria" pitchFamily="34" charset="-122"/>
                <a:cs typeface="Cambria" pitchFamily="34" charset="-120"/>
              </a:rPr>
              <a:t>6.  Theoretical Frame — Krylov Subspaces and Lanczos Orthogonalisation</a:t>
            </a:r>
            <a:endParaRPr lang="en-US" sz="1900" dirty="0"/>
          </a:p>
        </p:txBody>
      </p:sp>
      <p:sp>
        <p:nvSpPr>
          <p:cNvPr id="4" name="Text 2"/>
          <p:cNvSpPr/>
          <p:nvPr/>
        </p:nvSpPr>
        <p:spPr>
          <a:xfrm>
            <a:off x="8138160" y="54864"/>
            <a:ext cx="640080" cy="530352"/>
          </a:xfrm>
          <a:prstGeom prst="rect">
            <a:avLst/>
          </a:prstGeom>
          <a:noFill/>
          <a:ln/>
        </p:spPr>
        <p:txBody>
          <a:bodyPr wrap="square" lIns="25400" tIns="25400" rIns="25400" bIns="25400" rtlCol="0" anchor="ctr"/>
          <a:lstStyle/>
          <a:p>
            <a:pPr marL="0" indent="0" algn="r">
              <a:buNone/>
            </a:pPr>
            <a:r>
              <a:rPr lang="en-US" sz="1000" dirty="0">
                <a:solidFill>
                  <a:srgbClr val="AAC0E8"/>
                </a:solidFill>
                <a:latin typeface="Arial" pitchFamily="34" charset="0"/>
                <a:ea typeface="Arial" pitchFamily="34" charset="-122"/>
                <a:cs typeface="Arial" pitchFamily="34" charset="-120"/>
              </a:rPr>
              <a:t>6 / 20</a:t>
            </a:r>
            <a:endParaRPr lang="en-US" sz="1000" dirty="0"/>
          </a:p>
        </p:txBody>
      </p:sp>
      <p:sp>
        <p:nvSpPr>
          <p:cNvPr id="5" name="Shape 3"/>
          <p:cNvSpPr/>
          <p:nvPr/>
        </p:nvSpPr>
        <p:spPr>
          <a:xfrm>
            <a:off x="0" y="640080"/>
            <a:ext cx="9144000" cy="45720"/>
          </a:xfrm>
          <a:prstGeom prst="rect">
            <a:avLst/>
          </a:prstGeom>
          <a:solidFill>
            <a:srgbClr val="C8102E"/>
          </a:solidFill>
          <a:ln w="12700">
            <a:solidFill>
              <a:srgbClr val="C8102E"/>
            </a:solidFill>
            <a:prstDash val="solid"/>
          </a:ln>
        </p:spPr>
        <p:txBody>
          <a:bodyPr/>
          <a:lstStyle/>
          <a:p>
            <a:endParaRPr lang="en-NG"/>
          </a:p>
        </p:txBody>
      </p:sp>
      <p:sp>
        <p:nvSpPr>
          <p:cNvPr id="6" name="Shape 4"/>
          <p:cNvSpPr/>
          <p:nvPr/>
        </p:nvSpPr>
        <p:spPr>
          <a:xfrm>
            <a:off x="320040" y="749808"/>
            <a:ext cx="8503920" cy="1024128"/>
          </a:xfrm>
          <a:prstGeom prst="roundRect">
            <a:avLst>
              <a:gd name="adj" fmla="val 5357"/>
            </a:avLst>
          </a:prstGeom>
          <a:solidFill>
            <a:srgbClr val="EBF0FA"/>
          </a:solidFill>
          <a:ln w="15240">
            <a:solidFill>
              <a:srgbClr val="003087"/>
            </a:solidFill>
            <a:prstDash val="solid"/>
          </a:ln>
        </p:spPr>
        <p:txBody>
          <a:bodyPr/>
          <a:lstStyle/>
          <a:p>
            <a:endParaRPr lang="en-NG"/>
          </a:p>
        </p:txBody>
      </p:sp>
      <p:sp>
        <p:nvSpPr>
          <p:cNvPr id="7" name="Text 5"/>
          <p:cNvSpPr/>
          <p:nvPr/>
        </p:nvSpPr>
        <p:spPr>
          <a:xfrm>
            <a:off x="457200" y="804672"/>
            <a:ext cx="8229600" cy="274320"/>
          </a:xfrm>
          <a:prstGeom prst="rect">
            <a:avLst/>
          </a:prstGeom>
          <a:noFill/>
          <a:ln/>
        </p:spPr>
        <p:txBody>
          <a:bodyPr wrap="square" lIns="63500" tIns="63500" rIns="63500" bIns="63500" rtlCol="0" anchor="t"/>
          <a:lstStyle/>
          <a:p>
            <a:pPr marL="0" indent="0" algn="l">
              <a:buNone/>
            </a:pPr>
            <a:r>
              <a:rPr lang="en-US" sz="1200" b="1" dirty="0">
                <a:solidFill>
                  <a:srgbClr val="003087"/>
                </a:solidFill>
                <a:latin typeface="Cambria" pitchFamily="34" charset="0"/>
                <a:ea typeface="Cambria" pitchFamily="34" charset="-122"/>
                <a:cs typeface="Cambria" pitchFamily="34" charset="-120"/>
              </a:rPr>
              <a:t>Definition — The Krylov Subspace:</a:t>
            </a:r>
            <a:endParaRPr lang="en-US" sz="1200" dirty="0"/>
          </a:p>
        </p:txBody>
      </p:sp>
      <p:sp>
        <p:nvSpPr>
          <p:cNvPr id="8" name="Text 6"/>
          <p:cNvSpPr/>
          <p:nvPr/>
        </p:nvSpPr>
        <p:spPr>
          <a:xfrm>
            <a:off x="457200" y="1097280"/>
            <a:ext cx="8229600" cy="320040"/>
          </a:xfrm>
          <a:prstGeom prst="rect">
            <a:avLst/>
          </a:prstGeom>
          <a:noFill/>
          <a:ln/>
        </p:spPr>
        <p:txBody>
          <a:bodyPr wrap="square" lIns="0" tIns="0" rIns="0" bIns="0" rtlCol="0" anchor="ctr"/>
          <a:lstStyle/>
          <a:p>
            <a:pPr marL="0" indent="0" algn="ctr">
              <a:buNone/>
            </a:pPr>
            <a:r>
              <a:rPr lang="en-US" sz="1500" dirty="0">
                <a:solidFill>
                  <a:srgbClr val="1A1A2E"/>
                </a:solidFill>
                <a:latin typeface="Courier New" pitchFamily="34" charset="0"/>
                <a:ea typeface="Courier New" pitchFamily="34" charset="-122"/>
                <a:cs typeface="Courier New" pitchFamily="34" charset="-120"/>
              </a:rPr>
              <a:t>Kₖ(A, r₀)  =  span{ r₀,  Ar₀,  A²r₀,  …,  A^(k-1)r₀ }</a:t>
            </a:r>
            <a:endParaRPr lang="en-US" sz="1500" dirty="0"/>
          </a:p>
        </p:txBody>
      </p:sp>
      <p:sp>
        <p:nvSpPr>
          <p:cNvPr id="9" name="Text 7"/>
          <p:cNvSpPr/>
          <p:nvPr/>
        </p:nvSpPr>
        <p:spPr>
          <a:xfrm>
            <a:off x="457200" y="1435608"/>
            <a:ext cx="8229600" cy="274320"/>
          </a:xfrm>
          <a:prstGeom prst="rect">
            <a:avLst/>
          </a:prstGeom>
          <a:noFill/>
          <a:ln/>
        </p:spPr>
        <p:txBody>
          <a:bodyPr wrap="square" lIns="63500" tIns="63500" rIns="63500" bIns="63500" rtlCol="0" anchor="t"/>
          <a:lstStyle/>
          <a:p>
            <a:pPr marL="0" indent="0" algn="l">
              <a:buNone/>
            </a:pPr>
            <a:r>
              <a:rPr lang="en-US" sz="1050" dirty="0">
                <a:solidFill>
                  <a:srgbClr val="1A1A2E"/>
                </a:solidFill>
                <a:latin typeface="Arial" pitchFamily="34" charset="0"/>
                <a:ea typeface="Arial" pitchFamily="34" charset="-122"/>
                <a:cs typeface="Arial" pitchFamily="34" charset="-120"/>
              </a:rPr>
              <a:t>Built by repeated multiplication by A — one matrix-vector product per dimension, costing O(nnz). CG searches for xₖ in x₀ + Kₖ(A,r₀).</a:t>
            </a:r>
            <a:endParaRPr lang="en-US" sz="1050" dirty="0"/>
          </a:p>
        </p:txBody>
      </p:sp>
      <p:sp>
        <p:nvSpPr>
          <p:cNvPr id="10" name="Shape 8"/>
          <p:cNvSpPr/>
          <p:nvPr/>
        </p:nvSpPr>
        <p:spPr>
          <a:xfrm>
            <a:off x="320040" y="1901952"/>
            <a:ext cx="4096512" cy="1847088"/>
          </a:xfrm>
          <a:prstGeom prst="roundRect">
            <a:avLst>
              <a:gd name="adj" fmla="val 2970"/>
            </a:avLst>
          </a:prstGeom>
          <a:solidFill>
            <a:srgbClr val="F4F6FA"/>
          </a:solidFill>
          <a:ln w="12700">
            <a:solidFill>
              <a:srgbClr val="DDE3EF"/>
            </a:solidFill>
            <a:prstDash val="solid"/>
          </a:ln>
        </p:spPr>
        <p:txBody>
          <a:bodyPr/>
          <a:lstStyle/>
          <a:p>
            <a:endParaRPr lang="en-NG"/>
          </a:p>
        </p:txBody>
      </p:sp>
      <p:sp>
        <p:nvSpPr>
          <p:cNvPr id="11" name="Text 9"/>
          <p:cNvSpPr/>
          <p:nvPr/>
        </p:nvSpPr>
        <p:spPr>
          <a:xfrm>
            <a:off x="429768" y="1947672"/>
            <a:ext cx="3877056" cy="274320"/>
          </a:xfrm>
          <a:prstGeom prst="rect">
            <a:avLst/>
          </a:prstGeom>
          <a:noFill/>
          <a:ln/>
        </p:spPr>
        <p:txBody>
          <a:bodyPr wrap="square" lIns="63500" tIns="63500" rIns="63500" bIns="63500" rtlCol="0" anchor="t"/>
          <a:lstStyle/>
          <a:p>
            <a:pPr marL="0" indent="0" algn="l">
              <a:buNone/>
            </a:pPr>
            <a:r>
              <a:rPr lang="en-US" sz="1150" b="1" dirty="0">
                <a:solidFill>
                  <a:srgbClr val="003087"/>
                </a:solidFill>
                <a:latin typeface="Cambria" pitchFamily="34" charset="0"/>
                <a:ea typeface="Cambria" pitchFamily="34" charset="-122"/>
                <a:cs typeface="Cambria" pitchFamily="34" charset="-120"/>
              </a:rPr>
              <a:t>Why Krylov Methods Work</a:t>
            </a:r>
            <a:endParaRPr lang="en-US" sz="1150" dirty="0"/>
          </a:p>
        </p:txBody>
      </p:sp>
      <p:sp>
        <p:nvSpPr>
          <p:cNvPr id="12" name="Text 10"/>
          <p:cNvSpPr/>
          <p:nvPr/>
        </p:nvSpPr>
        <p:spPr>
          <a:xfrm>
            <a:off x="484632" y="2267712"/>
            <a:ext cx="3749040" cy="347472"/>
          </a:xfrm>
          <a:prstGeom prst="rect">
            <a:avLst/>
          </a:prstGeom>
          <a:noFill/>
          <a:ln/>
        </p:spPr>
        <p:txBody>
          <a:bodyPr wrap="square" lIns="25400" tIns="25400" rIns="25400" bIns="25400" rtlCol="0" anchor="ctr"/>
          <a:lstStyle/>
          <a:p>
            <a:pPr marL="0" indent="0" algn="l">
              <a:buNone/>
            </a:pPr>
            <a:r>
              <a:rPr lang="en-US" sz="1050" dirty="0">
                <a:solidFill>
                  <a:srgbClr val="1A1A2E"/>
                </a:solidFill>
                <a:latin typeface="Arial" pitchFamily="34" charset="0"/>
                <a:ea typeface="Arial" pitchFamily="34" charset="-122"/>
                <a:cs typeface="Arial" pitchFamily="34" charset="-120"/>
              </a:rPr>
              <a:t>▸  Each multiplication Av reveals more structure of A</a:t>
            </a:r>
            <a:endParaRPr lang="en-US" sz="1050" dirty="0"/>
          </a:p>
        </p:txBody>
      </p:sp>
      <p:sp>
        <p:nvSpPr>
          <p:cNvPr id="13" name="Text 11"/>
          <p:cNvSpPr/>
          <p:nvPr/>
        </p:nvSpPr>
        <p:spPr>
          <a:xfrm>
            <a:off x="484632" y="2615184"/>
            <a:ext cx="3749040" cy="347472"/>
          </a:xfrm>
          <a:prstGeom prst="rect">
            <a:avLst/>
          </a:prstGeom>
          <a:noFill/>
          <a:ln/>
        </p:spPr>
        <p:txBody>
          <a:bodyPr wrap="square" lIns="25400" tIns="25400" rIns="25400" bIns="25400" rtlCol="0" anchor="ctr"/>
          <a:lstStyle/>
          <a:p>
            <a:pPr marL="0" indent="0" algn="l">
              <a:buNone/>
            </a:pPr>
            <a:r>
              <a:rPr lang="en-US" sz="1050" dirty="0">
                <a:solidFill>
                  <a:srgbClr val="1A1A2E"/>
                </a:solidFill>
                <a:latin typeface="Arial" pitchFamily="34" charset="0"/>
                <a:ea typeface="Arial" pitchFamily="34" charset="-122"/>
                <a:cs typeface="Arial" pitchFamily="34" charset="-120"/>
              </a:rPr>
              <a:t>▸  After k steps, Kₖ contains rich spectral information</a:t>
            </a:r>
            <a:endParaRPr lang="en-US" sz="1050" dirty="0"/>
          </a:p>
        </p:txBody>
      </p:sp>
      <p:sp>
        <p:nvSpPr>
          <p:cNvPr id="14" name="Text 12"/>
          <p:cNvSpPr/>
          <p:nvPr/>
        </p:nvSpPr>
        <p:spPr>
          <a:xfrm>
            <a:off x="484632" y="2962656"/>
            <a:ext cx="3749040" cy="347472"/>
          </a:xfrm>
          <a:prstGeom prst="rect">
            <a:avLst/>
          </a:prstGeom>
          <a:noFill/>
          <a:ln/>
        </p:spPr>
        <p:txBody>
          <a:bodyPr wrap="square" lIns="25400" tIns="25400" rIns="25400" bIns="25400" rtlCol="0" anchor="ctr"/>
          <a:lstStyle/>
          <a:p>
            <a:pPr marL="0" indent="0" algn="l">
              <a:buNone/>
            </a:pPr>
            <a:r>
              <a:rPr lang="en-US" sz="1050" dirty="0">
                <a:solidFill>
                  <a:srgbClr val="1A1A2E"/>
                </a:solidFill>
                <a:latin typeface="Arial" pitchFamily="34" charset="0"/>
                <a:ea typeface="Arial" pitchFamily="34" charset="-122"/>
                <a:cs typeface="Arial" pitchFamily="34" charset="-120"/>
              </a:rPr>
              <a:t>▸  CG extracts the best approximation from Kₖ</a:t>
            </a:r>
            <a:endParaRPr lang="en-US" sz="1050" dirty="0"/>
          </a:p>
        </p:txBody>
      </p:sp>
      <p:sp>
        <p:nvSpPr>
          <p:cNvPr id="15" name="Text 13"/>
          <p:cNvSpPr/>
          <p:nvPr/>
        </p:nvSpPr>
        <p:spPr>
          <a:xfrm>
            <a:off x="484632" y="3310128"/>
            <a:ext cx="3749040" cy="347472"/>
          </a:xfrm>
          <a:prstGeom prst="rect">
            <a:avLst/>
          </a:prstGeom>
          <a:noFill/>
          <a:ln/>
        </p:spPr>
        <p:txBody>
          <a:bodyPr wrap="square" lIns="25400" tIns="25400" rIns="25400" bIns="25400" rtlCol="0" anchor="ctr"/>
          <a:lstStyle/>
          <a:p>
            <a:pPr marL="0" indent="0" algn="l">
              <a:buNone/>
            </a:pPr>
            <a:r>
              <a:rPr lang="en-US" sz="1050" dirty="0">
                <a:solidFill>
                  <a:srgbClr val="1A1A2E"/>
                </a:solidFill>
                <a:latin typeface="Arial" pitchFamily="34" charset="0"/>
                <a:ea typeface="Arial" pitchFamily="34" charset="-122"/>
                <a:cs typeface="Arial" pitchFamily="34" charset="-120"/>
              </a:rPr>
              <a:t>▸  No basis needs to be stored explicitly</a:t>
            </a:r>
            <a:endParaRPr lang="en-US" sz="1050" dirty="0"/>
          </a:p>
        </p:txBody>
      </p:sp>
      <p:sp>
        <p:nvSpPr>
          <p:cNvPr id="16" name="Shape 14"/>
          <p:cNvSpPr/>
          <p:nvPr/>
        </p:nvSpPr>
        <p:spPr>
          <a:xfrm>
            <a:off x="4727448" y="1901952"/>
            <a:ext cx="4096512" cy="1847088"/>
          </a:xfrm>
          <a:prstGeom prst="roundRect">
            <a:avLst>
              <a:gd name="adj" fmla="val 2970"/>
            </a:avLst>
          </a:prstGeom>
          <a:solidFill>
            <a:srgbClr val="EBF0FA"/>
          </a:solidFill>
          <a:ln w="12700">
            <a:solidFill>
              <a:srgbClr val="003087"/>
            </a:solidFill>
            <a:prstDash val="solid"/>
          </a:ln>
        </p:spPr>
        <p:txBody>
          <a:bodyPr/>
          <a:lstStyle/>
          <a:p>
            <a:endParaRPr lang="en-NG"/>
          </a:p>
        </p:txBody>
      </p:sp>
      <p:sp>
        <p:nvSpPr>
          <p:cNvPr id="17" name="Text 15"/>
          <p:cNvSpPr/>
          <p:nvPr/>
        </p:nvSpPr>
        <p:spPr>
          <a:xfrm>
            <a:off x="4837176" y="1947672"/>
            <a:ext cx="3877056" cy="274320"/>
          </a:xfrm>
          <a:prstGeom prst="rect">
            <a:avLst/>
          </a:prstGeom>
          <a:noFill/>
          <a:ln/>
        </p:spPr>
        <p:txBody>
          <a:bodyPr wrap="square" lIns="63500" tIns="63500" rIns="63500" bIns="63500" rtlCol="0" anchor="t"/>
          <a:lstStyle/>
          <a:p>
            <a:pPr marL="0" indent="0" algn="l">
              <a:buNone/>
            </a:pPr>
            <a:r>
              <a:rPr lang="en-US" sz="1150" b="1" dirty="0">
                <a:solidFill>
                  <a:srgbClr val="003087"/>
                </a:solidFill>
                <a:latin typeface="Cambria" pitchFamily="34" charset="0"/>
                <a:ea typeface="Cambria" pitchFamily="34" charset="-122"/>
                <a:cs typeface="Cambria" pitchFamily="34" charset="-120"/>
              </a:rPr>
              <a:t>Lanczos ⇒ CG (for symmetric A)</a:t>
            </a:r>
            <a:endParaRPr lang="en-US" sz="1150" dirty="0"/>
          </a:p>
        </p:txBody>
      </p:sp>
      <p:sp>
        <p:nvSpPr>
          <p:cNvPr id="18" name="Text 16"/>
          <p:cNvSpPr/>
          <p:nvPr/>
        </p:nvSpPr>
        <p:spPr>
          <a:xfrm>
            <a:off x="4855464" y="2267712"/>
            <a:ext cx="3767328" cy="347472"/>
          </a:xfrm>
          <a:prstGeom prst="rect">
            <a:avLst/>
          </a:prstGeom>
          <a:noFill/>
          <a:ln/>
        </p:spPr>
        <p:txBody>
          <a:bodyPr wrap="square" lIns="25400" tIns="25400" rIns="25400" bIns="25400" rtlCol="0" anchor="ctr"/>
          <a:lstStyle/>
          <a:p>
            <a:pPr marL="0" indent="0" algn="l">
              <a:buNone/>
            </a:pPr>
            <a:r>
              <a:rPr lang="en-US" sz="1050" dirty="0">
                <a:solidFill>
                  <a:srgbClr val="1A1A2E"/>
                </a:solidFill>
                <a:latin typeface="Arial" pitchFamily="34" charset="0"/>
                <a:ea typeface="Arial" pitchFamily="34" charset="-122"/>
                <a:cs typeface="Arial" pitchFamily="34" charset="-120"/>
              </a:rPr>
              <a:t>▸  Arnoldi on symmetric A ⇒ tridiagonal T_m</a:t>
            </a:r>
            <a:endParaRPr lang="en-US" sz="1050" dirty="0"/>
          </a:p>
        </p:txBody>
      </p:sp>
      <p:sp>
        <p:nvSpPr>
          <p:cNvPr id="19" name="Text 17"/>
          <p:cNvSpPr/>
          <p:nvPr/>
        </p:nvSpPr>
        <p:spPr>
          <a:xfrm>
            <a:off x="4855464" y="2615184"/>
            <a:ext cx="3767328" cy="347472"/>
          </a:xfrm>
          <a:prstGeom prst="rect">
            <a:avLst/>
          </a:prstGeom>
          <a:noFill/>
          <a:ln/>
        </p:spPr>
        <p:txBody>
          <a:bodyPr wrap="square" lIns="25400" tIns="25400" rIns="25400" bIns="25400" rtlCol="0" anchor="ctr"/>
          <a:lstStyle/>
          <a:p>
            <a:pPr marL="0" indent="0" algn="l">
              <a:buNone/>
            </a:pPr>
            <a:r>
              <a:rPr lang="en-US" sz="1050" dirty="0">
                <a:solidFill>
                  <a:srgbClr val="1A1A2E"/>
                </a:solidFill>
                <a:latin typeface="Arial" pitchFamily="34" charset="0"/>
                <a:ea typeface="Arial" pitchFamily="34" charset="-122"/>
                <a:cs typeface="Arial" pitchFamily="34" charset="-120"/>
              </a:rPr>
              <a:t>▸  Tridiagonal structure ⇒ 3-term recurrences</a:t>
            </a:r>
            <a:endParaRPr lang="en-US" sz="1050" dirty="0"/>
          </a:p>
        </p:txBody>
      </p:sp>
      <p:sp>
        <p:nvSpPr>
          <p:cNvPr id="20" name="Text 18"/>
          <p:cNvSpPr/>
          <p:nvPr/>
        </p:nvSpPr>
        <p:spPr>
          <a:xfrm>
            <a:off x="4855464" y="2962656"/>
            <a:ext cx="3767328" cy="347472"/>
          </a:xfrm>
          <a:prstGeom prst="rect">
            <a:avLst/>
          </a:prstGeom>
          <a:noFill/>
          <a:ln/>
        </p:spPr>
        <p:txBody>
          <a:bodyPr wrap="square" lIns="25400" tIns="25400" rIns="25400" bIns="25400" rtlCol="0" anchor="ctr"/>
          <a:lstStyle/>
          <a:p>
            <a:pPr marL="0" indent="0" algn="l">
              <a:buNone/>
            </a:pPr>
            <a:r>
              <a:rPr lang="en-US" sz="1050" dirty="0">
                <a:solidFill>
                  <a:srgbClr val="1A1A2E"/>
                </a:solidFill>
                <a:latin typeface="Arial" pitchFamily="34" charset="0"/>
                <a:ea typeface="Arial" pitchFamily="34" charset="-122"/>
                <a:cs typeface="Arial" pitchFamily="34" charset="-120"/>
              </a:rPr>
              <a:t>▸  Only store last 2 vectors, not the full basis</a:t>
            </a:r>
            <a:endParaRPr lang="en-US" sz="1050" dirty="0"/>
          </a:p>
        </p:txBody>
      </p:sp>
      <p:sp>
        <p:nvSpPr>
          <p:cNvPr id="21" name="Text 19"/>
          <p:cNvSpPr/>
          <p:nvPr/>
        </p:nvSpPr>
        <p:spPr>
          <a:xfrm>
            <a:off x="4855464" y="3310128"/>
            <a:ext cx="3767328" cy="347472"/>
          </a:xfrm>
          <a:prstGeom prst="rect">
            <a:avLst/>
          </a:prstGeom>
          <a:noFill/>
          <a:ln/>
        </p:spPr>
        <p:txBody>
          <a:bodyPr wrap="square" lIns="25400" tIns="25400" rIns="25400" bIns="25400" rtlCol="0" anchor="ctr"/>
          <a:lstStyle/>
          <a:p>
            <a:pPr marL="0" indent="0" algn="l">
              <a:buNone/>
            </a:pPr>
            <a:r>
              <a:rPr lang="en-US" sz="1050" dirty="0">
                <a:solidFill>
                  <a:srgbClr val="1A1A2E"/>
                </a:solidFill>
                <a:latin typeface="Arial" pitchFamily="34" charset="0"/>
                <a:ea typeface="Arial" pitchFamily="34" charset="-122"/>
                <a:cs typeface="Arial" pitchFamily="34" charset="-120"/>
              </a:rPr>
              <a:t>▸  GMRES stores O(m·n); CG stores O(n) only</a:t>
            </a:r>
            <a:endParaRPr lang="en-US" sz="1050" dirty="0"/>
          </a:p>
        </p:txBody>
      </p:sp>
      <p:sp>
        <p:nvSpPr>
          <p:cNvPr id="22" name="Shape 20"/>
          <p:cNvSpPr/>
          <p:nvPr/>
        </p:nvSpPr>
        <p:spPr>
          <a:xfrm>
            <a:off x="320040" y="3840480"/>
            <a:ext cx="2697480" cy="929824"/>
          </a:xfrm>
          <a:prstGeom prst="roundRect">
            <a:avLst>
              <a:gd name="adj" fmla="val 8333"/>
            </a:avLst>
          </a:prstGeom>
          <a:solidFill>
            <a:srgbClr val="FFFFFF"/>
          </a:solidFill>
          <a:ln w="12700">
            <a:solidFill>
              <a:srgbClr val="DDE3EF"/>
            </a:solidFill>
            <a:prstDash val="solid"/>
          </a:ln>
        </p:spPr>
        <p:txBody>
          <a:bodyPr/>
          <a:lstStyle/>
          <a:p>
            <a:endParaRPr lang="en-NG"/>
          </a:p>
        </p:txBody>
      </p:sp>
      <p:sp>
        <p:nvSpPr>
          <p:cNvPr id="23" name="Text 21"/>
          <p:cNvSpPr/>
          <p:nvPr/>
        </p:nvSpPr>
        <p:spPr>
          <a:xfrm>
            <a:off x="429768" y="3877056"/>
            <a:ext cx="2487168" cy="256032"/>
          </a:xfrm>
          <a:prstGeom prst="rect">
            <a:avLst/>
          </a:prstGeom>
          <a:noFill/>
          <a:ln/>
        </p:spPr>
        <p:txBody>
          <a:bodyPr wrap="square" lIns="63500" tIns="63500" rIns="63500" bIns="63500" rtlCol="0" anchor="t"/>
          <a:lstStyle/>
          <a:p>
            <a:pPr marL="0" indent="0" algn="l">
              <a:buNone/>
            </a:pPr>
            <a:r>
              <a:rPr lang="en-US" sz="1100" b="1" dirty="0">
                <a:solidFill>
                  <a:srgbClr val="003087"/>
                </a:solidFill>
                <a:latin typeface="Cambria" pitchFamily="34" charset="0"/>
                <a:ea typeface="Cambria" pitchFamily="34" charset="-122"/>
                <a:cs typeface="Cambria" pitchFamily="34" charset="-120"/>
              </a:rPr>
              <a:t>Optimal</a:t>
            </a:r>
            <a:endParaRPr lang="en-US" sz="1100" dirty="0"/>
          </a:p>
        </p:txBody>
      </p:sp>
      <p:sp>
        <p:nvSpPr>
          <p:cNvPr id="24" name="Text 22"/>
          <p:cNvSpPr/>
          <p:nvPr/>
        </p:nvSpPr>
        <p:spPr>
          <a:xfrm>
            <a:off x="429768" y="4142232"/>
            <a:ext cx="2487168" cy="329184"/>
          </a:xfrm>
          <a:prstGeom prst="rect">
            <a:avLst/>
          </a:prstGeom>
          <a:noFill/>
          <a:ln/>
        </p:spPr>
        <p:txBody>
          <a:bodyPr wrap="square" lIns="63500" tIns="63500" rIns="63500" bIns="63500" rtlCol="0" anchor="t"/>
          <a:lstStyle/>
          <a:p>
            <a:pPr marL="0" indent="0" algn="l">
              <a:buNone/>
            </a:pPr>
            <a:r>
              <a:rPr lang="en-US" sz="950" dirty="0">
                <a:solidFill>
                  <a:srgbClr val="1A1A2E"/>
                </a:solidFill>
                <a:latin typeface="Arial" pitchFamily="34" charset="0"/>
                <a:ea typeface="Arial" pitchFamily="34" charset="-122"/>
                <a:cs typeface="Arial" pitchFamily="34" charset="-120"/>
              </a:rPr>
              <a:t>CG minimises ‖e_k‖_A over Kₖ. No other method extracts a better approximation from the same subspace.</a:t>
            </a:r>
            <a:endParaRPr lang="en-US" sz="950" dirty="0"/>
          </a:p>
        </p:txBody>
      </p:sp>
      <p:sp>
        <p:nvSpPr>
          <p:cNvPr id="25" name="Shape 23"/>
          <p:cNvSpPr/>
          <p:nvPr/>
        </p:nvSpPr>
        <p:spPr>
          <a:xfrm>
            <a:off x="3172968" y="3840479"/>
            <a:ext cx="2697480" cy="929823"/>
          </a:xfrm>
          <a:prstGeom prst="roundRect">
            <a:avLst>
              <a:gd name="adj" fmla="val 8333"/>
            </a:avLst>
          </a:prstGeom>
          <a:solidFill>
            <a:srgbClr val="FFFFFF"/>
          </a:solidFill>
          <a:ln w="12700">
            <a:solidFill>
              <a:srgbClr val="DDE3EF"/>
            </a:solidFill>
            <a:prstDash val="solid"/>
          </a:ln>
        </p:spPr>
        <p:txBody>
          <a:bodyPr/>
          <a:lstStyle/>
          <a:p>
            <a:endParaRPr lang="en-NG"/>
          </a:p>
        </p:txBody>
      </p:sp>
      <p:sp>
        <p:nvSpPr>
          <p:cNvPr id="26" name="Text 24"/>
          <p:cNvSpPr/>
          <p:nvPr/>
        </p:nvSpPr>
        <p:spPr>
          <a:xfrm>
            <a:off x="3282696" y="3877056"/>
            <a:ext cx="2487168" cy="256032"/>
          </a:xfrm>
          <a:prstGeom prst="rect">
            <a:avLst/>
          </a:prstGeom>
          <a:noFill/>
          <a:ln/>
        </p:spPr>
        <p:txBody>
          <a:bodyPr wrap="square" lIns="63500" tIns="63500" rIns="63500" bIns="63500" rtlCol="0" anchor="t"/>
          <a:lstStyle/>
          <a:p>
            <a:pPr marL="0" indent="0" algn="l">
              <a:buNone/>
            </a:pPr>
            <a:r>
              <a:rPr lang="en-US" sz="1100" b="1" dirty="0">
                <a:solidFill>
                  <a:srgbClr val="1B6B3A"/>
                </a:solidFill>
                <a:latin typeface="Cambria" pitchFamily="34" charset="0"/>
                <a:ea typeface="Cambria" pitchFamily="34" charset="-122"/>
                <a:cs typeface="Cambria" pitchFamily="34" charset="-120"/>
              </a:rPr>
              <a:t>Efficient</a:t>
            </a:r>
            <a:endParaRPr lang="en-US" sz="1100" dirty="0"/>
          </a:p>
        </p:txBody>
      </p:sp>
      <p:sp>
        <p:nvSpPr>
          <p:cNvPr id="27" name="Text 25"/>
          <p:cNvSpPr/>
          <p:nvPr/>
        </p:nvSpPr>
        <p:spPr>
          <a:xfrm>
            <a:off x="3282696" y="4142232"/>
            <a:ext cx="2487168" cy="329184"/>
          </a:xfrm>
          <a:prstGeom prst="rect">
            <a:avLst/>
          </a:prstGeom>
          <a:noFill/>
          <a:ln/>
        </p:spPr>
        <p:txBody>
          <a:bodyPr wrap="square" lIns="63500" tIns="63500" rIns="63500" bIns="63500" rtlCol="0" anchor="t"/>
          <a:lstStyle/>
          <a:p>
            <a:pPr marL="0" indent="0" algn="l">
              <a:buNone/>
            </a:pPr>
            <a:r>
              <a:rPr lang="en-US" sz="950" dirty="0">
                <a:solidFill>
                  <a:srgbClr val="1A1A2E"/>
                </a:solidFill>
                <a:latin typeface="Arial" pitchFamily="34" charset="0"/>
                <a:ea typeface="Arial" pitchFamily="34" charset="-122"/>
                <a:cs typeface="Arial" pitchFamily="34" charset="-120"/>
              </a:rPr>
              <a:t>O(n) memory per iteration. Only 1 mat-vec. Lanczos 3-term recurrence replaces storing the full basis.</a:t>
            </a:r>
            <a:endParaRPr lang="en-US" sz="950" dirty="0"/>
          </a:p>
        </p:txBody>
      </p:sp>
      <p:sp>
        <p:nvSpPr>
          <p:cNvPr id="28" name="Shape 26"/>
          <p:cNvSpPr/>
          <p:nvPr/>
        </p:nvSpPr>
        <p:spPr>
          <a:xfrm>
            <a:off x="6025896" y="3840480"/>
            <a:ext cx="2697480" cy="929822"/>
          </a:xfrm>
          <a:prstGeom prst="roundRect">
            <a:avLst>
              <a:gd name="adj" fmla="val 8333"/>
            </a:avLst>
          </a:prstGeom>
          <a:solidFill>
            <a:srgbClr val="FFFFFF"/>
          </a:solidFill>
          <a:ln w="12700">
            <a:solidFill>
              <a:srgbClr val="DDE3EF"/>
            </a:solidFill>
            <a:prstDash val="solid"/>
          </a:ln>
        </p:spPr>
        <p:txBody>
          <a:bodyPr/>
          <a:lstStyle/>
          <a:p>
            <a:endParaRPr lang="en-NG"/>
          </a:p>
        </p:txBody>
      </p:sp>
      <p:sp>
        <p:nvSpPr>
          <p:cNvPr id="29" name="Text 27"/>
          <p:cNvSpPr/>
          <p:nvPr/>
        </p:nvSpPr>
        <p:spPr>
          <a:xfrm>
            <a:off x="6135624" y="3877056"/>
            <a:ext cx="2487168" cy="256032"/>
          </a:xfrm>
          <a:prstGeom prst="rect">
            <a:avLst/>
          </a:prstGeom>
          <a:noFill/>
          <a:ln/>
        </p:spPr>
        <p:txBody>
          <a:bodyPr wrap="square" lIns="63500" tIns="63500" rIns="63500" bIns="63500" rtlCol="0" anchor="t"/>
          <a:lstStyle/>
          <a:p>
            <a:pPr marL="0" indent="0" algn="l">
              <a:buNone/>
            </a:pPr>
            <a:r>
              <a:rPr lang="en-US" sz="1100" b="1" dirty="0">
                <a:solidFill>
                  <a:srgbClr val="C8102E"/>
                </a:solidFill>
                <a:latin typeface="Cambria" pitchFamily="34" charset="0"/>
                <a:ea typeface="Cambria" pitchFamily="34" charset="-122"/>
                <a:cs typeface="Cambria" pitchFamily="34" charset="-120"/>
              </a:rPr>
              <a:t>SPD Only</a:t>
            </a:r>
            <a:endParaRPr lang="en-US" sz="1100" dirty="0"/>
          </a:p>
        </p:txBody>
      </p:sp>
      <p:sp>
        <p:nvSpPr>
          <p:cNvPr id="30" name="Text 28"/>
          <p:cNvSpPr/>
          <p:nvPr/>
        </p:nvSpPr>
        <p:spPr>
          <a:xfrm>
            <a:off x="6135624" y="4142232"/>
            <a:ext cx="2487168" cy="329184"/>
          </a:xfrm>
          <a:prstGeom prst="rect">
            <a:avLst/>
          </a:prstGeom>
          <a:noFill/>
          <a:ln/>
        </p:spPr>
        <p:txBody>
          <a:bodyPr wrap="square" lIns="63500" tIns="63500" rIns="63500" bIns="63500" rtlCol="0" anchor="t"/>
          <a:lstStyle/>
          <a:p>
            <a:pPr marL="0" indent="0" algn="l">
              <a:buNone/>
            </a:pPr>
            <a:r>
              <a:rPr lang="en-US" sz="950" dirty="0">
                <a:solidFill>
                  <a:srgbClr val="1A1A2E"/>
                </a:solidFill>
                <a:latin typeface="Arial" pitchFamily="34" charset="0"/>
                <a:ea typeface="Arial" pitchFamily="34" charset="-122"/>
                <a:cs typeface="Arial" pitchFamily="34" charset="-120"/>
              </a:rPr>
              <a:t>Symmetry of A collapses Hessenberg to tridiagonal. Short recurrences break for non-symmetric A.</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3087"/>
          </a:solidFill>
          <a:ln w="12700">
            <a:solidFill>
              <a:srgbClr val="003087"/>
            </a:solidFill>
            <a:prstDash val="solid"/>
          </a:ln>
        </p:spPr>
        <p:txBody>
          <a:bodyPr/>
          <a:lstStyle/>
          <a:p>
            <a:endParaRPr lang="en-NG"/>
          </a:p>
        </p:txBody>
      </p:sp>
      <p:sp>
        <p:nvSpPr>
          <p:cNvPr id="3" name="Text 1"/>
          <p:cNvSpPr/>
          <p:nvPr/>
        </p:nvSpPr>
        <p:spPr>
          <a:xfrm>
            <a:off x="320040" y="54864"/>
            <a:ext cx="7589520" cy="530352"/>
          </a:xfrm>
          <a:prstGeom prst="rect">
            <a:avLst/>
          </a:prstGeom>
          <a:noFill/>
          <a:ln/>
        </p:spPr>
        <p:txBody>
          <a:bodyPr wrap="square" lIns="50800" tIns="50800" rIns="50800" bIns="50800" rtlCol="0" anchor="ctr"/>
          <a:lstStyle/>
          <a:p>
            <a:pPr marL="0" indent="0" algn="l">
              <a:buNone/>
            </a:pPr>
            <a:r>
              <a:rPr lang="en-US" sz="1900" b="1" dirty="0">
                <a:solidFill>
                  <a:srgbClr val="FFFFFF"/>
                </a:solidFill>
                <a:latin typeface="Cambria" pitchFamily="34" charset="0"/>
                <a:ea typeface="Cambria" pitchFamily="34" charset="-122"/>
                <a:cs typeface="Cambria" pitchFamily="34" charset="-120"/>
              </a:rPr>
              <a:t>7.  Why Is It Called ‘Conjugate Gradient’?</a:t>
            </a:r>
            <a:endParaRPr lang="en-US" sz="1900" dirty="0"/>
          </a:p>
        </p:txBody>
      </p:sp>
      <p:sp>
        <p:nvSpPr>
          <p:cNvPr id="4" name="Text 2"/>
          <p:cNvSpPr/>
          <p:nvPr/>
        </p:nvSpPr>
        <p:spPr>
          <a:xfrm>
            <a:off x="8138160" y="54864"/>
            <a:ext cx="640080" cy="530352"/>
          </a:xfrm>
          <a:prstGeom prst="rect">
            <a:avLst/>
          </a:prstGeom>
          <a:noFill/>
          <a:ln/>
        </p:spPr>
        <p:txBody>
          <a:bodyPr wrap="square" lIns="25400" tIns="25400" rIns="25400" bIns="25400" rtlCol="0" anchor="ctr"/>
          <a:lstStyle/>
          <a:p>
            <a:pPr marL="0" indent="0" algn="r">
              <a:buNone/>
            </a:pPr>
            <a:r>
              <a:rPr lang="en-US" sz="1000" dirty="0">
                <a:solidFill>
                  <a:srgbClr val="AAC0E8"/>
                </a:solidFill>
                <a:latin typeface="Arial" pitchFamily="34" charset="0"/>
                <a:ea typeface="Arial" pitchFamily="34" charset="-122"/>
                <a:cs typeface="Arial" pitchFamily="34" charset="-120"/>
              </a:rPr>
              <a:t>7 / 20</a:t>
            </a:r>
            <a:endParaRPr lang="en-US" sz="1000" dirty="0"/>
          </a:p>
        </p:txBody>
      </p:sp>
      <p:sp>
        <p:nvSpPr>
          <p:cNvPr id="5" name="Shape 3"/>
          <p:cNvSpPr/>
          <p:nvPr/>
        </p:nvSpPr>
        <p:spPr>
          <a:xfrm>
            <a:off x="0" y="640080"/>
            <a:ext cx="9144000" cy="45720"/>
          </a:xfrm>
          <a:prstGeom prst="rect">
            <a:avLst/>
          </a:prstGeom>
          <a:solidFill>
            <a:srgbClr val="C8102E"/>
          </a:solidFill>
          <a:ln w="12700">
            <a:solidFill>
              <a:srgbClr val="C8102E"/>
            </a:solidFill>
            <a:prstDash val="solid"/>
          </a:ln>
        </p:spPr>
        <p:txBody>
          <a:bodyPr/>
          <a:lstStyle/>
          <a:p>
            <a:endParaRPr lang="en-NG"/>
          </a:p>
        </p:txBody>
      </p:sp>
      <p:sp>
        <p:nvSpPr>
          <p:cNvPr id="6" name="Shape 4"/>
          <p:cNvSpPr/>
          <p:nvPr/>
        </p:nvSpPr>
        <p:spPr>
          <a:xfrm>
            <a:off x="320040" y="749808"/>
            <a:ext cx="4983480" cy="1444752"/>
          </a:xfrm>
          <a:prstGeom prst="roundRect">
            <a:avLst>
              <a:gd name="adj" fmla="val 3797"/>
            </a:avLst>
          </a:prstGeom>
          <a:solidFill>
            <a:srgbClr val="EBF0FA"/>
          </a:solidFill>
          <a:ln w="15240">
            <a:solidFill>
              <a:srgbClr val="003087"/>
            </a:solidFill>
            <a:prstDash val="solid"/>
          </a:ln>
        </p:spPr>
        <p:txBody>
          <a:bodyPr/>
          <a:lstStyle/>
          <a:p>
            <a:endParaRPr lang="en-NG"/>
          </a:p>
        </p:txBody>
      </p:sp>
      <p:sp>
        <p:nvSpPr>
          <p:cNvPr id="7" name="Text 5"/>
          <p:cNvSpPr/>
          <p:nvPr/>
        </p:nvSpPr>
        <p:spPr>
          <a:xfrm>
            <a:off x="457200" y="804672"/>
            <a:ext cx="4709160" cy="274320"/>
          </a:xfrm>
          <a:prstGeom prst="rect">
            <a:avLst/>
          </a:prstGeom>
          <a:noFill/>
          <a:ln/>
        </p:spPr>
        <p:txBody>
          <a:bodyPr wrap="square" lIns="63500" tIns="63500" rIns="63500" bIns="63500" rtlCol="0" anchor="t"/>
          <a:lstStyle/>
          <a:p>
            <a:pPr marL="0" indent="0" algn="l">
              <a:buNone/>
            </a:pPr>
            <a:r>
              <a:rPr lang="en-US" sz="1200" b="1" dirty="0">
                <a:solidFill>
                  <a:srgbClr val="003087"/>
                </a:solidFill>
                <a:latin typeface="Cambria" pitchFamily="34" charset="0"/>
                <a:ea typeface="Cambria" pitchFamily="34" charset="-122"/>
                <a:cs typeface="Cambria" pitchFamily="34" charset="-120"/>
              </a:rPr>
              <a:t>The Energy Functional:</a:t>
            </a:r>
            <a:endParaRPr lang="en-US" sz="1200" dirty="0"/>
          </a:p>
        </p:txBody>
      </p:sp>
      <p:sp>
        <p:nvSpPr>
          <p:cNvPr id="8" name="Text 6"/>
          <p:cNvSpPr/>
          <p:nvPr/>
        </p:nvSpPr>
        <p:spPr>
          <a:xfrm>
            <a:off x="457200" y="1115568"/>
            <a:ext cx="4709160" cy="347472"/>
          </a:xfrm>
          <a:prstGeom prst="rect">
            <a:avLst/>
          </a:prstGeom>
          <a:noFill/>
          <a:ln/>
        </p:spPr>
        <p:txBody>
          <a:bodyPr wrap="square" lIns="0" tIns="0" rIns="0" bIns="0" rtlCol="0" anchor="ctr"/>
          <a:lstStyle/>
          <a:p>
            <a:pPr marL="0" indent="0" algn="ctr">
              <a:buNone/>
            </a:pPr>
            <a:r>
              <a:rPr lang="en-US" sz="1800" dirty="0">
                <a:solidFill>
                  <a:srgbClr val="1A1A2E"/>
                </a:solidFill>
                <a:latin typeface="Courier New" pitchFamily="34" charset="0"/>
                <a:ea typeface="Courier New" pitchFamily="34" charset="-122"/>
                <a:cs typeface="Courier New" pitchFamily="34" charset="-120"/>
              </a:rPr>
              <a:t>φ(x)  =  ½ xᵀ A x  −  xᵀ b</a:t>
            </a:r>
            <a:endParaRPr lang="en-US" sz="1800" dirty="0"/>
          </a:p>
        </p:txBody>
      </p:sp>
      <p:sp>
        <p:nvSpPr>
          <p:cNvPr id="9" name="Text 7"/>
          <p:cNvSpPr/>
          <p:nvPr/>
        </p:nvSpPr>
        <p:spPr>
          <a:xfrm>
            <a:off x="457200" y="1499616"/>
            <a:ext cx="4709160" cy="621792"/>
          </a:xfrm>
          <a:prstGeom prst="rect">
            <a:avLst/>
          </a:prstGeom>
          <a:noFill/>
          <a:ln/>
        </p:spPr>
        <p:txBody>
          <a:bodyPr wrap="square" lIns="63500" tIns="63500" rIns="63500" bIns="63500" rtlCol="0" anchor="t"/>
          <a:lstStyle/>
          <a:p>
            <a:pPr marL="0" indent="0" algn="l">
              <a:buNone/>
            </a:pPr>
            <a:r>
              <a:rPr lang="en-US" sz="1050" dirty="0">
                <a:solidFill>
                  <a:srgbClr val="1A1A2E"/>
                </a:solidFill>
                <a:latin typeface="Arial" pitchFamily="34" charset="0"/>
                <a:ea typeface="Arial" pitchFamily="34" charset="-122"/>
                <a:cs typeface="Arial" pitchFamily="34" charset="-120"/>
              </a:rPr>
              <a:t>For SPD matrix A this has a unique minimum at x* (the solution of Ax=b).</a:t>
            </a:r>
            <a:endParaRPr lang="en-US" sz="1050" dirty="0"/>
          </a:p>
          <a:p>
            <a:pPr marL="0" indent="0" algn="l">
              <a:buNone/>
            </a:pPr>
            <a:r>
              <a:rPr lang="en-US" sz="1050" dirty="0">
                <a:solidFill>
                  <a:srgbClr val="1A1A2E"/>
                </a:solidFill>
                <a:latin typeface="Arial" pitchFamily="34" charset="0"/>
                <a:ea typeface="Arial" pitchFamily="34" charset="-122"/>
                <a:cs typeface="Arial" pitchFamily="34" charset="-120"/>
              </a:rPr>
              <a:t>Gradient:  ∇φ(x) = Ax − b = −r</a:t>
            </a:r>
            <a:endParaRPr lang="en-US" sz="1050" dirty="0"/>
          </a:p>
          <a:p>
            <a:pPr marL="0" indent="0" algn="l">
              <a:buNone/>
            </a:pPr>
            <a:r>
              <a:rPr lang="en-US" sz="1050" dirty="0">
                <a:solidFill>
                  <a:srgbClr val="1A1A2E"/>
                </a:solidFill>
                <a:latin typeface="Arial" pitchFamily="34" charset="0"/>
                <a:ea typeface="Arial" pitchFamily="34" charset="-122"/>
                <a:cs typeface="Arial" pitchFamily="34" charset="-120"/>
              </a:rPr>
              <a:t>The gradient of the energy is the NEGATIVE RESIDUAL.</a:t>
            </a:r>
            <a:endParaRPr lang="en-US" sz="1050" dirty="0"/>
          </a:p>
        </p:txBody>
      </p:sp>
      <p:sp>
        <p:nvSpPr>
          <p:cNvPr id="10" name="Shape 8"/>
          <p:cNvSpPr/>
          <p:nvPr/>
        </p:nvSpPr>
        <p:spPr>
          <a:xfrm>
            <a:off x="5550408" y="749808"/>
            <a:ext cx="3273552" cy="1444752"/>
          </a:xfrm>
          <a:prstGeom prst="roundRect">
            <a:avLst>
              <a:gd name="adj" fmla="val 3797"/>
            </a:avLst>
          </a:prstGeom>
          <a:solidFill>
            <a:srgbClr val="FFF5F5"/>
          </a:solidFill>
          <a:ln w="12700">
            <a:solidFill>
              <a:srgbClr val="C8102E"/>
            </a:solidFill>
            <a:prstDash val="solid"/>
          </a:ln>
        </p:spPr>
        <p:txBody>
          <a:bodyPr/>
          <a:lstStyle/>
          <a:p>
            <a:endParaRPr lang="en-NG"/>
          </a:p>
        </p:txBody>
      </p:sp>
      <p:sp>
        <p:nvSpPr>
          <p:cNvPr id="11" name="Text 9"/>
          <p:cNvSpPr/>
          <p:nvPr/>
        </p:nvSpPr>
        <p:spPr>
          <a:xfrm>
            <a:off x="5660136" y="804672"/>
            <a:ext cx="3063240" cy="274320"/>
          </a:xfrm>
          <a:prstGeom prst="rect">
            <a:avLst/>
          </a:prstGeom>
          <a:noFill/>
          <a:ln/>
        </p:spPr>
        <p:txBody>
          <a:bodyPr wrap="square" lIns="63500" tIns="63500" rIns="63500" bIns="63500" rtlCol="0" anchor="t"/>
          <a:lstStyle/>
          <a:p>
            <a:pPr marL="0" indent="0" algn="l">
              <a:buNone/>
            </a:pPr>
            <a:r>
              <a:rPr lang="en-US" sz="1150" b="1" dirty="0">
                <a:solidFill>
                  <a:srgbClr val="C8102E"/>
                </a:solidFill>
                <a:latin typeface="Cambria" pitchFamily="34" charset="0"/>
                <a:ea typeface="Cambria" pitchFamily="34" charset="-122"/>
                <a:cs typeface="Cambria" pitchFamily="34" charset="-120"/>
              </a:rPr>
              <a:t>Steepest Descent Fails</a:t>
            </a:r>
            <a:endParaRPr lang="en-US" sz="1150" dirty="0"/>
          </a:p>
        </p:txBody>
      </p:sp>
      <p:sp>
        <p:nvSpPr>
          <p:cNvPr id="12" name="Text 10"/>
          <p:cNvSpPr/>
          <p:nvPr/>
        </p:nvSpPr>
        <p:spPr>
          <a:xfrm>
            <a:off x="5660136" y="1115568"/>
            <a:ext cx="3063240" cy="987552"/>
          </a:xfrm>
          <a:prstGeom prst="rect">
            <a:avLst/>
          </a:prstGeom>
          <a:noFill/>
          <a:ln/>
        </p:spPr>
        <p:txBody>
          <a:bodyPr wrap="square" lIns="63500" tIns="63500" rIns="63500" bIns="63500" rtlCol="0" anchor="t"/>
          <a:lstStyle/>
          <a:p>
            <a:pPr marL="0" indent="0" algn="l">
              <a:buNone/>
            </a:pPr>
            <a:r>
              <a:rPr lang="en-US" sz="1000" dirty="0">
                <a:solidFill>
                  <a:srgbClr val="8B0000"/>
                </a:solidFill>
                <a:latin typeface="Arial" pitchFamily="34" charset="0"/>
                <a:ea typeface="Arial" pitchFamily="34" charset="-122"/>
                <a:cs typeface="Arial" pitchFamily="34" charset="-120"/>
              </a:rPr>
              <a:t>Uses p_j = r_j (pure gradient direction) at every step.</a:t>
            </a:r>
            <a:endParaRPr lang="en-US" sz="1000" dirty="0"/>
          </a:p>
          <a:p>
            <a:pPr marL="0" indent="0" algn="l">
              <a:buNone/>
            </a:pPr>
            <a:r>
              <a:rPr lang="en-US" sz="1000" dirty="0">
                <a:solidFill>
                  <a:srgbClr val="8B0000"/>
                </a:solidFill>
                <a:latin typeface="Arial" pitchFamily="34" charset="0"/>
                <a:ea typeface="Arial" pitchFamily="34" charset="-122"/>
                <a:cs typeface="Arial" pitchFamily="34" charset="-120"/>
              </a:rPr>
              <a:t>Successive steps partially cancel each other — zigzag path.</a:t>
            </a:r>
            <a:endParaRPr lang="en-US" sz="1000" dirty="0"/>
          </a:p>
          <a:p>
            <a:pPr marL="0" indent="0" algn="l">
              <a:buNone/>
            </a:pPr>
            <a:r>
              <a:rPr lang="en-US" sz="1000" dirty="0">
                <a:solidFill>
                  <a:srgbClr val="8B0000"/>
                </a:solidFill>
                <a:latin typeface="Arial" pitchFamily="34" charset="0"/>
                <a:ea typeface="Arial" pitchFamily="34" charset="-122"/>
                <a:cs typeface="Arial" pitchFamily="34" charset="-120"/>
              </a:rPr>
              <a:t>Rate: ((k−1)/(k+1))^k, linear in κ(A).</a:t>
            </a:r>
            <a:endParaRPr lang="en-US" sz="1000" dirty="0"/>
          </a:p>
          <a:p>
            <a:pPr marL="0" indent="0" algn="l">
              <a:buNone/>
            </a:pPr>
            <a:r>
              <a:rPr lang="en-US" sz="1000" dirty="0">
                <a:solidFill>
                  <a:srgbClr val="8B0000"/>
                </a:solidFill>
                <a:latin typeface="Arial" pitchFamily="34" charset="0"/>
                <a:ea typeface="Arial" pitchFamily="34" charset="-122"/>
                <a:cs typeface="Arial" pitchFamily="34" charset="-120"/>
              </a:rPr>
              <a:t>CG fixes this with the conjugacy condition.</a:t>
            </a:r>
            <a:endParaRPr lang="en-US" sz="1000" dirty="0"/>
          </a:p>
        </p:txBody>
      </p:sp>
      <p:sp>
        <p:nvSpPr>
          <p:cNvPr id="13" name="Shape 11"/>
          <p:cNvSpPr/>
          <p:nvPr/>
        </p:nvSpPr>
        <p:spPr>
          <a:xfrm>
            <a:off x="320040" y="2304288"/>
            <a:ext cx="8503920" cy="804672"/>
          </a:xfrm>
          <a:prstGeom prst="roundRect">
            <a:avLst>
              <a:gd name="adj" fmla="val 6818"/>
            </a:avLst>
          </a:prstGeom>
          <a:solidFill>
            <a:srgbClr val="003087"/>
          </a:solidFill>
          <a:ln w="12700">
            <a:solidFill>
              <a:srgbClr val="003087"/>
            </a:solidFill>
            <a:prstDash val="solid"/>
          </a:ln>
        </p:spPr>
        <p:txBody>
          <a:bodyPr/>
          <a:lstStyle/>
          <a:p>
            <a:endParaRPr lang="en-NG"/>
          </a:p>
        </p:txBody>
      </p:sp>
      <p:sp>
        <p:nvSpPr>
          <p:cNvPr id="14" name="Text 12"/>
          <p:cNvSpPr/>
          <p:nvPr/>
        </p:nvSpPr>
        <p:spPr>
          <a:xfrm>
            <a:off x="457200" y="2340864"/>
            <a:ext cx="3200400" cy="329184"/>
          </a:xfrm>
          <a:prstGeom prst="rect">
            <a:avLst/>
          </a:prstGeom>
          <a:noFill/>
          <a:ln/>
        </p:spPr>
        <p:txBody>
          <a:bodyPr wrap="square" lIns="63500" tIns="63500" rIns="63500" bIns="63500" rtlCol="0" anchor="t"/>
          <a:lstStyle/>
          <a:p>
            <a:pPr marL="0" indent="0" algn="l">
              <a:buNone/>
            </a:pPr>
            <a:r>
              <a:rPr lang="en-US" sz="1200" b="1" dirty="0">
                <a:solidFill>
                  <a:srgbClr val="FFFFFF"/>
                </a:solidFill>
                <a:latin typeface="Cambria" pitchFamily="34" charset="0"/>
                <a:ea typeface="Cambria" pitchFamily="34" charset="-122"/>
                <a:cs typeface="Cambria" pitchFamily="34" charset="-120"/>
              </a:rPr>
              <a:t>The Conjugacy Condition:</a:t>
            </a:r>
            <a:endParaRPr lang="en-US" sz="1200" dirty="0"/>
          </a:p>
        </p:txBody>
      </p:sp>
      <p:sp>
        <p:nvSpPr>
          <p:cNvPr id="15" name="Text 13"/>
          <p:cNvSpPr/>
          <p:nvPr/>
        </p:nvSpPr>
        <p:spPr>
          <a:xfrm>
            <a:off x="3172968" y="2349677"/>
            <a:ext cx="5257800" cy="320040"/>
          </a:xfrm>
          <a:prstGeom prst="rect">
            <a:avLst/>
          </a:prstGeom>
          <a:noFill/>
          <a:ln/>
        </p:spPr>
        <p:txBody>
          <a:bodyPr wrap="square" lIns="0" tIns="0" rIns="0" bIns="0" rtlCol="0" anchor="ctr"/>
          <a:lstStyle/>
          <a:p>
            <a:pPr marL="0" indent="0" algn="ctr">
              <a:buNone/>
            </a:pPr>
            <a:r>
              <a:rPr lang="en-US" sz="1700" dirty="0">
                <a:solidFill>
                  <a:srgbClr val="FFFFFF"/>
                </a:solidFill>
                <a:latin typeface="Courier New" pitchFamily="34" charset="0"/>
                <a:ea typeface="Courier New" pitchFamily="34" charset="-122"/>
                <a:cs typeface="Courier New" pitchFamily="34" charset="-120"/>
              </a:rPr>
              <a:t>(A p_i,  p_j)  =  0   for all  i ≠ j</a:t>
            </a:r>
            <a:endParaRPr lang="en-US" sz="1700" dirty="0"/>
          </a:p>
        </p:txBody>
      </p:sp>
      <p:sp>
        <p:nvSpPr>
          <p:cNvPr id="16" name="Text 14"/>
          <p:cNvSpPr/>
          <p:nvPr/>
        </p:nvSpPr>
        <p:spPr>
          <a:xfrm>
            <a:off x="457200" y="2706624"/>
            <a:ext cx="8229600" cy="347472"/>
          </a:xfrm>
          <a:prstGeom prst="rect">
            <a:avLst/>
          </a:prstGeom>
          <a:noFill/>
          <a:ln/>
        </p:spPr>
        <p:txBody>
          <a:bodyPr wrap="square" lIns="63500" tIns="63500" rIns="63500" bIns="63500" rtlCol="0" anchor="t"/>
          <a:lstStyle/>
          <a:p>
            <a:pPr marL="0" indent="0" algn="l">
              <a:buNone/>
            </a:pPr>
            <a:r>
              <a:rPr lang="en-US" sz="1050" dirty="0">
                <a:solidFill>
                  <a:srgbClr val="CADCFC"/>
                </a:solidFill>
                <a:latin typeface="Arial" pitchFamily="34" charset="0"/>
                <a:ea typeface="Arial" pitchFamily="34" charset="-122"/>
                <a:cs typeface="Arial" pitchFamily="34" charset="-120"/>
              </a:rPr>
              <a:t>A-orthogonality: each search direction is orthogonal to all previous ones with respect to the A-inner product. Each step makes completely non-redundant progress.</a:t>
            </a:r>
            <a:endParaRPr lang="en-US" sz="1050" dirty="0"/>
          </a:p>
        </p:txBody>
      </p:sp>
      <p:sp>
        <p:nvSpPr>
          <p:cNvPr id="17" name="Shape 15"/>
          <p:cNvSpPr/>
          <p:nvPr/>
        </p:nvSpPr>
        <p:spPr>
          <a:xfrm>
            <a:off x="320040" y="3200400"/>
            <a:ext cx="8503920" cy="658368"/>
          </a:xfrm>
          <a:prstGeom prst="roundRect">
            <a:avLst>
              <a:gd name="adj" fmla="val 8333"/>
            </a:avLst>
          </a:prstGeom>
          <a:solidFill>
            <a:srgbClr val="EBF0FA"/>
          </a:solidFill>
          <a:ln w="19050">
            <a:solidFill>
              <a:srgbClr val="003087"/>
            </a:solidFill>
            <a:prstDash val="solid"/>
          </a:ln>
        </p:spPr>
        <p:txBody>
          <a:bodyPr/>
          <a:lstStyle/>
          <a:p>
            <a:endParaRPr lang="en-NG"/>
          </a:p>
        </p:txBody>
      </p:sp>
      <p:sp>
        <p:nvSpPr>
          <p:cNvPr id="18" name="Text 16"/>
          <p:cNvSpPr/>
          <p:nvPr/>
        </p:nvSpPr>
        <p:spPr>
          <a:xfrm>
            <a:off x="457200" y="3236976"/>
            <a:ext cx="8229600" cy="566928"/>
          </a:xfrm>
          <a:prstGeom prst="rect">
            <a:avLst/>
          </a:prstGeom>
          <a:noFill/>
          <a:ln/>
        </p:spPr>
        <p:txBody>
          <a:bodyPr wrap="square" lIns="50800" tIns="50800" rIns="50800" bIns="50800" rtlCol="0" anchor="t"/>
          <a:lstStyle/>
          <a:p>
            <a:pPr marL="0" indent="0" algn="l">
              <a:buNone/>
            </a:pPr>
            <a:r>
              <a:rPr lang="en-US" sz="1100" dirty="0">
                <a:solidFill>
                  <a:srgbClr val="003087"/>
                </a:solidFill>
                <a:latin typeface="Arial" pitchFamily="34" charset="0"/>
                <a:ea typeface="Arial" pitchFamily="34" charset="-122"/>
                <a:cs typeface="Arial" pitchFamily="34" charset="-120"/>
              </a:rPr>
              <a:t>The name: “GRADIENT” because p_j comes from ∇φ = −r (the energy gradient).  “CONJUGATE” because the directions satisfy (Ap_i, p_j) = 0 (A-conjugacy).  The vectors p_j are gradient directions MODIFIED to be A-conjugate — hence: CONJUGATE GRADIENTS.</a:t>
            </a:r>
            <a:endParaRPr lang="en-US" sz="1100" dirty="0"/>
          </a:p>
        </p:txBody>
      </p:sp>
      <p:sp>
        <p:nvSpPr>
          <p:cNvPr id="19" name="Shape 17"/>
          <p:cNvSpPr/>
          <p:nvPr/>
        </p:nvSpPr>
        <p:spPr>
          <a:xfrm>
            <a:off x="320040" y="3950208"/>
            <a:ext cx="2697480" cy="804672"/>
          </a:xfrm>
          <a:prstGeom prst="roundRect">
            <a:avLst>
              <a:gd name="adj" fmla="val 6818"/>
            </a:avLst>
          </a:prstGeom>
          <a:solidFill>
            <a:srgbClr val="F4F6FA"/>
          </a:solidFill>
          <a:ln w="12700">
            <a:solidFill>
              <a:srgbClr val="DDE3EF"/>
            </a:solidFill>
            <a:prstDash val="solid"/>
          </a:ln>
        </p:spPr>
        <p:txBody>
          <a:bodyPr/>
          <a:lstStyle/>
          <a:p>
            <a:endParaRPr lang="en-NG"/>
          </a:p>
        </p:txBody>
      </p:sp>
      <p:sp>
        <p:nvSpPr>
          <p:cNvPr id="20" name="Text 18"/>
          <p:cNvSpPr/>
          <p:nvPr/>
        </p:nvSpPr>
        <p:spPr>
          <a:xfrm>
            <a:off x="429768" y="3986784"/>
            <a:ext cx="2487168" cy="256032"/>
          </a:xfrm>
          <a:prstGeom prst="rect">
            <a:avLst/>
          </a:prstGeom>
          <a:noFill/>
          <a:ln/>
        </p:spPr>
        <p:txBody>
          <a:bodyPr wrap="square" lIns="63500" tIns="63500" rIns="63500" bIns="63500" rtlCol="0" anchor="t"/>
          <a:lstStyle/>
          <a:p>
            <a:pPr marL="0" indent="0" algn="l">
              <a:buNone/>
            </a:pPr>
            <a:r>
              <a:rPr lang="en-US" sz="1050" b="1" dirty="0">
                <a:solidFill>
                  <a:srgbClr val="003087"/>
                </a:solidFill>
                <a:latin typeface="Cambria" pitchFamily="34" charset="0"/>
                <a:ea typeface="Cambria" pitchFamily="34" charset="-122"/>
                <a:cs typeface="Cambria" pitchFamily="34" charset="-120"/>
              </a:rPr>
              <a:t>Gradient ⇒ r_j</a:t>
            </a:r>
            <a:endParaRPr lang="en-US" sz="1050" dirty="0"/>
          </a:p>
        </p:txBody>
      </p:sp>
      <p:sp>
        <p:nvSpPr>
          <p:cNvPr id="21" name="Text 19"/>
          <p:cNvSpPr/>
          <p:nvPr/>
        </p:nvSpPr>
        <p:spPr>
          <a:xfrm>
            <a:off x="429768" y="4261104"/>
            <a:ext cx="2487168" cy="457200"/>
          </a:xfrm>
          <a:prstGeom prst="rect">
            <a:avLst/>
          </a:prstGeom>
          <a:noFill/>
          <a:ln/>
        </p:spPr>
        <p:txBody>
          <a:bodyPr wrap="square" lIns="63500" tIns="63500" rIns="63500" bIns="63500" rtlCol="0" anchor="t"/>
          <a:lstStyle/>
          <a:p>
            <a:pPr marL="0" indent="0" algn="l">
              <a:buNone/>
            </a:pPr>
            <a:r>
              <a:rPr lang="en-US" sz="950" dirty="0">
                <a:solidFill>
                  <a:srgbClr val="1A1A2E"/>
                </a:solidFill>
                <a:latin typeface="Arial" pitchFamily="34" charset="0"/>
                <a:ea typeface="Arial" pitchFamily="34" charset="-122"/>
                <a:cs typeface="Arial" pitchFamily="34" charset="-120"/>
              </a:rPr>
              <a:t>∇φ(x_j) = −r_j. Search starts from the negative gradient — residual direction. This is the gradient component of the name.</a:t>
            </a:r>
            <a:endParaRPr lang="en-US" sz="950" dirty="0"/>
          </a:p>
        </p:txBody>
      </p:sp>
      <p:sp>
        <p:nvSpPr>
          <p:cNvPr id="22" name="Shape 20"/>
          <p:cNvSpPr/>
          <p:nvPr/>
        </p:nvSpPr>
        <p:spPr>
          <a:xfrm>
            <a:off x="3172968" y="3950208"/>
            <a:ext cx="2697480" cy="804672"/>
          </a:xfrm>
          <a:prstGeom prst="roundRect">
            <a:avLst>
              <a:gd name="adj" fmla="val 6818"/>
            </a:avLst>
          </a:prstGeom>
          <a:solidFill>
            <a:srgbClr val="F4F6FA"/>
          </a:solidFill>
          <a:ln w="12700">
            <a:solidFill>
              <a:srgbClr val="DDE3EF"/>
            </a:solidFill>
            <a:prstDash val="solid"/>
          </a:ln>
        </p:spPr>
        <p:txBody>
          <a:bodyPr/>
          <a:lstStyle/>
          <a:p>
            <a:endParaRPr lang="en-NG"/>
          </a:p>
        </p:txBody>
      </p:sp>
      <p:sp>
        <p:nvSpPr>
          <p:cNvPr id="23" name="Text 21"/>
          <p:cNvSpPr/>
          <p:nvPr/>
        </p:nvSpPr>
        <p:spPr>
          <a:xfrm>
            <a:off x="3282696" y="3986784"/>
            <a:ext cx="2487168" cy="256032"/>
          </a:xfrm>
          <a:prstGeom prst="rect">
            <a:avLst/>
          </a:prstGeom>
          <a:noFill/>
          <a:ln/>
        </p:spPr>
        <p:txBody>
          <a:bodyPr wrap="square" lIns="63500" tIns="63500" rIns="63500" bIns="63500" rtlCol="0" anchor="t"/>
          <a:lstStyle/>
          <a:p>
            <a:pPr marL="0" indent="0" algn="l">
              <a:buNone/>
            </a:pPr>
            <a:r>
              <a:rPr lang="en-US" sz="1050" b="1" dirty="0">
                <a:solidFill>
                  <a:srgbClr val="003087"/>
                </a:solidFill>
                <a:latin typeface="Cambria" pitchFamily="34" charset="0"/>
                <a:ea typeface="Cambria" pitchFamily="34" charset="-122"/>
                <a:cs typeface="Cambria" pitchFamily="34" charset="-120"/>
              </a:rPr>
              <a:t>Conjugacy ⇒ Non-redundancy</a:t>
            </a:r>
            <a:endParaRPr lang="en-US" sz="1050" dirty="0"/>
          </a:p>
        </p:txBody>
      </p:sp>
      <p:sp>
        <p:nvSpPr>
          <p:cNvPr id="24" name="Text 22"/>
          <p:cNvSpPr/>
          <p:nvPr/>
        </p:nvSpPr>
        <p:spPr>
          <a:xfrm>
            <a:off x="3282696" y="4261104"/>
            <a:ext cx="2487168" cy="457200"/>
          </a:xfrm>
          <a:prstGeom prst="rect">
            <a:avLst/>
          </a:prstGeom>
          <a:noFill/>
          <a:ln/>
        </p:spPr>
        <p:txBody>
          <a:bodyPr wrap="square" lIns="63500" tIns="63500" rIns="63500" bIns="63500" rtlCol="0" anchor="t"/>
          <a:lstStyle/>
          <a:p>
            <a:pPr marL="0" indent="0" algn="l">
              <a:buNone/>
            </a:pPr>
            <a:r>
              <a:rPr lang="en-US" sz="950" dirty="0">
                <a:solidFill>
                  <a:srgbClr val="1A1A2E"/>
                </a:solidFill>
                <a:latin typeface="Arial" pitchFamily="34" charset="0"/>
                <a:ea typeface="Arial" pitchFamily="34" charset="-122"/>
                <a:cs typeface="Arial" pitchFamily="34" charset="-120"/>
              </a:rPr>
              <a:t>A-conjugate directions span independent subspaces. Each step eliminates one dimension of the error permanently.</a:t>
            </a:r>
            <a:endParaRPr lang="en-US" sz="950" dirty="0"/>
          </a:p>
        </p:txBody>
      </p:sp>
      <p:sp>
        <p:nvSpPr>
          <p:cNvPr id="25" name="Shape 23"/>
          <p:cNvSpPr/>
          <p:nvPr/>
        </p:nvSpPr>
        <p:spPr>
          <a:xfrm>
            <a:off x="6025896" y="3950208"/>
            <a:ext cx="2697480" cy="804672"/>
          </a:xfrm>
          <a:prstGeom prst="roundRect">
            <a:avLst>
              <a:gd name="adj" fmla="val 6818"/>
            </a:avLst>
          </a:prstGeom>
          <a:solidFill>
            <a:srgbClr val="F4F6FA"/>
          </a:solidFill>
          <a:ln w="12700">
            <a:solidFill>
              <a:srgbClr val="DDE3EF"/>
            </a:solidFill>
            <a:prstDash val="solid"/>
          </a:ln>
        </p:spPr>
        <p:txBody>
          <a:bodyPr/>
          <a:lstStyle/>
          <a:p>
            <a:endParaRPr lang="en-NG"/>
          </a:p>
        </p:txBody>
      </p:sp>
      <p:sp>
        <p:nvSpPr>
          <p:cNvPr id="26" name="Text 24"/>
          <p:cNvSpPr/>
          <p:nvPr/>
        </p:nvSpPr>
        <p:spPr>
          <a:xfrm>
            <a:off x="6135624" y="3986784"/>
            <a:ext cx="2487168" cy="256032"/>
          </a:xfrm>
          <a:prstGeom prst="rect">
            <a:avLst/>
          </a:prstGeom>
          <a:noFill/>
          <a:ln/>
        </p:spPr>
        <p:txBody>
          <a:bodyPr wrap="square" lIns="63500" tIns="63500" rIns="63500" bIns="63500" rtlCol="0" anchor="t"/>
          <a:lstStyle/>
          <a:p>
            <a:pPr marL="0" indent="0" algn="l">
              <a:buNone/>
            </a:pPr>
            <a:r>
              <a:rPr lang="en-US" sz="1050" b="1" dirty="0">
                <a:solidFill>
                  <a:srgbClr val="003087"/>
                </a:solidFill>
                <a:latin typeface="Cambria" pitchFamily="34" charset="0"/>
                <a:ea typeface="Cambria" pitchFamily="34" charset="-122"/>
                <a:cs typeface="Cambria" pitchFamily="34" charset="-120"/>
              </a:rPr>
              <a:t>Finite Termination</a:t>
            </a:r>
            <a:endParaRPr lang="en-US" sz="1050" dirty="0"/>
          </a:p>
        </p:txBody>
      </p:sp>
      <p:sp>
        <p:nvSpPr>
          <p:cNvPr id="27" name="Text 25"/>
          <p:cNvSpPr/>
          <p:nvPr/>
        </p:nvSpPr>
        <p:spPr>
          <a:xfrm>
            <a:off x="6135624" y="4261104"/>
            <a:ext cx="2487168" cy="457200"/>
          </a:xfrm>
          <a:prstGeom prst="rect">
            <a:avLst/>
          </a:prstGeom>
          <a:noFill/>
          <a:ln/>
        </p:spPr>
        <p:txBody>
          <a:bodyPr wrap="square" lIns="63500" tIns="63500" rIns="63500" bIns="63500" rtlCol="0" anchor="t"/>
          <a:lstStyle/>
          <a:p>
            <a:pPr marL="0" indent="0" algn="l">
              <a:buNone/>
            </a:pPr>
            <a:r>
              <a:rPr lang="en-US" sz="950" dirty="0">
                <a:solidFill>
                  <a:srgbClr val="1A1A2E"/>
                </a:solidFill>
                <a:latin typeface="Arial" pitchFamily="34" charset="0"/>
                <a:ea typeface="Arial" pitchFamily="34" charset="-122"/>
                <a:cs typeface="Arial" pitchFamily="34" charset="-120"/>
              </a:rPr>
              <a:t>After at most n A-conjugate directions, the full R^n is spanned and the exact solution is reached in exact arithmetic.</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3087"/>
          </a:solidFill>
          <a:ln w="12700">
            <a:solidFill>
              <a:srgbClr val="003087"/>
            </a:solidFill>
            <a:prstDash val="solid"/>
          </a:ln>
        </p:spPr>
        <p:txBody>
          <a:bodyPr/>
          <a:lstStyle/>
          <a:p>
            <a:endParaRPr lang="en-NG"/>
          </a:p>
        </p:txBody>
      </p:sp>
      <p:sp>
        <p:nvSpPr>
          <p:cNvPr id="3" name="Text 1"/>
          <p:cNvSpPr/>
          <p:nvPr/>
        </p:nvSpPr>
        <p:spPr>
          <a:xfrm>
            <a:off x="320040" y="54864"/>
            <a:ext cx="7589520" cy="530352"/>
          </a:xfrm>
          <a:prstGeom prst="rect">
            <a:avLst/>
          </a:prstGeom>
          <a:noFill/>
          <a:ln/>
        </p:spPr>
        <p:txBody>
          <a:bodyPr wrap="square" lIns="50800" tIns="50800" rIns="50800" bIns="50800" rtlCol="0" anchor="ctr"/>
          <a:lstStyle/>
          <a:p>
            <a:pPr marL="0" indent="0" algn="l">
              <a:buNone/>
            </a:pPr>
            <a:r>
              <a:rPr lang="en-US" sz="1900" b="1" dirty="0">
                <a:solidFill>
                  <a:srgbClr val="FFFFFF"/>
                </a:solidFill>
                <a:latin typeface="Cambria" pitchFamily="34" charset="0"/>
                <a:ea typeface="Cambria" pitchFamily="34" charset="-122"/>
                <a:cs typeface="Cambria" pitchFamily="34" charset="-120"/>
              </a:rPr>
              <a:t>8.  CG Derivation — Where Do α_j and β_j Come From?</a:t>
            </a:r>
            <a:endParaRPr lang="en-US" sz="1900" dirty="0"/>
          </a:p>
        </p:txBody>
      </p:sp>
      <p:sp>
        <p:nvSpPr>
          <p:cNvPr id="4" name="Text 2"/>
          <p:cNvSpPr/>
          <p:nvPr/>
        </p:nvSpPr>
        <p:spPr>
          <a:xfrm>
            <a:off x="8138160" y="54864"/>
            <a:ext cx="640080" cy="530352"/>
          </a:xfrm>
          <a:prstGeom prst="rect">
            <a:avLst/>
          </a:prstGeom>
          <a:noFill/>
          <a:ln/>
        </p:spPr>
        <p:txBody>
          <a:bodyPr wrap="square" lIns="25400" tIns="25400" rIns="25400" bIns="25400" rtlCol="0" anchor="ctr"/>
          <a:lstStyle/>
          <a:p>
            <a:pPr marL="0" indent="0" algn="r">
              <a:buNone/>
            </a:pPr>
            <a:r>
              <a:rPr lang="en-US" sz="1000" dirty="0">
                <a:solidFill>
                  <a:srgbClr val="AAC0E8"/>
                </a:solidFill>
                <a:latin typeface="Arial" pitchFamily="34" charset="0"/>
                <a:ea typeface="Arial" pitchFamily="34" charset="-122"/>
                <a:cs typeface="Arial" pitchFamily="34" charset="-120"/>
              </a:rPr>
              <a:t>8 / 20</a:t>
            </a:r>
            <a:endParaRPr lang="en-US" sz="1000" dirty="0"/>
          </a:p>
        </p:txBody>
      </p:sp>
      <p:sp>
        <p:nvSpPr>
          <p:cNvPr id="5" name="Shape 3"/>
          <p:cNvSpPr/>
          <p:nvPr/>
        </p:nvSpPr>
        <p:spPr>
          <a:xfrm>
            <a:off x="0" y="640080"/>
            <a:ext cx="9144000" cy="45720"/>
          </a:xfrm>
          <a:prstGeom prst="rect">
            <a:avLst/>
          </a:prstGeom>
          <a:solidFill>
            <a:srgbClr val="C8102E"/>
          </a:solidFill>
          <a:ln w="12700">
            <a:solidFill>
              <a:srgbClr val="C8102E"/>
            </a:solidFill>
            <a:prstDash val="solid"/>
          </a:ln>
        </p:spPr>
        <p:txBody>
          <a:bodyPr/>
          <a:lstStyle/>
          <a:p>
            <a:endParaRPr lang="en-NG"/>
          </a:p>
        </p:txBody>
      </p:sp>
      <p:sp>
        <p:nvSpPr>
          <p:cNvPr id="6" name="Text 4"/>
          <p:cNvSpPr/>
          <p:nvPr/>
        </p:nvSpPr>
        <p:spPr>
          <a:xfrm>
            <a:off x="320040" y="749808"/>
            <a:ext cx="8503920" cy="365760"/>
          </a:xfrm>
          <a:prstGeom prst="rect">
            <a:avLst/>
          </a:prstGeom>
          <a:noFill/>
          <a:ln/>
        </p:spPr>
        <p:txBody>
          <a:bodyPr wrap="square" lIns="25400" tIns="25400" rIns="25400" bIns="25400" rtlCol="0" anchor="t"/>
          <a:lstStyle/>
          <a:p>
            <a:pPr marL="0" indent="0" algn="l">
              <a:buNone/>
            </a:pPr>
            <a:r>
              <a:rPr lang="en-US" sz="1100" dirty="0">
                <a:solidFill>
                  <a:srgbClr val="1A1A2E"/>
                </a:solidFill>
                <a:latin typeface="Arial" pitchFamily="34" charset="0"/>
                <a:ea typeface="Arial" pitchFamily="34" charset="-122"/>
                <a:cs typeface="Arial" pitchFamily="34" charset="-120"/>
              </a:rPr>
              <a:t>Impose two conditions (Nasedkina 2026, Lec. 14): (1) residual orthogonality (r_i, r_j)=0 for i≠j;  (2) A-conjugacy (Ap_i, p_j)=0 for i≠j. Search form:  x_{j+1} = x_j + α_j p_j  and  p_{j+1} = r_{j+1} + β_j p_j.</a:t>
            </a:r>
            <a:endParaRPr lang="en-US" sz="1100" dirty="0"/>
          </a:p>
        </p:txBody>
      </p:sp>
      <p:sp>
        <p:nvSpPr>
          <p:cNvPr id="7" name="Shape 5"/>
          <p:cNvSpPr/>
          <p:nvPr/>
        </p:nvSpPr>
        <p:spPr>
          <a:xfrm>
            <a:off x="320040" y="1188720"/>
            <a:ext cx="4096512" cy="2029968"/>
          </a:xfrm>
          <a:prstGeom prst="roundRect">
            <a:avLst>
              <a:gd name="adj" fmla="val 2703"/>
            </a:avLst>
          </a:prstGeom>
          <a:solidFill>
            <a:srgbClr val="EBF0FA"/>
          </a:solidFill>
          <a:ln w="15240">
            <a:solidFill>
              <a:srgbClr val="003087"/>
            </a:solidFill>
            <a:prstDash val="solid"/>
          </a:ln>
        </p:spPr>
        <p:txBody>
          <a:bodyPr/>
          <a:lstStyle/>
          <a:p>
            <a:endParaRPr lang="en-NG"/>
          </a:p>
        </p:txBody>
      </p:sp>
      <p:sp>
        <p:nvSpPr>
          <p:cNvPr id="8" name="Text 6"/>
          <p:cNvSpPr/>
          <p:nvPr/>
        </p:nvSpPr>
        <p:spPr>
          <a:xfrm>
            <a:off x="429768" y="1234440"/>
            <a:ext cx="3877056" cy="274320"/>
          </a:xfrm>
          <a:prstGeom prst="rect">
            <a:avLst/>
          </a:prstGeom>
          <a:noFill/>
          <a:ln/>
        </p:spPr>
        <p:txBody>
          <a:bodyPr wrap="square" lIns="63500" tIns="63500" rIns="63500" bIns="63500" rtlCol="0" anchor="t"/>
          <a:lstStyle/>
          <a:p>
            <a:pPr marL="0" indent="0" algn="l">
              <a:buNone/>
            </a:pPr>
            <a:r>
              <a:rPr lang="en-US" sz="1200" b="1" dirty="0">
                <a:solidFill>
                  <a:srgbClr val="003087"/>
                </a:solidFill>
                <a:latin typeface="Cambria" pitchFamily="34" charset="0"/>
                <a:ea typeface="Cambria" pitchFamily="34" charset="-122"/>
                <a:cs typeface="Cambria" pitchFamily="34" charset="-120"/>
              </a:rPr>
              <a:t>Deriving α_j  (step length)</a:t>
            </a:r>
            <a:endParaRPr lang="en-US" sz="1200" dirty="0"/>
          </a:p>
        </p:txBody>
      </p:sp>
      <p:sp>
        <p:nvSpPr>
          <p:cNvPr id="9" name="Text 7"/>
          <p:cNvSpPr/>
          <p:nvPr/>
        </p:nvSpPr>
        <p:spPr>
          <a:xfrm>
            <a:off x="457200" y="1554480"/>
            <a:ext cx="3794760" cy="182880"/>
          </a:xfrm>
          <a:prstGeom prst="rect">
            <a:avLst/>
          </a:prstGeom>
          <a:noFill/>
          <a:ln/>
        </p:spPr>
        <p:txBody>
          <a:bodyPr wrap="square" lIns="0" tIns="0" rIns="0" bIns="0" rtlCol="0" anchor="t"/>
          <a:lstStyle/>
          <a:p>
            <a:pPr marL="0" indent="0" algn="l">
              <a:buNone/>
            </a:pPr>
            <a:r>
              <a:rPr lang="en-US" sz="1050" dirty="0">
                <a:solidFill>
                  <a:srgbClr val="1A1A2E"/>
                </a:solidFill>
                <a:latin typeface="Courier New" pitchFamily="34" charset="0"/>
                <a:ea typeface="Courier New" pitchFamily="34" charset="-122"/>
                <a:cs typeface="Courier New" pitchFamily="34" charset="-120"/>
              </a:rPr>
              <a:t>Residual update:</a:t>
            </a:r>
            <a:endParaRPr lang="en-US" sz="1050" dirty="0"/>
          </a:p>
        </p:txBody>
      </p:sp>
      <p:sp>
        <p:nvSpPr>
          <p:cNvPr id="10" name="Text 8"/>
          <p:cNvSpPr/>
          <p:nvPr/>
        </p:nvSpPr>
        <p:spPr>
          <a:xfrm>
            <a:off x="457200" y="1737360"/>
            <a:ext cx="3794760" cy="182880"/>
          </a:xfrm>
          <a:prstGeom prst="rect">
            <a:avLst/>
          </a:prstGeom>
          <a:noFill/>
          <a:ln/>
        </p:spPr>
        <p:txBody>
          <a:bodyPr wrap="square" lIns="0" tIns="0" rIns="0" bIns="0" rtlCol="0" anchor="t"/>
          <a:lstStyle/>
          <a:p>
            <a:pPr marL="0" indent="0" algn="l">
              <a:buNone/>
            </a:pPr>
            <a:r>
              <a:rPr lang="en-US" sz="1050" dirty="0">
                <a:solidFill>
                  <a:srgbClr val="1A1A2E"/>
                </a:solidFill>
                <a:latin typeface="Courier New" pitchFamily="34" charset="0"/>
                <a:ea typeface="Courier New" pitchFamily="34" charset="-122"/>
                <a:cs typeface="Courier New" pitchFamily="34" charset="-120"/>
              </a:rPr>
              <a:t>  r_{j+1} = r_j − α_j · A · p_j</a:t>
            </a:r>
            <a:endParaRPr lang="en-US" sz="1050" dirty="0"/>
          </a:p>
        </p:txBody>
      </p:sp>
      <p:sp>
        <p:nvSpPr>
          <p:cNvPr id="11" name="Text 9"/>
          <p:cNvSpPr/>
          <p:nvPr/>
        </p:nvSpPr>
        <p:spPr>
          <a:xfrm>
            <a:off x="457200" y="1920240"/>
            <a:ext cx="3794760" cy="182880"/>
          </a:xfrm>
          <a:prstGeom prst="rect">
            <a:avLst/>
          </a:prstGeom>
          <a:noFill/>
          <a:ln/>
        </p:spPr>
        <p:txBody>
          <a:bodyPr wrap="square" lIns="0" tIns="0" rIns="0" bIns="0" rtlCol="0" anchor="t"/>
          <a:lstStyle/>
          <a:p>
            <a:pPr marL="0" indent="0" algn="l">
              <a:buNone/>
            </a:pPr>
            <a:endParaRPr lang="en-US" sz="1050" dirty="0"/>
          </a:p>
        </p:txBody>
      </p:sp>
      <p:sp>
        <p:nvSpPr>
          <p:cNvPr id="12" name="Text 10"/>
          <p:cNvSpPr/>
          <p:nvPr/>
        </p:nvSpPr>
        <p:spPr>
          <a:xfrm>
            <a:off x="457200" y="2103120"/>
            <a:ext cx="3794760" cy="182880"/>
          </a:xfrm>
          <a:prstGeom prst="rect">
            <a:avLst/>
          </a:prstGeom>
          <a:noFill/>
          <a:ln/>
        </p:spPr>
        <p:txBody>
          <a:bodyPr wrap="square" lIns="0" tIns="0" rIns="0" bIns="0" rtlCol="0" anchor="t"/>
          <a:lstStyle/>
          <a:p>
            <a:pPr marL="0" indent="0" algn="l">
              <a:buNone/>
            </a:pPr>
            <a:r>
              <a:rPr lang="en-US" sz="1050" dirty="0">
                <a:solidFill>
                  <a:srgbClr val="1A1A2E"/>
                </a:solidFill>
                <a:latin typeface="Courier New" pitchFamily="34" charset="0"/>
                <a:ea typeface="Courier New" pitchFamily="34" charset="-122"/>
                <a:cs typeface="Courier New" pitchFamily="34" charset="-120"/>
              </a:rPr>
              <a:t>Apply (r_{j+1}, r_j) = 0:</a:t>
            </a:r>
            <a:endParaRPr lang="en-US" sz="1050" dirty="0"/>
          </a:p>
        </p:txBody>
      </p:sp>
      <p:sp>
        <p:nvSpPr>
          <p:cNvPr id="13" name="Text 11"/>
          <p:cNvSpPr/>
          <p:nvPr/>
        </p:nvSpPr>
        <p:spPr>
          <a:xfrm>
            <a:off x="457200" y="2286000"/>
            <a:ext cx="3794760" cy="182880"/>
          </a:xfrm>
          <a:prstGeom prst="rect">
            <a:avLst/>
          </a:prstGeom>
          <a:noFill/>
          <a:ln/>
        </p:spPr>
        <p:txBody>
          <a:bodyPr wrap="square" lIns="0" tIns="0" rIns="0" bIns="0" rtlCol="0" anchor="t"/>
          <a:lstStyle/>
          <a:p>
            <a:pPr marL="0" indent="0" algn="l">
              <a:buNone/>
            </a:pPr>
            <a:r>
              <a:rPr lang="en-US" sz="1050" dirty="0">
                <a:solidFill>
                  <a:srgbClr val="1A1A2E"/>
                </a:solidFill>
                <a:latin typeface="Courier New" pitchFamily="34" charset="0"/>
                <a:ea typeface="Courier New" pitchFamily="34" charset="-122"/>
                <a:cs typeface="Courier New" pitchFamily="34" charset="-120"/>
              </a:rPr>
              <a:t>  (r_j, r_j) − α_j (Ap_j, r_j) = 0</a:t>
            </a:r>
            <a:endParaRPr lang="en-US" sz="1050" dirty="0"/>
          </a:p>
        </p:txBody>
      </p:sp>
      <p:sp>
        <p:nvSpPr>
          <p:cNvPr id="14" name="Text 12"/>
          <p:cNvSpPr/>
          <p:nvPr/>
        </p:nvSpPr>
        <p:spPr>
          <a:xfrm>
            <a:off x="457200" y="2468880"/>
            <a:ext cx="3794760" cy="182880"/>
          </a:xfrm>
          <a:prstGeom prst="rect">
            <a:avLst/>
          </a:prstGeom>
          <a:noFill/>
          <a:ln/>
        </p:spPr>
        <p:txBody>
          <a:bodyPr wrap="square" lIns="0" tIns="0" rIns="0" bIns="0" rtlCol="0" anchor="t"/>
          <a:lstStyle/>
          <a:p>
            <a:pPr marL="0" indent="0" algn="l">
              <a:buNone/>
            </a:pPr>
            <a:endParaRPr lang="en-US" sz="1050" dirty="0"/>
          </a:p>
        </p:txBody>
      </p:sp>
      <p:sp>
        <p:nvSpPr>
          <p:cNvPr id="15" name="Text 13"/>
          <p:cNvSpPr/>
          <p:nvPr/>
        </p:nvSpPr>
        <p:spPr>
          <a:xfrm>
            <a:off x="457200" y="2651760"/>
            <a:ext cx="3794760" cy="182880"/>
          </a:xfrm>
          <a:prstGeom prst="rect">
            <a:avLst/>
          </a:prstGeom>
          <a:noFill/>
          <a:ln/>
        </p:spPr>
        <p:txBody>
          <a:bodyPr wrap="square" lIns="0" tIns="0" rIns="0" bIns="0" rtlCol="0" anchor="t"/>
          <a:lstStyle/>
          <a:p>
            <a:pPr marL="0" indent="0" algn="l">
              <a:buNone/>
            </a:pPr>
            <a:r>
              <a:rPr lang="en-US" sz="1050" dirty="0">
                <a:solidFill>
                  <a:srgbClr val="1A1A2E"/>
                </a:solidFill>
                <a:latin typeface="Courier New" pitchFamily="34" charset="0"/>
                <a:ea typeface="Courier New" pitchFamily="34" charset="-122"/>
                <a:cs typeface="Courier New" pitchFamily="34" charset="-120"/>
              </a:rPr>
              <a:t>Using A-conjugacy: (Ap_j, r_j) = (Ap_j, p_j)</a:t>
            </a:r>
            <a:endParaRPr lang="en-US" sz="1050" dirty="0"/>
          </a:p>
        </p:txBody>
      </p:sp>
      <p:sp>
        <p:nvSpPr>
          <p:cNvPr id="16" name="Text 14"/>
          <p:cNvSpPr/>
          <p:nvPr/>
        </p:nvSpPr>
        <p:spPr>
          <a:xfrm>
            <a:off x="457200" y="2834640"/>
            <a:ext cx="3794760" cy="182880"/>
          </a:xfrm>
          <a:prstGeom prst="rect">
            <a:avLst/>
          </a:prstGeom>
          <a:noFill/>
          <a:ln/>
        </p:spPr>
        <p:txBody>
          <a:bodyPr wrap="square" lIns="0" tIns="0" rIns="0" bIns="0" rtlCol="0" anchor="t"/>
          <a:lstStyle/>
          <a:p>
            <a:pPr marL="0" indent="0" algn="l">
              <a:buNone/>
            </a:pPr>
            <a:endParaRPr lang="en-US" sz="1050" dirty="0"/>
          </a:p>
        </p:txBody>
      </p:sp>
      <p:sp>
        <p:nvSpPr>
          <p:cNvPr id="17" name="Text 15"/>
          <p:cNvSpPr/>
          <p:nvPr/>
        </p:nvSpPr>
        <p:spPr>
          <a:xfrm>
            <a:off x="457200" y="3017520"/>
            <a:ext cx="3794760" cy="182880"/>
          </a:xfrm>
          <a:prstGeom prst="rect">
            <a:avLst/>
          </a:prstGeom>
          <a:noFill/>
          <a:ln/>
        </p:spPr>
        <p:txBody>
          <a:bodyPr wrap="square" lIns="0" tIns="0" rIns="0" bIns="0" rtlCol="0" anchor="t"/>
          <a:lstStyle/>
          <a:p>
            <a:pPr marL="0" indent="0" algn="l">
              <a:buNone/>
            </a:pPr>
            <a:r>
              <a:rPr lang="en-US" sz="1050" b="1" dirty="0">
                <a:solidFill>
                  <a:srgbClr val="C8102E"/>
                </a:solidFill>
                <a:latin typeface="Courier New" pitchFamily="34" charset="0"/>
                <a:ea typeface="Courier New" pitchFamily="34" charset="-122"/>
                <a:cs typeface="Courier New" pitchFamily="34" charset="-120"/>
              </a:rPr>
              <a:t>  α_j = (r_j, r_j) / (Ap_j, p_j)</a:t>
            </a:r>
            <a:endParaRPr lang="en-US" sz="1050" dirty="0"/>
          </a:p>
        </p:txBody>
      </p:sp>
      <p:sp>
        <p:nvSpPr>
          <p:cNvPr id="18" name="Shape 16"/>
          <p:cNvSpPr/>
          <p:nvPr/>
        </p:nvSpPr>
        <p:spPr>
          <a:xfrm>
            <a:off x="4727448" y="1188720"/>
            <a:ext cx="4096512" cy="2029968"/>
          </a:xfrm>
          <a:prstGeom prst="roundRect">
            <a:avLst>
              <a:gd name="adj" fmla="val 2703"/>
            </a:avLst>
          </a:prstGeom>
          <a:solidFill>
            <a:srgbClr val="EBF0FA"/>
          </a:solidFill>
          <a:ln w="15240">
            <a:solidFill>
              <a:srgbClr val="003087"/>
            </a:solidFill>
            <a:prstDash val="solid"/>
          </a:ln>
        </p:spPr>
        <p:txBody>
          <a:bodyPr/>
          <a:lstStyle/>
          <a:p>
            <a:endParaRPr lang="en-NG"/>
          </a:p>
        </p:txBody>
      </p:sp>
      <p:sp>
        <p:nvSpPr>
          <p:cNvPr id="19" name="Text 17"/>
          <p:cNvSpPr/>
          <p:nvPr/>
        </p:nvSpPr>
        <p:spPr>
          <a:xfrm>
            <a:off x="4837176" y="1234440"/>
            <a:ext cx="3877056" cy="274320"/>
          </a:xfrm>
          <a:prstGeom prst="rect">
            <a:avLst/>
          </a:prstGeom>
          <a:noFill/>
          <a:ln/>
        </p:spPr>
        <p:txBody>
          <a:bodyPr wrap="square" lIns="63500" tIns="63500" rIns="63500" bIns="63500" rtlCol="0" anchor="t"/>
          <a:lstStyle/>
          <a:p>
            <a:pPr marL="0" indent="0" algn="l">
              <a:buNone/>
            </a:pPr>
            <a:r>
              <a:rPr lang="en-US" sz="1200" b="1" dirty="0">
                <a:solidFill>
                  <a:srgbClr val="003087"/>
                </a:solidFill>
                <a:latin typeface="Cambria" pitchFamily="34" charset="0"/>
                <a:ea typeface="Cambria" pitchFamily="34" charset="-122"/>
                <a:cs typeface="Cambria" pitchFamily="34" charset="-120"/>
              </a:rPr>
              <a:t>Deriving β_j  (direction scalar)</a:t>
            </a:r>
            <a:endParaRPr lang="en-US" sz="1200" dirty="0"/>
          </a:p>
        </p:txBody>
      </p:sp>
      <p:sp>
        <p:nvSpPr>
          <p:cNvPr id="20" name="Text 18"/>
          <p:cNvSpPr/>
          <p:nvPr/>
        </p:nvSpPr>
        <p:spPr>
          <a:xfrm>
            <a:off x="4855464" y="1554480"/>
            <a:ext cx="3794760" cy="182880"/>
          </a:xfrm>
          <a:prstGeom prst="rect">
            <a:avLst/>
          </a:prstGeom>
          <a:noFill/>
          <a:ln/>
        </p:spPr>
        <p:txBody>
          <a:bodyPr wrap="square" lIns="0" tIns="0" rIns="0" bIns="0" rtlCol="0" anchor="t"/>
          <a:lstStyle/>
          <a:p>
            <a:pPr marL="0" indent="0" algn="l">
              <a:buNone/>
            </a:pPr>
            <a:r>
              <a:rPr lang="en-US" sz="1050" dirty="0">
                <a:solidFill>
                  <a:srgbClr val="1A1A2E"/>
                </a:solidFill>
                <a:latin typeface="Courier New" pitchFamily="34" charset="0"/>
                <a:ea typeface="Courier New" pitchFamily="34" charset="-122"/>
                <a:cs typeface="Courier New" pitchFamily="34" charset="-120"/>
              </a:rPr>
              <a:t>Apply (Ap_j, p_{j+1}) = 0:</a:t>
            </a:r>
            <a:endParaRPr lang="en-US" sz="1050" dirty="0"/>
          </a:p>
        </p:txBody>
      </p:sp>
      <p:sp>
        <p:nvSpPr>
          <p:cNvPr id="21" name="Text 19"/>
          <p:cNvSpPr/>
          <p:nvPr/>
        </p:nvSpPr>
        <p:spPr>
          <a:xfrm>
            <a:off x="4855464" y="1737360"/>
            <a:ext cx="3794760" cy="182880"/>
          </a:xfrm>
          <a:prstGeom prst="rect">
            <a:avLst/>
          </a:prstGeom>
          <a:noFill/>
          <a:ln/>
        </p:spPr>
        <p:txBody>
          <a:bodyPr wrap="square" lIns="0" tIns="0" rIns="0" bIns="0" rtlCol="0" anchor="t"/>
          <a:lstStyle/>
          <a:p>
            <a:pPr marL="0" indent="0" algn="l">
              <a:buNone/>
            </a:pPr>
            <a:r>
              <a:rPr lang="en-US" sz="1050" dirty="0">
                <a:solidFill>
                  <a:srgbClr val="1A1A2E"/>
                </a:solidFill>
                <a:latin typeface="Courier New" pitchFamily="34" charset="0"/>
                <a:ea typeface="Courier New" pitchFamily="34" charset="-122"/>
                <a:cs typeface="Courier New" pitchFamily="34" charset="-120"/>
              </a:rPr>
              <a:t>  (Ap_j, r_{j+1}) + β_j (Ap_j, p_j) = 0</a:t>
            </a:r>
            <a:endParaRPr lang="en-US" sz="1050" dirty="0"/>
          </a:p>
        </p:txBody>
      </p:sp>
      <p:sp>
        <p:nvSpPr>
          <p:cNvPr id="22" name="Text 20"/>
          <p:cNvSpPr/>
          <p:nvPr/>
        </p:nvSpPr>
        <p:spPr>
          <a:xfrm>
            <a:off x="4855464" y="1920240"/>
            <a:ext cx="3794760" cy="182880"/>
          </a:xfrm>
          <a:prstGeom prst="rect">
            <a:avLst/>
          </a:prstGeom>
          <a:noFill/>
          <a:ln/>
        </p:spPr>
        <p:txBody>
          <a:bodyPr wrap="square" lIns="0" tIns="0" rIns="0" bIns="0" rtlCol="0" anchor="t"/>
          <a:lstStyle/>
          <a:p>
            <a:pPr marL="0" indent="0" algn="l">
              <a:buNone/>
            </a:pPr>
            <a:endParaRPr lang="en-US" sz="1050" dirty="0"/>
          </a:p>
        </p:txBody>
      </p:sp>
      <p:sp>
        <p:nvSpPr>
          <p:cNvPr id="23" name="Text 21"/>
          <p:cNvSpPr/>
          <p:nvPr/>
        </p:nvSpPr>
        <p:spPr>
          <a:xfrm>
            <a:off x="4855464" y="2103120"/>
            <a:ext cx="3794760" cy="182880"/>
          </a:xfrm>
          <a:prstGeom prst="rect">
            <a:avLst/>
          </a:prstGeom>
          <a:noFill/>
          <a:ln/>
        </p:spPr>
        <p:txBody>
          <a:bodyPr wrap="square" lIns="0" tIns="0" rIns="0" bIns="0" rtlCol="0" anchor="t"/>
          <a:lstStyle/>
          <a:p>
            <a:pPr marL="0" indent="0" algn="l">
              <a:buNone/>
            </a:pPr>
            <a:r>
              <a:rPr lang="en-US" sz="1050" dirty="0">
                <a:solidFill>
                  <a:srgbClr val="1A1A2E"/>
                </a:solidFill>
                <a:latin typeface="Courier New" pitchFamily="34" charset="0"/>
                <a:ea typeface="Courier New" pitchFamily="34" charset="-122"/>
                <a:cs typeface="Courier New" pitchFamily="34" charset="-120"/>
              </a:rPr>
              <a:t>Using Ap_j = −(1/α_j)(r_{j+1}−r_j)</a:t>
            </a:r>
            <a:endParaRPr lang="en-US" sz="1050" dirty="0"/>
          </a:p>
        </p:txBody>
      </p:sp>
      <p:sp>
        <p:nvSpPr>
          <p:cNvPr id="24" name="Text 22"/>
          <p:cNvSpPr/>
          <p:nvPr/>
        </p:nvSpPr>
        <p:spPr>
          <a:xfrm>
            <a:off x="4855464" y="2286000"/>
            <a:ext cx="3794760" cy="182880"/>
          </a:xfrm>
          <a:prstGeom prst="rect">
            <a:avLst/>
          </a:prstGeom>
          <a:noFill/>
          <a:ln/>
        </p:spPr>
        <p:txBody>
          <a:bodyPr wrap="square" lIns="0" tIns="0" rIns="0" bIns="0" rtlCol="0" anchor="t"/>
          <a:lstStyle/>
          <a:p>
            <a:pPr marL="0" indent="0" algn="l">
              <a:buNone/>
            </a:pPr>
            <a:r>
              <a:rPr lang="en-US" sz="1050" dirty="0">
                <a:solidFill>
                  <a:srgbClr val="1A1A2E"/>
                </a:solidFill>
                <a:latin typeface="Courier New" pitchFamily="34" charset="0"/>
                <a:ea typeface="Courier New" pitchFamily="34" charset="-122"/>
                <a:cs typeface="Courier New" pitchFamily="34" charset="-120"/>
              </a:rPr>
              <a:t>and residual orthogonality:</a:t>
            </a:r>
            <a:endParaRPr lang="en-US" sz="1050" dirty="0"/>
          </a:p>
        </p:txBody>
      </p:sp>
      <p:sp>
        <p:nvSpPr>
          <p:cNvPr id="25" name="Text 23"/>
          <p:cNvSpPr/>
          <p:nvPr/>
        </p:nvSpPr>
        <p:spPr>
          <a:xfrm>
            <a:off x="4855464" y="2468880"/>
            <a:ext cx="3794760" cy="182880"/>
          </a:xfrm>
          <a:prstGeom prst="rect">
            <a:avLst/>
          </a:prstGeom>
          <a:noFill/>
          <a:ln/>
        </p:spPr>
        <p:txBody>
          <a:bodyPr wrap="square" lIns="0" tIns="0" rIns="0" bIns="0" rtlCol="0" anchor="t"/>
          <a:lstStyle/>
          <a:p>
            <a:pPr marL="0" indent="0" algn="l">
              <a:buNone/>
            </a:pPr>
            <a:endParaRPr lang="en-US" sz="1050" dirty="0"/>
          </a:p>
        </p:txBody>
      </p:sp>
      <p:sp>
        <p:nvSpPr>
          <p:cNvPr id="26" name="Text 24"/>
          <p:cNvSpPr/>
          <p:nvPr/>
        </p:nvSpPr>
        <p:spPr>
          <a:xfrm>
            <a:off x="4855464" y="2651760"/>
            <a:ext cx="3794760" cy="182880"/>
          </a:xfrm>
          <a:prstGeom prst="rect">
            <a:avLst/>
          </a:prstGeom>
          <a:noFill/>
          <a:ln/>
        </p:spPr>
        <p:txBody>
          <a:bodyPr wrap="square" lIns="0" tIns="0" rIns="0" bIns="0" rtlCol="0" anchor="t"/>
          <a:lstStyle/>
          <a:p>
            <a:pPr marL="0" indent="0" algn="l">
              <a:buNone/>
            </a:pPr>
            <a:r>
              <a:rPr lang="en-US" sz="1050" dirty="0">
                <a:solidFill>
                  <a:srgbClr val="1A1A2E"/>
                </a:solidFill>
                <a:latin typeface="Courier New" pitchFamily="34" charset="0"/>
                <a:ea typeface="Courier New" pitchFamily="34" charset="-122"/>
                <a:cs typeface="Courier New" pitchFamily="34" charset="-120"/>
              </a:rPr>
              <a:t>  (Ap_j, r_{j+1}) = −(1/α_j)(r_{j+1}, r_{j+1})</a:t>
            </a:r>
            <a:endParaRPr lang="en-US" sz="1050" dirty="0"/>
          </a:p>
        </p:txBody>
      </p:sp>
      <p:sp>
        <p:nvSpPr>
          <p:cNvPr id="27" name="Text 25"/>
          <p:cNvSpPr/>
          <p:nvPr/>
        </p:nvSpPr>
        <p:spPr>
          <a:xfrm>
            <a:off x="4855464" y="2834640"/>
            <a:ext cx="3794760" cy="182880"/>
          </a:xfrm>
          <a:prstGeom prst="rect">
            <a:avLst/>
          </a:prstGeom>
          <a:noFill/>
          <a:ln/>
        </p:spPr>
        <p:txBody>
          <a:bodyPr wrap="square" lIns="0" tIns="0" rIns="0" bIns="0" rtlCol="0" anchor="t"/>
          <a:lstStyle/>
          <a:p>
            <a:pPr marL="0" indent="0" algn="l">
              <a:buNone/>
            </a:pPr>
            <a:endParaRPr lang="en-US" sz="1050" dirty="0"/>
          </a:p>
        </p:txBody>
      </p:sp>
      <p:sp>
        <p:nvSpPr>
          <p:cNvPr id="28" name="Text 26"/>
          <p:cNvSpPr/>
          <p:nvPr/>
        </p:nvSpPr>
        <p:spPr>
          <a:xfrm>
            <a:off x="4855464" y="3017520"/>
            <a:ext cx="3794760" cy="182880"/>
          </a:xfrm>
          <a:prstGeom prst="rect">
            <a:avLst/>
          </a:prstGeom>
          <a:noFill/>
          <a:ln/>
        </p:spPr>
        <p:txBody>
          <a:bodyPr wrap="square" lIns="0" tIns="0" rIns="0" bIns="0" rtlCol="0" anchor="t"/>
          <a:lstStyle/>
          <a:p>
            <a:pPr marL="0" indent="0" algn="l">
              <a:buNone/>
            </a:pPr>
            <a:r>
              <a:rPr lang="en-US" sz="1050" b="1" dirty="0">
                <a:solidFill>
                  <a:srgbClr val="C8102E"/>
                </a:solidFill>
                <a:latin typeface="Courier New" pitchFamily="34" charset="0"/>
                <a:ea typeface="Courier New" pitchFamily="34" charset="-122"/>
                <a:cs typeface="Courier New" pitchFamily="34" charset="-120"/>
              </a:rPr>
              <a:t>  β_j = (r_{j+1}, r_{j+1}) / (r_j, r_j)</a:t>
            </a:r>
            <a:endParaRPr lang="en-US" sz="1050" dirty="0"/>
          </a:p>
        </p:txBody>
      </p:sp>
      <p:sp>
        <p:nvSpPr>
          <p:cNvPr id="29" name="Shape 27"/>
          <p:cNvSpPr/>
          <p:nvPr/>
        </p:nvSpPr>
        <p:spPr>
          <a:xfrm>
            <a:off x="320040" y="3310128"/>
            <a:ext cx="8503920" cy="777240"/>
          </a:xfrm>
          <a:prstGeom prst="roundRect">
            <a:avLst>
              <a:gd name="adj" fmla="val 7059"/>
            </a:avLst>
          </a:prstGeom>
          <a:solidFill>
            <a:srgbClr val="F4F6FA"/>
          </a:solidFill>
          <a:ln w="12700">
            <a:solidFill>
              <a:srgbClr val="DDE3EF"/>
            </a:solidFill>
            <a:prstDash val="solid"/>
          </a:ln>
        </p:spPr>
        <p:txBody>
          <a:bodyPr/>
          <a:lstStyle/>
          <a:p>
            <a:endParaRPr lang="en-NG"/>
          </a:p>
        </p:txBody>
      </p:sp>
      <p:sp>
        <p:nvSpPr>
          <p:cNvPr id="30" name="Text 28"/>
          <p:cNvSpPr/>
          <p:nvPr/>
        </p:nvSpPr>
        <p:spPr>
          <a:xfrm>
            <a:off x="429768" y="3355848"/>
            <a:ext cx="4160520" cy="274320"/>
          </a:xfrm>
          <a:prstGeom prst="rect">
            <a:avLst/>
          </a:prstGeom>
          <a:noFill/>
          <a:ln/>
        </p:spPr>
        <p:txBody>
          <a:bodyPr wrap="square" lIns="63500" tIns="63500" rIns="63500" bIns="63500" rtlCol="0" anchor="t"/>
          <a:lstStyle/>
          <a:p>
            <a:pPr marL="0" indent="0" algn="l">
              <a:buNone/>
            </a:pPr>
            <a:r>
              <a:rPr lang="en-US" sz="1100" b="1" dirty="0">
                <a:solidFill>
                  <a:srgbClr val="003087"/>
                </a:solidFill>
                <a:latin typeface="Cambria" pitchFamily="34" charset="0"/>
                <a:ea typeface="Cambria" pitchFamily="34" charset="-122"/>
                <a:cs typeface="Cambria" pitchFamily="34" charset="-120"/>
              </a:rPr>
              <a:t>What α_j means:</a:t>
            </a:r>
            <a:endParaRPr lang="en-US" sz="1100" dirty="0"/>
          </a:p>
        </p:txBody>
      </p:sp>
      <p:sp>
        <p:nvSpPr>
          <p:cNvPr id="31" name="Text 29"/>
          <p:cNvSpPr/>
          <p:nvPr/>
        </p:nvSpPr>
        <p:spPr>
          <a:xfrm>
            <a:off x="429768" y="3639312"/>
            <a:ext cx="4160520" cy="402336"/>
          </a:xfrm>
          <a:prstGeom prst="rect">
            <a:avLst/>
          </a:prstGeom>
          <a:noFill/>
          <a:ln/>
        </p:spPr>
        <p:txBody>
          <a:bodyPr wrap="square" lIns="63500" tIns="63500" rIns="63500" bIns="63500" rtlCol="0" anchor="t"/>
          <a:lstStyle/>
          <a:p>
            <a:pPr marL="0" indent="0" algn="l">
              <a:buNone/>
            </a:pPr>
            <a:r>
              <a:rPr lang="en-US" sz="1050" dirty="0">
                <a:solidFill>
                  <a:srgbClr val="1A1A2E"/>
                </a:solidFill>
                <a:latin typeface="Arial" pitchFamily="34" charset="0"/>
                <a:ea typeface="Arial" pitchFamily="34" charset="-122"/>
                <a:cs typeface="Arial" pitchFamily="34" charset="-120"/>
              </a:rPr>
              <a:t>α_j is the optimal step length that minimises the A-norm of the error along direction p_j. It is the exact minimiser — no line search needed.</a:t>
            </a:r>
            <a:endParaRPr lang="en-US" sz="1050" dirty="0"/>
          </a:p>
        </p:txBody>
      </p:sp>
      <p:sp>
        <p:nvSpPr>
          <p:cNvPr id="32" name="Text 30"/>
          <p:cNvSpPr/>
          <p:nvPr/>
        </p:nvSpPr>
        <p:spPr>
          <a:xfrm>
            <a:off x="4727448" y="3355848"/>
            <a:ext cx="4096512" cy="274320"/>
          </a:xfrm>
          <a:prstGeom prst="rect">
            <a:avLst/>
          </a:prstGeom>
          <a:noFill/>
          <a:ln/>
        </p:spPr>
        <p:txBody>
          <a:bodyPr wrap="square" lIns="63500" tIns="63500" rIns="63500" bIns="63500" rtlCol="0" anchor="t"/>
          <a:lstStyle/>
          <a:p>
            <a:pPr marL="0" indent="0" algn="l">
              <a:buNone/>
            </a:pPr>
            <a:r>
              <a:rPr lang="en-US" sz="1100" b="1" dirty="0">
                <a:solidFill>
                  <a:srgbClr val="003087"/>
                </a:solidFill>
                <a:latin typeface="Cambria" pitchFamily="34" charset="0"/>
                <a:ea typeface="Cambria" pitchFamily="34" charset="-122"/>
                <a:cs typeface="Cambria" pitchFamily="34" charset="-120"/>
              </a:rPr>
              <a:t>What β_j means:</a:t>
            </a:r>
            <a:endParaRPr lang="en-US" sz="1100" dirty="0"/>
          </a:p>
        </p:txBody>
      </p:sp>
      <p:sp>
        <p:nvSpPr>
          <p:cNvPr id="33" name="Text 31"/>
          <p:cNvSpPr/>
          <p:nvPr/>
        </p:nvSpPr>
        <p:spPr>
          <a:xfrm>
            <a:off x="4727448" y="3639312"/>
            <a:ext cx="4096512" cy="402336"/>
          </a:xfrm>
          <a:prstGeom prst="rect">
            <a:avLst/>
          </a:prstGeom>
          <a:noFill/>
          <a:ln/>
        </p:spPr>
        <p:txBody>
          <a:bodyPr wrap="square" lIns="63500" tIns="63500" rIns="63500" bIns="63500" rtlCol="0" anchor="t"/>
          <a:lstStyle/>
          <a:p>
            <a:pPr marL="0" indent="0" algn="l">
              <a:buNone/>
            </a:pPr>
            <a:r>
              <a:rPr lang="en-US" sz="1050" dirty="0">
                <a:solidFill>
                  <a:srgbClr val="1A1A2E"/>
                </a:solidFill>
                <a:latin typeface="Arial" pitchFamily="34" charset="0"/>
                <a:ea typeface="Arial" pitchFamily="34" charset="-122"/>
                <a:cs typeface="Arial" pitchFamily="34" charset="-120"/>
              </a:rPr>
              <a:t>β_j ensures the new direction p_{j+1} is A-conjugate to ALL previous directions simultaneously, not just the last one.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3087"/>
          </a:solidFill>
          <a:ln w="12700">
            <a:solidFill>
              <a:srgbClr val="003087"/>
            </a:solidFill>
            <a:prstDash val="solid"/>
          </a:ln>
        </p:spPr>
        <p:txBody>
          <a:bodyPr/>
          <a:lstStyle/>
          <a:p>
            <a:endParaRPr lang="en-NG"/>
          </a:p>
        </p:txBody>
      </p:sp>
      <p:sp>
        <p:nvSpPr>
          <p:cNvPr id="3" name="Text 1"/>
          <p:cNvSpPr/>
          <p:nvPr/>
        </p:nvSpPr>
        <p:spPr>
          <a:xfrm>
            <a:off x="320040" y="54864"/>
            <a:ext cx="7589520" cy="530352"/>
          </a:xfrm>
          <a:prstGeom prst="rect">
            <a:avLst/>
          </a:prstGeom>
          <a:noFill/>
          <a:ln/>
        </p:spPr>
        <p:txBody>
          <a:bodyPr wrap="square" lIns="50800" tIns="50800" rIns="50800" bIns="50800" rtlCol="0" anchor="ctr"/>
          <a:lstStyle/>
          <a:p>
            <a:pPr marL="0" indent="0" algn="l">
              <a:buNone/>
            </a:pPr>
            <a:r>
              <a:rPr lang="en-US" sz="1900" b="1" dirty="0">
                <a:solidFill>
                  <a:srgbClr val="FFFFFF"/>
                </a:solidFill>
                <a:latin typeface="Cambria" pitchFamily="34" charset="0"/>
                <a:ea typeface="Cambria" pitchFamily="34" charset="-122"/>
                <a:cs typeface="Cambria" pitchFamily="34" charset="-120"/>
              </a:rPr>
              <a:t>9.  CG Algorithm — Five Recursions (Hestenes &amp; Stiefel, 1952)</a:t>
            </a:r>
            <a:endParaRPr lang="en-US" sz="1900" dirty="0"/>
          </a:p>
        </p:txBody>
      </p:sp>
      <p:sp>
        <p:nvSpPr>
          <p:cNvPr id="4" name="Text 2"/>
          <p:cNvSpPr/>
          <p:nvPr/>
        </p:nvSpPr>
        <p:spPr>
          <a:xfrm>
            <a:off x="8138160" y="54864"/>
            <a:ext cx="640080" cy="530352"/>
          </a:xfrm>
          <a:prstGeom prst="rect">
            <a:avLst/>
          </a:prstGeom>
          <a:noFill/>
          <a:ln/>
        </p:spPr>
        <p:txBody>
          <a:bodyPr wrap="square" lIns="25400" tIns="25400" rIns="25400" bIns="25400" rtlCol="0" anchor="ctr"/>
          <a:lstStyle/>
          <a:p>
            <a:pPr marL="0" indent="0" algn="r">
              <a:buNone/>
            </a:pPr>
            <a:r>
              <a:rPr lang="en-US" sz="1000" dirty="0">
                <a:solidFill>
                  <a:srgbClr val="AAC0E8"/>
                </a:solidFill>
                <a:latin typeface="Arial" pitchFamily="34" charset="0"/>
                <a:ea typeface="Arial" pitchFamily="34" charset="-122"/>
                <a:cs typeface="Arial" pitchFamily="34" charset="-120"/>
              </a:rPr>
              <a:t>9 / 20</a:t>
            </a:r>
            <a:endParaRPr lang="en-US" sz="1000" dirty="0"/>
          </a:p>
        </p:txBody>
      </p:sp>
      <p:sp>
        <p:nvSpPr>
          <p:cNvPr id="5" name="Shape 3"/>
          <p:cNvSpPr/>
          <p:nvPr/>
        </p:nvSpPr>
        <p:spPr>
          <a:xfrm>
            <a:off x="0" y="640080"/>
            <a:ext cx="9144000" cy="45720"/>
          </a:xfrm>
          <a:prstGeom prst="rect">
            <a:avLst/>
          </a:prstGeom>
          <a:solidFill>
            <a:srgbClr val="C8102E"/>
          </a:solidFill>
          <a:ln w="12700">
            <a:solidFill>
              <a:srgbClr val="C8102E"/>
            </a:solidFill>
            <a:prstDash val="solid"/>
          </a:ln>
        </p:spPr>
        <p:txBody>
          <a:bodyPr/>
          <a:lstStyle/>
          <a:p>
            <a:endParaRPr lang="en-NG"/>
          </a:p>
        </p:txBody>
      </p:sp>
      <p:sp>
        <p:nvSpPr>
          <p:cNvPr id="6" name="Text 4"/>
          <p:cNvSpPr/>
          <p:nvPr/>
        </p:nvSpPr>
        <p:spPr>
          <a:xfrm>
            <a:off x="320040" y="749808"/>
            <a:ext cx="8503920" cy="320040"/>
          </a:xfrm>
          <a:prstGeom prst="rect">
            <a:avLst/>
          </a:prstGeom>
          <a:noFill/>
          <a:ln/>
        </p:spPr>
        <p:txBody>
          <a:bodyPr wrap="square" lIns="25400" tIns="25400" rIns="25400" bIns="25400" rtlCol="0" anchor="t"/>
          <a:lstStyle/>
          <a:p>
            <a:pPr marL="0" indent="0" algn="l">
              <a:buNone/>
            </a:pPr>
            <a:r>
              <a:rPr lang="en-US" sz="1100" dirty="0">
                <a:solidFill>
                  <a:srgbClr val="1A1A2E"/>
                </a:solidFill>
                <a:latin typeface="Arial" pitchFamily="34" charset="0"/>
                <a:ea typeface="Arial" pitchFamily="34" charset="-122"/>
                <a:cs typeface="Arial" pitchFamily="34" charset="-120"/>
              </a:rPr>
              <a:t>Reference: Nasedkina (2026, Lecture 14) and Saad (2003, p. 199). Input: A (SPD), b, x₀ (initial guess), ε (tolerance), k_max.</a:t>
            </a:r>
            <a:endParaRPr lang="en-US" sz="1100" dirty="0"/>
          </a:p>
        </p:txBody>
      </p:sp>
      <p:sp>
        <p:nvSpPr>
          <p:cNvPr id="7" name="Shape 5"/>
          <p:cNvSpPr/>
          <p:nvPr/>
        </p:nvSpPr>
        <p:spPr>
          <a:xfrm>
            <a:off x="320040" y="1115568"/>
            <a:ext cx="8503920" cy="2743200"/>
          </a:xfrm>
          <a:prstGeom prst="roundRect">
            <a:avLst>
              <a:gd name="adj" fmla="val 2000"/>
            </a:avLst>
          </a:prstGeom>
          <a:solidFill>
            <a:srgbClr val="F4F6FA"/>
          </a:solidFill>
          <a:ln w="15240">
            <a:solidFill>
              <a:srgbClr val="003087"/>
            </a:solidFill>
            <a:prstDash val="solid"/>
          </a:ln>
        </p:spPr>
        <p:txBody>
          <a:bodyPr/>
          <a:lstStyle/>
          <a:p>
            <a:endParaRPr lang="en-NG"/>
          </a:p>
        </p:txBody>
      </p:sp>
      <p:sp>
        <p:nvSpPr>
          <p:cNvPr id="8" name="Text 6"/>
          <p:cNvSpPr/>
          <p:nvPr/>
        </p:nvSpPr>
        <p:spPr>
          <a:xfrm>
            <a:off x="457200" y="1161288"/>
            <a:ext cx="8229600" cy="274320"/>
          </a:xfrm>
          <a:prstGeom prst="rect">
            <a:avLst/>
          </a:prstGeom>
          <a:noFill/>
          <a:ln/>
        </p:spPr>
        <p:txBody>
          <a:bodyPr wrap="square" lIns="63500" tIns="63500" rIns="63500" bIns="63500" rtlCol="0" anchor="t"/>
          <a:lstStyle/>
          <a:p>
            <a:pPr marL="0" indent="0" algn="l">
              <a:buNone/>
            </a:pPr>
            <a:r>
              <a:rPr lang="en-US" sz="1200" b="1" dirty="0">
                <a:solidFill>
                  <a:srgbClr val="003087"/>
                </a:solidFill>
                <a:latin typeface="Cambria" pitchFamily="34" charset="0"/>
                <a:ea typeface="Cambria" pitchFamily="34" charset="-122"/>
                <a:cs typeface="Cambria" pitchFamily="34" charset="-120"/>
              </a:rPr>
              <a:t>Algorithm: Conjugate Gradient (CG)</a:t>
            </a:r>
            <a:endParaRPr lang="en-US" sz="1200" dirty="0"/>
          </a:p>
        </p:txBody>
      </p:sp>
      <p:sp>
        <p:nvSpPr>
          <p:cNvPr id="9" name="Text 7"/>
          <p:cNvSpPr/>
          <p:nvPr/>
        </p:nvSpPr>
        <p:spPr>
          <a:xfrm>
            <a:off x="484632" y="1481328"/>
            <a:ext cx="8174736" cy="192024"/>
          </a:xfrm>
          <a:prstGeom prst="rect">
            <a:avLst/>
          </a:prstGeom>
          <a:noFill/>
          <a:ln/>
        </p:spPr>
        <p:txBody>
          <a:bodyPr wrap="square" lIns="0" tIns="0" rIns="0" bIns="0" rtlCol="0" anchor="t"/>
          <a:lstStyle/>
          <a:p>
            <a:pPr marL="0" indent="0" algn="l">
              <a:buNone/>
            </a:pPr>
            <a:r>
              <a:rPr lang="en-US" sz="1050" dirty="0">
                <a:solidFill>
                  <a:srgbClr val="6B7C99"/>
                </a:solidFill>
                <a:latin typeface="Courier New" pitchFamily="34" charset="0"/>
                <a:ea typeface="Courier New" pitchFamily="34" charset="-122"/>
                <a:cs typeface="Courier New" pitchFamily="34" charset="-120"/>
              </a:rPr>
              <a:t>r₀ ← b − A x₀ ;   p₀ ← r₀ ;   k ← 0</a:t>
            </a:r>
            <a:endParaRPr lang="en-US" sz="1050" dirty="0"/>
          </a:p>
        </p:txBody>
      </p:sp>
      <p:sp>
        <p:nvSpPr>
          <p:cNvPr id="10" name="Text 8"/>
          <p:cNvSpPr/>
          <p:nvPr/>
        </p:nvSpPr>
        <p:spPr>
          <a:xfrm>
            <a:off x="484632" y="1883664"/>
            <a:ext cx="8174736" cy="192024"/>
          </a:xfrm>
          <a:prstGeom prst="rect">
            <a:avLst/>
          </a:prstGeom>
          <a:noFill/>
          <a:ln/>
        </p:spPr>
        <p:txBody>
          <a:bodyPr wrap="square" lIns="0" tIns="0" rIns="0" bIns="0" rtlCol="0" anchor="t"/>
          <a:lstStyle/>
          <a:p>
            <a:pPr marL="0" indent="0" algn="l">
              <a:buNone/>
            </a:pPr>
            <a:r>
              <a:rPr lang="en-US" sz="1050" dirty="0">
                <a:solidFill>
                  <a:srgbClr val="1A1A2E"/>
                </a:solidFill>
                <a:latin typeface="Courier New" pitchFamily="34" charset="0"/>
                <a:ea typeface="Courier New" pitchFamily="34" charset="-122"/>
                <a:cs typeface="Courier New" pitchFamily="34" charset="-120"/>
              </a:rPr>
              <a:t>while  ‖r_k‖ / ‖b‖ &gt; ε  and  k &lt; k_max  do:</a:t>
            </a:r>
            <a:endParaRPr lang="en-US" sz="1050" dirty="0"/>
          </a:p>
        </p:txBody>
      </p:sp>
      <p:sp>
        <p:nvSpPr>
          <p:cNvPr id="11" name="Text 9"/>
          <p:cNvSpPr/>
          <p:nvPr/>
        </p:nvSpPr>
        <p:spPr>
          <a:xfrm>
            <a:off x="484632" y="2286000"/>
            <a:ext cx="8174736" cy="192024"/>
          </a:xfrm>
          <a:prstGeom prst="rect">
            <a:avLst/>
          </a:prstGeom>
          <a:noFill/>
          <a:ln/>
        </p:spPr>
        <p:txBody>
          <a:bodyPr wrap="square" lIns="0" tIns="0" rIns="0" bIns="0" rtlCol="0" anchor="t"/>
          <a:lstStyle/>
          <a:p>
            <a:pPr marL="0" indent="0" algn="l">
              <a:buNone/>
            </a:pPr>
            <a:r>
              <a:rPr lang="en-US" sz="1050" dirty="0">
                <a:solidFill>
                  <a:srgbClr val="1A1A2E"/>
                </a:solidFill>
                <a:latin typeface="Courier New" pitchFamily="34" charset="0"/>
                <a:ea typeface="Courier New" pitchFamily="34" charset="-122"/>
                <a:cs typeface="Courier New" pitchFamily="34" charset="-120"/>
              </a:rPr>
              <a:t>    α_k  ←  (r_k, r_k) / (A p_k, p_k)         ←  optimal step length</a:t>
            </a:r>
            <a:endParaRPr lang="en-US" sz="1050" dirty="0"/>
          </a:p>
        </p:txBody>
      </p:sp>
      <p:sp>
        <p:nvSpPr>
          <p:cNvPr id="12" name="Text 10"/>
          <p:cNvSpPr/>
          <p:nvPr/>
        </p:nvSpPr>
        <p:spPr>
          <a:xfrm>
            <a:off x="484632" y="2487168"/>
            <a:ext cx="8174736" cy="192024"/>
          </a:xfrm>
          <a:prstGeom prst="rect">
            <a:avLst/>
          </a:prstGeom>
          <a:noFill/>
          <a:ln/>
        </p:spPr>
        <p:txBody>
          <a:bodyPr wrap="square" lIns="0" tIns="0" rIns="0" bIns="0" rtlCol="0" anchor="t"/>
          <a:lstStyle/>
          <a:p>
            <a:pPr marL="0" indent="0" algn="l">
              <a:buNone/>
            </a:pPr>
            <a:r>
              <a:rPr lang="en-US" sz="1050" dirty="0">
                <a:solidFill>
                  <a:srgbClr val="1A1A2E"/>
                </a:solidFill>
                <a:latin typeface="Courier New" pitchFamily="34" charset="0"/>
                <a:ea typeface="Courier New" pitchFamily="34" charset="-122"/>
                <a:cs typeface="Courier New" pitchFamily="34" charset="-120"/>
              </a:rPr>
              <a:t>    x_{k+1}  ←  x_k + α_k · p_k              ←  update solution</a:t>
            </a:r>
            <a:endParaRPr lang="en-US" sz="1050" dirty="0"/>
          </a:p>
        </p:txBody>
      </p:sp>
      <p:sp>
        <p:nvSpPr>
          <p:cNvPr id="13" name="Text 11"/>
          <p:cNvSpPr/>
          <p:nvPr/>
        </p:nvSpPr>
        <p:spPr>
          <a:xfrm>
            <a:off x="484632" y="2688336"/>
            <a:ext cx="8174736" cy="192024"/>
          </a:xfrm>
          <a:prstGeom prst="rect">
            <a:avLst/>
          </a:prstGeom>
          <a:noFill/>
          <a:ln/>
        </p:spPr>
        <p:txBody>
          <a:bodyPr wrap="square" lIns="0" tIns="0" rIns="0" bIns="0" rtlCol="0" anchor="t"/>
          <a:lstStyle/>
          <a:p>
            <a:pPr marL="0" indent="0" algn="l">
              <a:buNone/>
            </a:pPr>
            <a:r>
              <a:rPr lang="en-US" sz="1050" dirty="0">
                <a:solidFill>
                  <a:srgbClr val="1A1A2E"/>
                </a:solidFill>
                <a:latin typeface="Courier New" pitchFamily="34" charset="0"/>
                <a:ea typeface="Courier New" pitchFamily="34" charset="-122"/>
                <a:cs typeface="Courier New" pitchFamily="34" charset="-120"/>
              </a:rPr>
              <a:t>    r_{k+1}  ←  r_k − α_k · A · p_k         ←  update residual</a:t>
            </a:r>
            <a:endParaRPr lang="en-US" sz="1050" dirty="0"/>
          </a:p>
        </p:txBody>
      </p:sp>
      <p:sp>
        <p:nvSpPr>
          <p:cNvPr id="14" name="Text 12"/>
          <p:cNvSpPr/>
          <p:nvPr/>
        </p:nvSpPr>
        <p:spPr>
          <a:xfrm>
            <a:off x="484632" y="2889504"/>
            <a:ext cx="8174736" cy="192024"/>
          </a:xfrm>
          <a:prstGeom prst="rect">
            <a:avLst/>
          </a:prstGeom>
          <a:noFill/>
          <a:ln/>
        </p:spPr>
        <p:txBody>
          <a:bodyPr wrap="square" lIns="0" tIns="0" rIns="0" bIns="0" rtlCol="0" anchor="t"/>
          <a:lstStyle/>
          <a:p>
            <a:pPr marL="0" indent="0" algn="l">
              <a:buNone/>
            </a:pPr>
            <a:r>
              <a:rPr lang="en-US" sz="1050" dirty="0">
                <a:solidFill>
                  <a:srgbClr val="1B6B3A"/>
                </a:solidFill>
                <a:latin typeface="Courier New" pitchFamily="34" charset="0"/>
                <a:ea typeface="Courier New" pitchFamily="34" charset="-122"/>
                <a:cs typeface="Courier New" pitchFamily="34" charset="-120"/>
              </a:rPr>
              <a:t>    if  ‖r_{k+1}‖ / ‖b‖ ≤ ε  then  break</a:t>
            </a:r>
            <a:endParaRPr lang="en-US" sz="1050" dirty="0"/>
          </a:p>
        </p:txBody>
      </p:sp>
      <p:sp>
        <p:nvSpPr>
          <p:cNvPr id="15" name="Text 13"/>
          <p:cNvSpPr/>
          <p:nvPr/>
        </p:nvSpPr>
        <p:spPr>
          <a:xfrm>
            <a:off x="484632" y="3090672"/>
            <a:ext cx="8174736" cy="192024"/>
          </a:xfrm>
          <a:prstGeom prst="rect">
            <a:avLst/>
          </a:prstGeom>
          <a:noFill/>
          <a:ln/>
        </p:spPr>
        <p:txBody>
          <a:bodyPr wrap="square" lIns="0" tIns="0" rIns="0" bIns="0" rtlCol="0" anchor="t"/>
          <a:lstStyle/>
          <a:p>
            <a:pPr marL="0" indent="0" algn="l">
              <a:buNone/>
            </a:pPr>
            <a:r>
              <a:rPr lang="en-US" sz="1050" dirty="0">
                <a:solidFill>
                  <a:srgbClr val="1A1A2E"/>
                </a:solidFill>
                <a:latin typeface="Courier New" pitchFamily="34" charset="0"/>
                <a:ea typeface="Courier New" pitchFamily="34" charset="-122"/>
                <a:cs typeface="Courier New" pitchFamily="34" charset="-120"/>
              </a:rPr>
              <a:t>    β_k  ←  (r_{k+1}, r_{k+1}) / (r_k, r_k)   ←  direction scalar</a:t>
            </a:r>
            <a:endParaRPr lang="en-US" sz="1050" dirty="0"/>
          </a:p>
        </p:txBody>
      </p:sp>
      <p:sp>
        <p:nvSpPr>
          <p:cNvPr id="16" name="Text 14"/>
          <p:cNvSpPr/>
          <p:nvPr/>
        </p:nvSpPr>
        <p:spPr>
          <a:xfrm>
            <a:off x="484632" y="3291840"/>
            <a:ext cx="8174736" cy="192024"/>
          </a:xfrm>
          <a:prstGeom prst="rect">
            <a:avLst/>
          </a:prstGeom>
          <a:noFill/>
          <a:ln/>
        </p:spPr>
        <p:txBody>
          <a:bodyPr wrap="square" lIns="0" tIns="0" rIns="0" bIns="0" rtlCol="0" anchor="t"/>
          <a:lstStyle/>
          <a:p>
            <a:pPr marL="0" indent="0" algn="l">
              <a:buNone/>
            </a:pPr>
            <a:r>
              <a:rPr lang="en-US" sz="1050" dirty="0">
                <a:solidFill>
                  <a:srgbClr val="1A1A2E"/>
                </a:solidFill>
                <a:latin typeface="Courier New" pitchFamily="34" charset="0"/>
                <a:ea typeface="Courier New" pitchFamily="34" charset="-122"/>
                <a:cs typeface="Courier New" pitchFamily="34" charset="-120"/>
              </a:rPr>
              <a:t>    p_{k+1}  ←  r_{k+1} + β_k · p_k          ←  new A-conjugate direction</a:t>
            </a:r>
            <a:endParaRPr lang="en-US" sz="1050" dirty="0"/>
          </a:p>
        </p:txBody>
      </p:sp>
      <p:sp>
        <p:nvSpPr>
          <p:cNvPr id="17" name="Text 15"/>
          <p:cNvSpPr/>
          <p:nvPr/>
        </p:nvSpPr>
        <p:spPr>
          <a:xfrm>
            <a:off x="484632" y="3493008"/>
            <a:ext cx="8174736" cy="192024"/>
          </a:xfrm>
          <a:prstGeom prst="rect">
            <a:avLst/>
          </a:prstGeom>
          <a:noFill/>
          <a:ln/>
        </p:spPr>
        <p:txBody>
          <a:bodyPr wrap="square" lIns="0" tIns="0" rIns="0" bIns="0" rtlCol="0" anchor="t"/>
          <a:lstStyle/>
          <a:p>
            <a:pPr marL="0" indent="0" algn="l">
              <a:buNone/>
            </a:pPr>
            <a:r>
              <a:rPr lang="en-US" sz="1050" dirty="0">
                <a:solidFill>
                  <a:srgbClr val="1A1A2E"/>
                </a:solidFill>
                <a:latin typeface="Courier New" pitchFamily="34" charset="0"/>
                <a:ea typeface="Courier New" pitchFamily="34" charset="-122"/>
                <a:cs typeface="Courier New" pitchFamily="34" charset="-120"/>
              </a:rPr>
              <a:t>    k  ←  k + 1</a:t>
            </a:r>
            <a:endParaRPr lang="en-US" sz="1050" dirty="0"/>
          </a:p>
        </p:txBody>
      </p:sp>
      <p:sp>
        <p:nvSpPr>
          <p:cNvPr id="18" name="Text 16"/>
          <p:cNvSpPr/>
          <p:nvPr/>
        </p:nvSpPr>
        <p:spPr>
          <a:xfrm>
            <a:off x="484632" y="3694176"/>
            <a:ext cx="8174736" cy="192024"/>
          </a:xfrm>
          <a:prstGeom prst="rect">
            <a:avLst/>
          </a:prstGeom>
          <a:noFill/>
          <a:ln/>
        </p:spPr>
        <p:txBody>
          <a:bodyPr wrap="square" lIns="0" tIns="0" rIns="0" bIns="0" rtlCol="0" anchor="t"/>
          <a:lstStyle/>
          <a:p>
            <a:pPr marL="0" indent="0" algn="l">
              <a:buNone/>
            </a:pPr>
            <a:r>
              <a:rPr lang="en-US" sz="1050" dirty="0">
                <a:solidFill>
                  <a:srgbClr val="1A1A2E"/>
                </a:solidFill>
                <a:latin typeface="Courier New" pitchFamily="34" charset="0"/>
                <a:ea typeface="Courier New" pitchFamily="34" charset="-122"/>
                <a:cs typeface="Courier New" pitchFamily="34" charset="-120"/>
              </a:rPr>
              <a:t>end while</a:t>
            </a:r>
            <a:endParaRPr lang="en-US" sz="1050" dirty="0"/>
          </a:p>
        </p:txBody>
      </p:sp>
      <p:sp>
        <p:nvSpPr>
          <p:cNvPr id="19" name="Shape 17"/>
          <p:cNvSpPr/>
          <p:nvPr/>
        </p:nvSpPr>
        <p:spPr>
          <a:xfrm>
            <a:off x="320040" y="3950208"/>
            <a:ext cx="1993392" cy="804672"/>
          </a:xfrm>
          <a:prstGeom prst="roundRect">
            <a:avLst>
              <a:gd name="adj" fmla="val 6818"/>
            </a:avLst>
          </a:prstGeom>
          <a:solidFill>
            <a:srgbClr val="EBF0FA"/>
          </a:solidFill>
          <a:ln w="12700">
            <a:solidFill>
              <a:srgbClr val="003087"/>
            </a:solidFill>
            <a:prstDash val="solid"/>
          </a:ln>
        </p:spPr>
        <p:txBody>
          <a:bodyPr/>
          <a:lstStyle/>
          <a:p>
            <a:endParaRPr lang="en-NG"/>
          </a:p>
        </p:txBody>
      </p:sp>
      <p:sp>
        <p:nvSpPr>
          <p:cNvPr id="20" name="Text 18"/>
          <p:cNvSpPr/>
          <p:nvPr/>
        </p:nvSpPr>
        <p:spPr>
          <a:xfrm>
            <a:off x="411480" y="3986784"/>
            <a:ext cx="1810512" cy="237744"/>
          </a:xfrm>
          <a:prstGeom prst="rect">
            <a:avLst/>
          </a:prstGeom>
          <a:noFill/>
          <a:ln/>
        </p:spPr>
        <p:txBody>
          <a:bodyPr wrap="square" lIns="63500" tIns="63500" rIns="63500" bIns="63500" rtlCol="0" anchor="t"/>
          <a:lstStyle/>
          <a:p>
            <a:pPr marL="0" indent="0" algn="l">
              <a:buNone/>
            </a:pPr>
            <a:r>
              <a:rPr lang="en-US" sz="1050" b="1" dirty="0">
                <a:solidFill>
                  <a:srgbClr val="003087"/>
                </a:solidFill>
                <a:latin typeface="Cambria" pitchFamily="34" charset="0"/>
                <a:ea typeface="Cambria" pitchFamily="34" charset="-122"/>
                <a:cs typeface="Cambria" pitchFamily="34" charset="-120"/>
              </a:rPr>
              <a:t>Requirement</a:t>
            </a:r>
            <a:endParaRPr lang="en-US" sz="1050" dirty="0"/>
          </a:p>
        </p:txBody>
      </p:sp>
      <p:sp>
        <p:nvSpPr>
          <p:cNvPr id="21" name="Text 19"/>
          <p:cNvSpPr/>
          <p:nvPr/>
        </p:nvSpPr>
        <p:spPr>
          <a:xfrm>
            <a:off x="411480" y="4233672"/>
            <a:ext cx="1810512" cy="475488"/>
          </a:xfrm>
          <a:prstGeom prst="rect">
            <a:avLst/>
          </a:prstGeom>
          <a:noFill/>
          <a:ln/>
        </p:spPr>
        <p:txBody>
          <a:bodyPr wrap="square" lIns="63500" tIns="63500" rIns="63500" bIns="63500" rtlCol="0" anchor="t"/>
          <a:lstStyle/>
          <a:p>
            <a:pPr marL="0" indent="0" algn="l">
              <a:buNone/>
            </a:pPr>
            <a:r>
              <a:rPr lang="en-US" sz="950" dirty="0">
                <a:solidFill>
                  <a:srgbClr val="1A1A2E"/>
                </a:solidFill>
                <a:latin typeface="Arial" pitchFamily="34" charset="0"/>
                <a:ea typeface="Arial" pitchFamily="34" charset="-122"/>
                <a:cs typeface="Arial" pitchFamily="34" charset="-120"/>
              </a:rPr>
              <a:t>A must be SPD: symmetric and all eigenvalues &gt; 0</a:t>
            </a:r>
            <a:endParaRPr lang="en-US" sz="950" dirty="0"/>
          </a:p>
        </p:txBody>
      </p:sp>
      <p:sp>
        <p:nvSpPr>
          <p:cNvPr id="22" name="Shape 20"/>
          <p:cNvSpPr/>
          <p:nvPr/>
        </p:nvSpPr>
        <p:spPr>
          <a:xfrm>
            <a:off x="2450592" y="3950208"/>
            <a:ext cx="1993392" cy="804672"/>
          </a:xfrm>
          <a:prstGeom prst="roundRect">
            <a:avLst>
              <a:gd name="adj" fmla="val 6818"/>
            </a:avLst>
          </a:prstGeom>
          <a:solidFill>
            <a:srgbClr val="EBF0FA"/>
          </a:solidFill>
          <a:ln w="12700">
            <a:solidFill>
              <a:srgbClr val="003087"/>
            </a:solidFill>
            <a:prstDash val="solid"/>
          </a:ln>
        </p:spPr>
        <p:txBody>
          <a:bodyPr/>
          <a:lstStyle/>
          <a:p>
            <a:endParaRPr lang="en-NG"/>
          </a:p>
        </p:txBody>
      </p:sp>
      <p:sp>
        <p:nvSpPr>
          <p:cNvPr id="23" name="Text 21"/>
          <p:cNvSpPr/>
          <p:nvPr/>
        </p:nvSpPr>
        <p:spPr>
          <a:xfrm>
            <a:off x="2542032" y="3986784"/>
            <a:ext cx="1810512" cy="237744"/>
          </a:xfrm>
          <a:prstGeom prst="rect">
            <a:avLst/>
          </a:prstGeom>
          <a:noFill/>
          <a:ln/>
        </p:spPr>
        <p:txBody>
          <a:bodyPr wrap="square" lIns="63500" tIns="63500" rIns="63500" bIns="63500" rtlCol="0" anchor="t"/>
          <a:lstStyle/>
          <a:p>
            <a:pPr marL="0" indent="0" algn="l">
              <a:buNone/>
            </a:pPr>
            <a:r>
              <a:rPr lang="en-US" sz="1050" b="1" dirty="0">
                <a:solidFill>
                  <a:srgbClr val="003087"/>
                </a:solidFill>
                <a:latin typeface="Cambria" pitchFamily="34" charset="0"/>
                <a:ea typeface="Cambria" pitchFamily="34" charset="-122"/>
                <a:cs typeface="Cambria" pitchFamily="34" charset="-120"/>
              </a:rPr>
              <a:t>Cost/iteration</a:t>
            </a:r>
            <a:endParaRPr lang="en-US" sz="1050" dirty="0"/>
          </a:p>
        </p:txBody>
      </p:sp>
      <p:sp>
        <p:nvSpPr>
          <p:cNvPr id="24" name="Text 22"/>
          <p:cNvSpPr/>
          <p:nvPr/>
        </p:nvSpPr>
        <p:spPr>
          <a:xfrm>
            <a:off x="2542032" y="4233672"/>
            <a:ext cx="1810512" cy="475488"/>
          </a:xfrm>
          <a:prstGeom prst="rect">
            <a:avLst/>
          </a:prstGeom>
          <a:noFill/>
          <a:ln/>
        </p:spPr>
        <p:txBody>
          <a:bodyPr wrap="square" lIns="63500" tIns="63500" rIns="63500" bIns="63500" rtlCol="0" anchor="t"/>
          <a:lstStyle/>
          <a:p>
            <a:pPr marL="0" indent="0" algn="l">
              <a:buNone/>
            </a:pPr>
            <a:r>
              <a:rPr lang="en-US" sz="950" dirty="0">
                <a:solidFill>
                  <a:srgbClr val="1A1A2E"/>
                </a:solidFill>
                <a:latin typeface="Arial" pitchFamily="34" charset="0"/>
                <a:ea typeface="Arial" pitchFamily="34" charset="-122"/>
                <a:cs typeface="Arial" pitchFamily="34" charset="-120"/>
              </a:rPr>
              <a:t>1 matrix-vector product Ap: O(nnz)</a:t>
            </a:r>
            <a:endParaRPr lang="en-US" sz="950" dirty="0"/>
          </a:p>
        </p:txBody>
      </p:sp>
      <p:sp>
        <p:nvSpPr>
          <p:cNvPr id="25" name="Shape 23"/>
          <p:cNvSpPr/>
          <p:nvPr/>
        </p:nvSpPr>
        <p:spPr>
          <a:xfrm>
            <a:off x="4581144" y="3950208"/>
            <a:ext cx="1993392" cy="804672"/>
          </a:xfrm>
          <a:prstGeom prst="roundRect">
            <a:avLst>
              <a:gd name="adj" fmla="val 6818"/>
            </a:avLst>
          </a:prstGeom>
          <a:solidFill>
            <a:srgbClr val="EBF0FA"/>
          </a:solidFill>
          <a:ln w="12700">
            <a:solidFill>
              <a:srgbClr val="003087"/>
            </a:solidFill>
            <a:prstDash val="solid"/>
          </a:ln>
        </p:spPr>
        <p:txBody>
          <a:bodyPr/>
          <a:lstStyle/>
          <a:p>
            <a:endParaRPr lang="en-NG"/>
          </a:p>
        </p:txBody>
      </p:sp>
      <p:sp>
        <p:nvSpPr>
          <p:cNvPr id="26" name="Text 24"/>
          <p:cNvSpPr/>
          <p:nvPr/>
        </p:nvSpPr>
        <p:spPr>
          <a:xfrm>
            <a:off x="4672584" y="3986784"/>
            <a:ext cx="1810512" cy="237744"/>
          </a:xfrm>
          <a:prstGeom prst="rect">
            <a:avLst/>
          </a:prstGeom>
          <a:noFill/>
          <a:ln/>
        </p:spPr>
        <p:txBody>
          <a:bodyPr wrap="square" lIns="63500" tIns="63500" rIns="63500" bIns="63500" rtlCol="0" anchor="t"/>
          <a:lstStyle/>
          <a:p>
            <a:pPr marL="0" indent="0" algn="l">
              <a:buNone/>
            </a:pPr>
            <a:r>
              <a:rPr lang="en-US" sz="1050" b="1" dirty="0">
                <a:solidFill>
                  <a:srgbClr val="003087"/>
                </a:solidFill>
                <a:latin typeface="Cambria" pitchFamily="34" charset="0"/>
                <a:ea typeface="Cambria" pitchFamily="34" charset="-122"/>
                <a:cs typeface="Cambria" pitchFamily="34" charset="-120"/>
              </a:rPr>
              <a:t>Memory</a:t>
            </a:r>
            <a:endParaRPr lang="en-US" sz="1050" dirty="0"/>
          </a:p>
        </p:txBody>
      </p:sp>
      <p:sp>
        <p:nvSpPr>
          <p:cNvPr id="27" name="Text 25"/>
          <p:cNvSpPr/>
          <p:nvPr/>
        </p:nvSpPr>
        <p:spPr>
          <a:xfrm>
            <a:off x="4672584" y="4233672"/>
            <a:ext cx="1810512" cy="475488"/>
          </a:xfrm>
          <a:prstGeom prst="rect">
            <a:avLst/>
          </a:prstGeom>
          <a:noFill/>
          <a:ln/>
        </p:spPr>
        <p:txBody>
          <a:bodyPr wrap="square" lIns="63500" tIns="63500" rIns="63500" bIns="63500" rtlCol="0" anchor="t"/>
          <a:lstStyle/>
          <a:p>
            <a:pPr marL="0" indent="0" algn="l">
              <a:buNone/>
            </a:pPr>
            <a:r>
              <a:rPr lang="en-US" sz="950" dirty="0">
                <a:solidFill>
                  <a:srgbClr val="1A1A2E"/>
                </a:solidFill>
                <a:latin typeface="Arial" pitchFamily="34" charset="0"/>
                <a:ea typeface="Arial" pitchFamily="34" charset="-122"/>
                <a:cs typeface="Arial" pitchFamily="34" charset="-120"/>
              </a:rPr>
              <a:t>x, r, p, Ap — four vectors of length n only</a:t>
            </a:r>
            <a:endParaRPr lang="en-US" sz="950" dirty="0"/>
          </a:p>
        </p:txBody>
      </p:sp>
      <p:sp>
        <p:nvSpPr>
          <p:cNvPr id="28" name="Shape 26"/>
          <p:cNvSpPr/>
          <p:nvPr/>
        </p:nvSpPr>
        <p:spPr>
          <a:xfrm>
            <a:off x="6711696" y="3950208"/>
            <a:ext cx="1993392" cy="804672"/>
          </a:xfrm>
          <a:prstGeom prst="roundRect">
            <a:avLst>
              <a:gd name="adj" fmla="val 6818"/>
            </a:avLst>
          </a:prstGeom>
          <a:solidFill>
            <a:srgbClr val="EBF0FA"/>
          </a:solidFill>
          <a:ln w="12700">
            <a:solidFill>
              <a:srgbClr val="003087"/>
            </a:solidFill>
            <a:prstDash val="solid"/>
          </a:ln>
        </p:spPr>
        <p:txBody>
          <a:bodyPr/>
          <a:lstStyle/>
          <a:p>
            <a:endParaRPr lang="en-NG"/>
          </a:p>
        </p:txBody>
      </p:sp>
      <p:sp>
        <p:nvSpPr>
          <p:cNvPr id="29" name="Text 27"/>
          <p:cNvSpPr/>
          <p:nvPr/>
        </p:nvSpPr>
        <p:spPr>
          <a:xfrm>
            <a:off x="6803136" y="3986784"/>
            <a:ext cx="1810512" cy="237744"/>
          </a:xfrm>
          <a:prstGeom prst="rect">
            <a:avLst/>
          </a:prstGeom>
          <a:noFill/>
          <a:ln/>
        </p:spPr>
        <p:txBody>
          <a:bodyPr wrap="square" lIns="63500" tIns="63500" rIns="63500" bIns="63500" rtlCol="0" anchor="t"/>
          <a:lstStyle/>
          <a:p>
            <a:pPr marL="0" indent="0" algn="l">
              <a:buNone/>
            </a:pPr>
            <a:r>
              <a:rPr lang="en-US" sz="1050" b="1" dirty="0">
                <a:solidFill>
                  <a:srgbClr val="003087"/>
                </a:solidFill>
                <a:latin typeface="Cambria" pitchFamily="34" charset="0"/>
                <a:ea typeface="Cambria" pitchFamily="34" charset="-122"/>
                <a:cs typeface="Cambria" pitchFamily="34" charset="-120"/>
              </a:rPr>
              <a:t>Convergence</a:t>
            </a:r>
            <a:endParaRPr lang="en-US" sz="1050" dirty="0"/>
          </a:p>
        </p:txBody>
      </p:sp>
      <p:sp>
        <p:nvSpPr>
          <p:cNvPr id="30" name="Text 28"/>
          <p:cNvSpPr/>
          <p:nvPr/>
        </p:nvSpPr>
        <p:spPr>
          <a:xfrm>
            <a:off x="6803136" y="4233672"/>
            <a:ext cx="1810512" cy="475488"/>
          </a:xfrm>
          <a:prstGeom prst="rect">
            <a:avLst/>
          </a:prstGeom>
          <a:noFill/>
          <a:ln/>
        </p:spPr>
        <p:txBody>
          <a:bodyPr wrap="square" lIns="63500" tIns="63500" rIns="63500" bIns="63500" rtlCol="0" anchor="t"/>
          <a:lstStyle/>
          <a:p>
            <a:pPr marL="0" indent="0" algn="l">
              <a:buNone/>
            </a:pPr>
            <a:r>
              <a:rPr lang="en-US" sz="950" dirty="0">
                <a:solidFill>
                  <a:srgbClr val="1A1A2E"/>
                </a:solidFill>
                <a:latin typeface="Arial" pitchFamily="34" charset="0"/>
                <a:ea typeface="Arial" pitchFamily="34" charset="-122"/>
                <a:cs typeface="Arial" pitchFamily="34" charset="-120"/>
              </a:rPr>
              <a:t>At most n steps in exact arithmetic</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3087"/>
          </a:solidFill>
          <a:ln w="12700">
            <a:solidFill>
              <a:srgbClr val="003087"/>
            </a:solidFill>
            <a:prstDash val="solid"/>
          </a:ln>
        </p:spPr>
        <p:txBody>
          <a:bodyPr/>
          <a:lstStyle/>
          <a:p>
            <a:endParaRPr lang="en-NG"/>
          </a:p>
        </p:txBody>
      </p:sp>
      <p:sp>
        <p:nvSpPr>
          <p:cNvPr id="3" name="Text 1"/>
          <p:cNvSpPr/>
          <p:nvPr/>
        </p:nvSpPr>
        <p:spPr>
          <a:xfrm>
            <a:off x="320040" y="54864"/>
            <a:ext cx="7589520" cy="530352"/>
          </a:xfrm>
          <a:prstGeom prst="rect">
            <a:avLst/>
          </a:prstGeom>
          <a:noFill/>
          <a:ln/>
        </p:spPr>
        <p:txBody>
          <a:bodyPr wrap="square" lIns="50800" tIns="50800" rIns="50800" bIns="50800" rtlCol="0" anchor="ctr"/>
          <a:lstStyle/>
          <a:p>
            <a:pPr marL="0" indent="0" algn="l">
              <a:buNone/>
            </a:pPr>
            <a:r>
              <a:rPr lang="en-US" sz="1900" b="1" dirty="0">
                <a:solidFill>
                  <a:srgbClr val="FFFFFF"/>
                </a:solidFill>
                <a:latin typeface="Cambria" pitchFamily="34" charset="0"/>
                <a:ea typeface="Cambria" pitchFamily="34" charset="-122"/>
                <a:cs typeface="Cambria" pitchFamily="34" charset="-120"/>
              </a:rPr>
              <a:t>10.  CG Convergence Theory — The Role of Condition Number</a:t>
            </a:r>
            <a:endParaRPr lang="en-US" sz="1900" dirty="0"/>
          </a:p>
        </p:txBody>
      </p:sp>
      <p:sp>
        <p:nvSpPr>
          <p:cNvPr id="4" name="Text 2"/>
          <p:cNvSpPr/>
          <p:nvPr/>
        </p:nvSpPr>
        <p:spPr>
          <a:xfrm>
            <a:off x="8138160" y="54864"/>
            <a:ext cx="640080" cy="530352"/>
          </a:xfrm>
          <a:prstGeom prst="rect">
            <a:avLst/>
          </a:prstGeom>
          <a:noFill/>
          <a:ln/>
        </p:spPr>
        <p:txBody>
          <a:bodyPr wrap="square" lIns="25400" tIns="25400" rIns="25400" bIns="25400" rtlCol="0" anchor="ctr"/>
          <a:lstStyle/>
          <a:p>
            <a:pPr marL="0" indent="0" algn="r">
              <a:buNone/>
            </a:pPr>
            <a:r>
              <a:rPr lang="en-US" sz="1000" dirty="0">
                <a:solidFill>
                  <a:srgbClr val="AAC0E8"/>
                </a:solidFill>
                <a:latin typeface="Arial" pitchFamily="34" charset="0"/>
                <a:ea typeface="Arial" pitchFamily="34" charset="-122"/>
                <a:cs typeface="Arial" pitchFamily="34" charset="-120"/>
              </a:rPr>
              <a:t>10 / 20</a:t>
            </a:r>
            <a:endParaRPr lang="en-US" sz="1000" dirty="0"/>
          </a:p>
        </p:txBody>
      </p:sp>
      <p:sp>
        <p:nvSpPr>
          <p:cNvPr id="5" name="Shape 3"/>
          <p:cNvSpPr/>
          <p:nvPr/>
        </p:nvSpPr>
        <p:spPr>
          <a:xfrm>
            <a:off x="0" y="640080"/>
            <a:ext cx="9144000" cy="45720"/>
          </a:xfrm>
          <a:prstGeom prst="rect">
            <a:avLst/>
          </a:prstGeom>
          <a:solidFill>
            <a:srgbClr val="C8102E"/>
          </a:solidFill>
          <a:ln w="12700">
            <a:solidFill>
              <a:srgbClr val="C8102E"/>
            </a:solidFill>
            <a:prstDash val="solid"/>
          </a:ln>
        </p:spPr>
        <p:txBody>
          <a:bodyPr/>
          <a:lstStyle/>
          <a:p>
            <a:endParaRPr lang="en-NG"/>
          </a:p>
        </p:txBody>
      </p:sp>
      <p:sp>
        <p:nvSpPr>
          <p:cNvPr id="6" name="Shape 4"/>
          <p:cNvSpPr/>
          <p:nvPr/>
        </p:nvSpPr>
        <p:spPr>
          <a:xfrm>
            <a:off x="320040" y="749808"/>
            <a:ext cx="4983480" cy="1572768"/>
          </a:xfrm>
          <a:prstGeom prst="roundRect">
            <a:avLst>
              <a:gd name="adj" fmla="val 3488"/>
            </a:avLst>
          </a:prstGeom>
          <a:solidFill>
            <a:srgbClr val="EBF0FA"/>
          </a:solidFill>
          <a:ln w="19050">
            <a:solidFill>
              <a:srgbClr val="003087"/>
            </a:solidFill>
            <a:prstDash val="solid"/>
          </a:ln>
        </p:spPr>
        <p:txBody>
          <a:bodyPr/>
          <a:lstStyle/>
          <a:p>
            <a:endParaRPr lang="en-NG"/>
          </a:p>
        </p:txBody>
      </p:sp>
      <p:sp>
        <p:nvSpPr>
          <p:cNvPr id="7" name="Text 5"/>
          <p:cNvSpPr/>
          <p:nvPr/>
        </p:nvSpPr>
        <p:spPr>
          <a:xfrm>
            <a:off x="457200" y="804672"/>
            <a:ext cx="4709160" cy="274320"/>
          </a:xfrm>
          <a:prstGeom prst="rect">
            <a:avLst/>
          </a:prstGeom>
          <a:noFill/>
          <a:ln/>
        </p:spPr>
        <p:txBody>
          <a:bodyPr wrap="square" lIns="63500" tIns="63500" rIns="63500" bIns="63500" rtlCol="0" anchor="t"/>
          <a:lstStyle/>
          <a:p>
            <a:pPr marL="0" indent="0" algn="l">
              <a:buNone/>
            </a:pPr>
            <a:r>
              <a:rPr lang="en-US" sz="1200" b="1" dirty="0">
                <a:solidFill>
                  <a:srgbClr val="003087"/>
                </a:solidFill>
                <a:latin typeface="Cambria" pitchFamily="34" charset="0"/>
                <a:ea typeface="Cambria" pitchFamily="34" charset="-122"/>
                <a:cs typeface="Cambria" pitchFamily="34" charset="-120"/>
              </a:rPr>
              <a:t>Convergence Bound  (Saad 2003, Theorem 6.29):</a:t>
            </a:r>
            <a:endParaRPr lang="en-US" sz="1200" dirty="0"/>
          </a:p>
        </p:txBody>
      </p:sp>
      <p:sp>
        <p:nvSpPr>
          <p:cNvPr id="8" name="Text 6"/>
          <p:cNvSpPr/>
          <p:nvPr/>
        </p:nvSpPr>
        <p:spPr>
          <a:xfrm>
            <a:off x="457200" y="1088136"/>
            <a:ext cx="4709160" cy="438912"/>
          </a:xfrm>
          <a:prstGeom prst="rect">
            <a:avLst/>
          </a:prstGeom>
          <a:noFill/>
          <a:ln/>
        </p:spPr>
        <p:txBody>
          <a:bodyPr wrap="square" lIns="0" tIns="0" rIns="0" bIns="0" rtlCol="0" anchor="ctr"/>
          <a:lstStyle/>
          <a:p>
            <a:pPr marL="0" indent="0" algn="ctr">
              <a:buNone/>
            </a:pPr>
            <a:r>
              <a:rPr lang="en-US" sz="1600" dirty="0">
                <a:solidFill>
                  <a:srgbClr val="1A1A2E"/>
                </a:solidFill>
                <a:latin typeface="Courier New" pitchFamily="34" charset="0"/>
                <a:ea typeface="Courier New" pitchFamily="34" charset="-122"/>
                <a:cs typeface="Courier New" pitchFamily="34" charset="-120"/>
              </a:rPr>
              <a:t>‖ e_k ‖_A  ≤  2 · ( (√k − 1) / (√k + 1) )^k  ·  ‖ e₀ ‖_A</a:t>
            </a:r>
            <a:endParaRPr lang="en-US" sz="1600" dirty="0"/>
          </a:p>
        </p:txBody>
      </p:sp>
      <p:sp>
        <p:nvSpPr>
          <p:cNvPr id="9" name="Text 7"/>
          <p:cNvSpPr/>
          <p:nvPr/>
        </p:nvSpPr>
        <p:spPr>
          <a:xfrm>
            <a:off x="493776" y="1549908"/>
            <a:ext cx="4983480" cy="795528"/>
          </a:xfrm>
          <a:prstGeom prst="rect">
            <a:avLst/>
          </a:prstGeom>
          <a:noFill/>
          <a:ln/>
        </p:spPr>
        <p:txBody>
          <a:bodyPr wrap="square" lIns="63500" tIns="63500" rIns="63500" bIns="63500" rtlCol="0" anchor="t"/>
          <a:lstStyle/>
          <a:p>
            <a:pPr marL="0" indent="0" algn="l">
              <a:buNone/>
            </a:pPr>
            <a:r>
              <a:rPr lang="en-US" sz="1050" dirty="0">
                <a:solidFill>
                  <a:srgbClr val="1A1A2E"/>
                </a:solidFill>
                <a:latin typeface="Arial" pitchFamily="34" charset="0"/>
                <a:ea typeface="Arial" pitchFamily="34" charset="-122"/>
                <a:cs typeface="Arial" pitchFamily="34" charset="-120"/>
              </a:rPr>
              <a:t>where  κ(A) = λ_max / λ_min  (condition number)</a:t>
            </a:r>
            <a:endParaRPr lang="en-US" sz="1050" dirty="0"/>
          </a:p>
          <a:p>
            <a:pPr marL="0" indent="0" algn="l">
              <a:buNone/>
            </a:pPr>
            <a:r>
              <a:rPr lang="en-US" sz="1050" dirty="0">
                <a:solidFill>
                  <a:srgbClr val="1A1A2E"/>
                </a:solidFill>
                <a:latin typeface="Arial" pitchFamily="34" charset="0"/>
                <a:ea typeface="Arial" pitchFamily="34" charset="-122"/>
                <a:cs typeface="Arial" pitchFamily="34" charset="-120"/>
              </a:rPr>
              <a:t>▸  κ ≈ 1: ratio ≈ 0  ⇒  converges in 1–2 steps</a:t>
            </a:r>
            <a:endParaRPr lang="en-US" sz="1050" dirty="0"/>
          </a:p>
          <a:p>
            <a:pPr marL="0" indent="0" algn="l">
              <a:buNone/>
            </a:pPr>
            <a:r>
              <a:rPr lang="en-US" sz="1050" dirty="0">
                <a:solidFill>
                  <a:srgbClr val="1A1A2E"/>
                </a:solidFill>
                <a:latin typeface="Arial" pitchFamily="34" charset="0"/>
                <a:ea typeface="Arial" pitchFamily="34" charset="-122"/>
                <a:cs typeface="Arial" pitchFamily="34" charset="-120"/>
              </a:rPr>
              <a:t>▸  Large κ: iterations ∼ √κ · log(1/ε)  ⇒  preconditioning needed</a:t>
            </a:r>
            <a:endParaRPr lang="en-US" sz="1050" dirty="0"/>
          </a:p>
          <a:p>
            <a:pPr marL="0" indent="0" algn="l">
              <a:buNone/>
            </a:pPr>
            <a:r>
              <a:rPr lang="en-US" sz="1050" dirty="0">
                <a:solidFill>
                  <a:srgbClr val="1A1A2E"/>
                </a:solidFill>
                <a:latin typeface="Arial" pitchFamily="34" charset="0"/>
                <a:ea typeface="Arial" pitchFamily="34" charset="-122"/>
                <a:cs typeface="Arial" pitchFamily="34" charset="-120"/>
              </a:rPr>
              <a:t>▸  Square root: CG far better than Jacobi (linear in κ)</a:t>
            </a:r>
            <a:endParaRPr lang="en-US" sz="1050" dirty="0"/>
          </a:p>
        </p:txBody>
      </p:sp>
      <p:sp>
        <p:nvSpPr>
          <p:cNvPr id="10" name="Shape 8"/>
          <p:cNvSpPr/>
          <p:nvPr/>
        </p:nvSpPr>
        <p:spPr>
          <a:xfrm>
            <a:off x="5550408" y="749808"/>
            <a:ext cx="3273552" cy="1572768"/>
          </a:xfrm>
          <a:prstGeom prst="roundRect">
            <a:avLst>
              <a:gd name="adj" fmla="val 3488"/>
            </a:avLst>
          </a:prstGeom>
          <a:solidFill>
            <a:srgbClr val="F4F6FA"/>
          </a:solidFill>
          <a:ln w="12700">
            <a:solidFill>
              <a:srgbClr val="DDE3EF"/>
            </a:solidFill>
            <a:prstDash val="solid"/>
          </a:ln>
        </p:spPr>
        <p:txBody>
          <a:bodyPr/>
          <a:lstStyle/>
          <a:p>
            <a:endParaRPr lang="en-NG"/>
          </a:p>
        </p:txBody>
      </p:sp>
      <p:pic>
        <p:nvPicPr>
          <p:cNvPr id="11" name="Image 0" descr="preencoded.png"/>
          <p:cNvPicPr>
            <a:picLocks noChangeAspect="1"/>
          </p:cNvPicPr>
          <p:nvPr/>
        </p:nvPicPr>
        <p:blipFill>
          <a:blip r:embed="rId3"/>
          <a:srcRect/>
          <a:stretch/>
        </p:blipFill>
        <p:spPr>
          <a:xfrm>
            <a:off x="5623560" y="804672"/>
            <a:ext cx="3127248" cy="1444752"/>
          </a:xfrm>
          <a:prstGeom prst="rect">
            <a:avLst/>
          </a:prstGeom>
        </p:spPr>
      </p:pic>
      <p:sp>
        <p:nvSpPr>
          <p:cNvPr id="12" name="Shape 9"/>
          <p:cNvSpPr/>
          <p:nvPr/>
        </p:nvSpPr>
        <p:spPr>
          <a:xfrm>
            <a:off x="320040" y="2423160"/>
            <a:ext cx="2697480" cy="841248"/>
          </a:xfrm>
          <a:prstGeom prst="roundRect">
            <a:avLst>
              <a:gd name="adj" fmla="val 6522"/>
            </a:avLst>
          </a:prstGeom>
          <a:solidFill>
            <a:srgbClr val="F4F6FA"/>
          </a:solidFill>
          <a:ln w="12700">
            <a:solidFill>
              <a:srgbClr val="DDE3EF"/>
            </a:solidFill>
            <a:prstDash val="solid"/>
          </a:ln>
        </p:spPr>
        <p:txBody>
          <a:bodyPr/>
          <a:lstStyle/>
          <a:p>
            <a:endParaRPr lang="en-NG"/>
          </a:p>
        </p:txBody>
      </p:sp>
      <p:sp>
        <p:nvSpPr>
          <p:cNvPr id="13" name="Text 10"/>
          <p:cNvSpPr/>
          <p:nvPr/>
        </p:nvSpPr>
        <p:spPr>
          <a:xfrm>
            <a:off x="429768" y="2468880"/>
            <a:ext cx="2487168" cy="256032"/>
          </a:xfrm>
          <a:prstGeom prst="rect">
            <a:avLst/>
          </a:prstGeom>
          <a:noFill/>
          <a:ln/>
        </p:spPr>
        <p:txBody>
          <a:bodyPr wrap="square" lIns="63500" tIns="63500" rIns="63500" bIns="63500" rtlCol="0" anchor="t"/>
          <a:lstStyle/>
          <a:p>
            <a:pPr marL="0" indent="0" algn="l">
              <a:buNone/>
            </a:pPr>
            <a:r>
              <a:rPr lang="en-US" sz="1300" b="1" dirty="0">
                <a:solidFill>
                  <a:srgbClr val="1B6B3A"/>
                </a:solidFill>
                <a:latin typeface="Cambria" pitchFamily="34" charset="0"/>
                <a:ea typeface="Cambria" pitchFamily="34" charset="-122"/>
                <a:cs typeface="Cambria" pitchFamily="34" charset="-120"/>
              </a:rPr>
              <a:t>κ = 10</a:t>
            </a:r>
            <a:endParaRPr lang="en-US" sz="1300" dirty="0"/>
          </a:p>
        </p:txBody>
      </p:sp>
      <p:sp>
        <p:nvSpPr>
          <p:cNvPr id="14" name="Text 11"/>
          <p:cNvSpPr/>
          <p:nvPr/>
        </p:nvSpPr>
        <p:spPr>
          <a:xfrm>
            <a:off x="429768" y="2734056"/>
            <a:ext cx="2487168" cy="219456"/>
          </a:xfrm>
          <a:prstGeom prst="rect">
            <a:avLst/>
          </a:prstGeom>
          <a:noFill/>
          <a:ln/>
        </p:spPr>
        <p:txBody>
          <a:bodyPr wrap="square" lIns="63500" tIns="63500" rIns="63500" bIns="63500" rtlCol="0" anchor="t"/>
          <a:lstStyle/>
          <a:p>
            <a:pPr marL="0" indent="0" algn="l">
              <a:buNone/>
            </a:pPr>
            <a:r>
              <a:rPr lang="en-US" sz="1000" dirty="0">
                <a:solidFill>
                  <a:srgbClr val="1A1A2E"/>
                </a:solidFill>
                <a:latin typeface="Arial" pitchFamily="34" charset="0"/>
                <a:ea typeface="Arial" pitchFamily="34" charset="-122"/>
                <a:cs typeface="Arial" pitchFamily="34" charset="-120"/>
              </a:rPr>
              <a:t>ratio r ≈ 0.52 per iteration</a:t>
            </a:r>
            <a:endParaRPr lang="en-US" sz="1000" dirty="0"/>
          </a:p>
        </p:txBody>
      </p:sp>
      <p:sp>
        <p:nvSpPr>
          <p:cNvPr id="15" name="Text 12"/>
          <p:cNvSpPr/>
          <p:nvPr/>
        </p:nvSpPr>
        <p:spPr>
          <a:xfrm>
            <a:off x="429768" y="2944368"/>
            <a:ext cx="2487168" cy="256032"/>
          </a:xfrm>
          <a:prstGeom prst="rect">
            <a:avLst/>
          </a:prstGeom>
          <a:noFill/>
          <a:ln/>
        </p:spPr>
        <p:txBody>
          <a:bodyPr wrap="square" lIns="63500" tIns="63500" rIns="63500" bIns="63500" rtlCol="0" anchor="t"/>
          <a:lstStyle/>
          <a:p>
            <a:pPr marL="0" indent="0" algn="l">
              <a:buNone/>
            </a:pPr>
            <a:r>
              <a:rPr lang="en-US" sz="1050" b="1" dirty="0">
                <a:solidFill>
                  <a:srgbClr val="1B6B3A"/>
                </a:solidFill>
                <a:latin typeface="Arial" pitchFamily="34" charset="0"/>
                <a:ea typeface="Arial" pitchFamily="34" charset="-122"/>
                <a:cs typeface="Arial" pitchFamily="34" charset="-120"/>
              </a:rPr>
              <a:t>~10–15 iterations</a:t>
            </a:r>
            <a:endParaRPr lang="en-US" sz="1050" dirty="0"/>
          </a:p>
        </p:txBody>
      </p:sp>
      <p:sp>
        <p:nvSpPr>
          <p:cNvPr id="16" name="Shape 13"/>
          <p:cNvSpPr/>
          <p:nvPr/>
        </p:nvSpPr>
        <p:spPr>
          <a:xfrm>
            <a:off x="3172968" y="2423160"/>
            <a:ext cx="2697480" cy="841248"/>
          </a:xfrm>
          <a:prstGeom prst="roundRect">
            <a:avLst>
              <a:gd name="adj" fmla="val 6522"/>
            </a:avLst>
          </a:prstGeom>
          <a:solidFill>
            <a:srgbClr val="F4F6FA"/>
          </a:solidFill>
          <a:ln w="12700">
            <a:solidFill>
              <a:srgbClr val="DDE3EF"/>
            </a:solidFill>
            <a:prstDash val="solid"/>
          </a:ln>
        </p:spPr>
        <p:txBody>
          <a:bodyPr/>
          <a:lstStyle/>
          <a:p>
            <a:endParaRPr lang="en-NG"/>
          </a:p>
        </p:txBody>
      </p:sp>
      <p:sp>
        <p:nvSpPr>
          <p:cNvPr id="17" name="Text 14"/>
          <p:cNvSpPr/>
          <p:nvPr/>
        </p:nvSpPr>
        <p:spPr>
          <a:xfrm>
            <a:off x="3282696" y="2468880"/>
            <a:ext cx="2487168" cy="256032"/>
          </a:xfrm>
          <a:prstGeom prst="rect">
            <a:avLst/>
          </a:prstGeom>
          <a:noFill/>
          <a:ln/>
        </p:spPr>
        <p:txBody>
          <a:bodyPr wrap="square" lIns="63500" tIns="63500" rIns="63500" bIns="63500" rtlCol="0" anchor="t"/>
          <a:lstStyle/>
          <a:p>
            <a:pPr marL="0" indent="0" algn="l">
              <a:buNone/>
            </a:pPr>
            <a:r>
              <a:rPr lang="en-US" sz="1300" b="1" dirty="0">
                <a:solidFill>
                  <a:srgbClr val="B8860B"/>
                </a:solidFill>
                <a:latin typeface="Cambria" pitchFamily="34" charset="0"/>
                <a:ea typeface="Cambria" pitchFamily="34" charset="-122"/>
                <a:cs typeface="Cambria" pitchFamily="34" charset="-120"/>
              </a:rPr>
              <a:t>κ = 100</a:t>
            </a:r>
            <a:endParaRPr lang="en-US" sz="1300" dirty="0"/>
          </a:p>
        </p:txBody>
      </p:sp>
      <p:sp>
        <p:nvSpPr>
          <p:cNvPr id="18" name="Text 15"/>
          <p:cNvSpPr/>
          <p:nvPr/>
        </p:nvSpPr>
        <p:spPr>
          <a:xfrm>
            <a:off x="3282696" y="2734056"/>
            <a:ext cx="2487168" cy="219456"/>
          </a:xfrm>
          <a:prstGeom prst="rect">
            <a:avLst/>
          </a:prstGeom>
          <a:noFill/>
          <a:ln/>
        </p:spPr>
        <p:txBody>
          <a:bodyPr wrap="square" lIns="63500" tIns="63500" rIns="63500" bIns="63500" rtlCol="0" anchor="t"/>
          <a:lstStyle/>
          <a:p>
            <a:pPr marL="0" indent="0" algn="l">
              <a:buNone/>
            </a:pPr>
            <a:r>
              <a:rPr lang="en-US" sz="1000" dirty="0">
                <a:solidFill>
                  <a:srgbClr val="1A1A2E"/>
                </a:solidFill>
                <a:latin typeface="Arial" pitchFamily="34" charset="0"/>
                <a:ea typeface="Arial" pitchFamily="34" charset="-122"/>
                <a:cs typeface="Arial" pitchFamily="34" charset="-120"/>
              </a:rPr>
              <a:t>ratio r ≈ 0.82 per iteration</a:t>
            </a:r>
            <a:endParaRPr lang="en-US" sz="1000" dirty="0"/>
          </a:p>
        </p:txBody>
      </p:sp>
      <p:sp>
        <p:nvSpPr>
          <p:cNvPr id="19" name="Text 16"/>
          <p:cNvSpPr/>
          <p:nvPr/>
        </p:nvSpPr>
        <p:spPr>
          <a:xfrm>
            <a:off x="3282696" y="2944368"/>
            <a:ext cx="2487168" cy="256032"/>
          </a:xfrm>
          <a:prstGeom prst="rect">
            <a:avLst/>
          </a:prstGeom>
          <a:noFill/>
          <a:ln/>
        </p:spPr>
        <p:txBody>
          <a:bodyPr wrap="square" lIns="63500" tIns="63500" rIns="63500" bIns="63500" rtlCol="0" anchor="t"/>
          <a:lstStyle/>
          <a:p>
            <a:pPr marL="0" indent="0" algn="l">
              <a:buNone/>
            </a:pPr>
            <a:r>
              <a:rPr lang="en-US" sz="1050" b="1" dirty="0">
                <a:solidFill>
                  <a:srgbClr val="B8860B"/>
                </a:solidFill>
                <a:latin typeface="Arial" pitchFamily="34" charset="0"/>
                <a:ea typeface="Arial" pitchFamily="34" charset="-122"/>
                <a:cs typeface="Arial" pitchFamily="34" charset="-120"/>
              </a:rPr>
              <a:t>~30–40 iterations</a:t>
            </a:r>
            <a:endParaRPr lang="en-US" sz="1050" dirty="0"/>
          </a:p>
        </p:txBody>
      </p:sp>
      <p:sp>
        <p:nvSpPr>
          <p:cNvPr id="20" name="Shape 17"/>
          <p:cNvSpPr/>
          <p:nvPr/>
        </p:nvSpPr>
        <p:spPr>
          <a:xfrm>
            <a:off x="6025896" y="2423160"/>
            <a:ext cx="2697480" cy="841248"/>
          </a:xfrm>
          <a:prstGeom prst="roundRect">
            <a:avLst>
              <a:gd name="adj" fmla="val 6522"/>
            </a:avLst>
          </a:prstGeom>
          <a:solidFill>
            <a:srgbClr val="F4F6FA"/>
          </a:solidFill>
          <a:ln w="12700">
            <a:solidFill>
              <a:srgbClr val="DDE3EF"/>
            </a:solidFill>
            <a:prstDash val="solid"/>
          </a:ln>
        </p:spPr>
        <p:txBody>
          <a:bodyPr/>
          <a:lstStyle/>
          <a:p>
            <a:endParaRPr lang="en-NG"/>
          </a:p>
        </p:txBody>
      </p:sp>
      <p:sp>
        <p:nvSpPr>
          <p:cNvPr id="21" name="Text 18"/>
          <p:cNvSpPr/>
          <p:nvPr/>
        </p:nvSpPr>
        <p:spPr>
          <a:xfrm>
            <a:off x="6135624" y="2468880"/>
            <a:ext cx="2487168" cy="256032"/>
          </a:xfrm>
          <a:prstGeom prst="rect">
            <a:avLst/>
          </a:prstGeom>
          <a:noFill/>
          <a:ln/>
        </p:spPr>
        <p:txBody>
          <a:bodyPr wrap="square" lIns="63500" tIns="63500" rIns="63500" bIns="63500" rtlCol="0" anchor="t"/>
          <a:lstStyle/>
          <a:p>
            <a:pPr marL="0" indent="0" algn="l">
              <a:buNone/>
            </a:pPr>
            <a:r>
              <a:rPr lang="en-US" sz="1300" b="1" dirty="0">
                <a:solidFill>
                  <a:srgbClr val="C8102E"/>
                </a:solidFill>
                <a:latin typeface="Cambria" pitchFamily="34" charset="0"/>
                <a:ea typeface="Cambria" pitchFamily="34" charset="-122"/>
                <a:cs typeface="Cambria" pitchFamily="34" charset="-120"/>
              </a:rPr>
              <a:t>κ = 1000</a:t>
            </a:r>
            <a:endParaRPr lang="en-US" sz="1300" dirty="0"/>
          </a:p>
        </p:txBody>
      </p:sp>
      <p:sp>
        <p:nvSpPr>
          <p:cNvPr id="22" name="Text 19"/>
          <p:cNvSpPr/>
          <p:nvPr/>
        </p:nvSpPr>
        <p:spPr>
          <a:xfrm>
            <a:off x="6135624" y="2734056"/>
            <a:ext cx="2487168" cy="219456"/>
          </a:xfrm>
          <a:prstGeom prst="rect">
            <a:avLst/>
          </a:prstGeom>
          <a:noFill/>
          <a:ln/>
        </p:spPr>
        <p:txBody>
          <a:bodyPr wrap="square" lIns="63500" tIns="63500" rIns="63500" bIns="63500" rtlCol="0" anchor="t"/>
          <a:lstStyle/>
          <a:p>
            <a:pPr marL="0" indent="0" algn="l">
              <a:buNone/>
            </a:pPr>
            <a:r>
              <a:rPr lang="en-US" sz="1000" dirty="0">
                <a:solidFill>
                  <a:srgbClr val="1A1A2E"/>
                </a:solidFill>
                <a:latin typeface="Arial" pitchFamily="34" charset="0"/>
                <a:ea typeface="Arial" pitchFamily="34" charset="-122"/>
                <a:cs typeface="Arial" pitchFamily="34" charset="-120"/>
              </a:rPr>
              <a:t>ratio r ≈ 0.94 per iteration</a:t>
            </a:r>
            <a:endParaRPr lang="en-US" sz="1000" dirty="0"/>
          </a:p>
        </p:txBody>
      </p:sp>
      <p:sp>
        <p:nvSpPr>
          <p:cNvPr id="23" name="Text 20"/>
          <p:cNvSpPr/>
          <p:nvPr/>
        </p:nvSpPr>
        <p:spPr>
          <a:xfrm>
            <a:off x="6135624" y="2944368"/>
            <a:ext cx="2487168" cy="256032"/>
          </a:xfrm>
          <a:prstGeom prst="rect">
            <a:avLst/>
          </a:prstGeom>
          <a:noFill/>
          <a:ln/>
        </p:spPr>
        <p:txBody>
          <a:bodyPr wrap="square" lIns="63500" tIns="63500" rIns="63500" bIns="63500" rtlCol="0" anchor="t"/>
          <a:lstStyle/>
          <a:p>
            <a:pPr marL="0" indent="0" algn="l">
              <a:buNone/>
            </a:pPr>
            <a:r>
              <a:rPr lang="en-US" sz="1050" b="1" dirty="0">
                <a:solidFill>
                  <a:srgbClr val="C8102E"/>
                </a:solidFill>
                <a:latin typeface="Arial" pitchFamily="34" charset="0"/>
                <a:ea typeface="Arial" pitchFamily="34" charset="-122"/>
                <a:cs typeface="Arial" pitchFamily="34" charset="-120"/>
              </a:rPr>
              <a:t>~50 iterations</a:t>
            </a:r>
            <a:endParaRPr lang="en-US" sz="1050" dirty="0"/>
          </a:p>
        </p:txBody>
      </p:sp>
      <p:sp>
        <p:nvSpPr>
          <p:cNvPr id="24" name="Shape 21"/>
          <p:cNvSpPr/>
          <p:nvPr/>
        </p:nvSpPr>
        <p:spPr>
          <a:xfrm>
            <a:off x="320040" y="3364992"/>
            <a:ext cx="8503920" cy="502920"/>
          </a:xfrm>
          <a:prstGeom prst="roundRect">
            <a:avLst>
              <a:gd name="adj" fmla="val 10909"/>
            </a:avLst>
          </a:prstGeom>
          <a:solidFill>
            <a:srgbClr val="FFF5F5"/>
          </a:solidFill>
          <a:ln w="15240">
            <a:solidFill>
              <a:srgbClr val="C8102E"/>
            </a:solidFill>
            <a:prstDash val="solid"/>
          </a:ln>
        </p:spPr>
        <p:txBody>
          <a:bodyPr/>
          <a:lstStyle/>
          <a:p>
            <a:endParaRPr lang="en-NG"/>
          </a:p>
        </p:txBody>
      </p:sp>
      <p:sp>
        <p:nvSpPr>
          <p:cNvPr id="25" name="Text 22"/>
          <p:cNvSpPr/>
          <p:nvPr/>
        </p:nvSpPr>
        <p:spPr>
          <a:xfrm>
            <a:off x="457200" y="3401568"/>
            <a:ext cx="8229600" cy="420624"/>
          </a:xfrm>
          <a:prstGeom prst="rect">
            <a:avLst/>
          </a:prstGeom>
          <a:noFill/>
          <a:ln/>
        </p:spPr>
        <p:txBody>
          <a:bodyPr wrap="square" lIns="50800" tIns="50800" rIns="50800" bIns="50800" rtlCol="0" anchor="t"/>
          <a:lstStyle/>
          <a:p>
            <a:pPr marL="0" indent="0" algn="l">
              <a:buNone/>
            </a:pPr>
            <a:r>
              <a:rPr lang="en-US" sz="1050" dirty="0">
                <a:solidFill>
                  <a:srgbClr val="8B0000"/>
                </a:solidFill>
                <a:latin typeface="Arial" pitchFamily="34" charset="0"/>
                <a:ea typeface="Arial" pitchFamily="34" charset="-122"/>
                <a:cs typeface="Arial" pitchFamily="34" charset="-120"/>
              </a:rPr>
              <a:t>For 2D FD matrices: κ(A) = O(h⁻²). A 100×100 grid ⇒ κ ≈ 10⁴ ⇒ ~100 iterations per error reduction. At 3D scale κ can reach 10⁶. CG alone is impractical. Preconditioning is not optional — it is necessary.</a:t>
            </a:r>
            <a:endParaRPr lang="en-US" sz="1050" dirty="0"/>
          </a:p>
        </p:txBody>
      </p:sp>
      <p:sp>
        <p:nvSpPr>
          <p:cNvPr id="26" name="Shape 23"/>
          <p:cNvSpPr/>
          <p:nvPr/>
        </p:nvSpPr>
        <p:spPr>
          <a:xfrm>
            <a:off x="320040" y="3959352"/>
            <a:ext cx="8503920" cy="502920"/>
          </a:xfrm>
          <a:prstGeom prst="roundRect">
            <a:avLst>
              <a:gd name="adj" fmla="val 10909"/>
            </a:avLst>
          </a:prstGeom>
          <a:solidFill>
            <a:srgbClr val="EBF0FA"/>
          </a:solidFill>
          <a:ln w="12700">
            <a:solidFill>
              <a:srgbClr val="003087"/>
            </a:solidFill>
            <a:prstDash val="solid"/>
          </a:ln>
        </p:spPr>
        <p:txBody>
          <a:bodyPr/>
          <a:lstStyle/>
          <a:p>
            <a:endParaRPr lang="en-NG"/>
          </a:p>
        </p:txBody>
      </p:sp>
      <p:sp>
        <p:nvSpPr>
          <p:cNvPr id="27" name="Text 24"/>
          <p:cNvSpPr/>
          <p:nvPr/>
        </p:nvSpPr>
        <p:spPr>
          <a:xfrm>
            <a:off x="457200" y="3995928"/>
            <a:ext cx="8229600" cy="420624"/>
          </a:xfrm>
          <a:prstGeom prst="rect">
            <a:avLst/>
          </a:prstGeom>
          <a:noFill/>
          <a:ln/>
        </p:spPr>
        <p:txBody>
          <a:bodyPr wrap="square" lIns="50800" tIns="50800" rIns="50800" bIns="50800" rtlCol="0" anchor="t"/>
          <a:lstStyle/>
          <a:p>
            <a:pPr marL="0" indent="0" algn="l">
              <a:buNone/>
            </a:pPr>
            <a:r>
              <a:rPr lang="en-US" sz="1050" dirty="0">
                <a:solidFill>
                  <a:srgbClr val="003087"/>
                </a:solidFill>
                <a:latin typeface="Arial" pitchFamily="34" charset="0"/>
                <a:ea typeface="Arial" pitchFamily="34" charset="-122"/>
                <a:cs typeface="Arial" pitchFamily="34" charset="-120"/>
              </a:rPr>
              <a:t>Convergence criterion used in our implementation:  ‖r_k‖₂ / ‖b‖₂ &lt; ε = 10⁻⁸.  The relative form is scale-independent: dividing by ‖b‖₂ means the same tolerance applies regardless of the magnitude of b.</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3087"/>
          </a:solidFill>
          <a:ln w="12700">
            <a:solidFill>
              <a:srgbClr val="003087"/>
            </a:solidFill>
            <a:prstDash val="solid"/>
          </a:ln>
        </p:spPr>
        <p:txBody>
          <a:bodyPr/>
          <a:lstStyle/>
          <a:p>
            <a:endParaRPr lang="en-NG"/>
          </a:p>
        </p:txBody>
      </p:sp>
      <p:sp>
        <p:nvSpPr>
          <p:cNvPr id="3" name="Text 1"/>
          <p:cNvSpPr/>
          <p:nvPr/>
        </p:nvSpPr>
        <p:spPr>
          <a:xfrm>
            <a:off x="320040" y="54864"/>
            <a:ext cx="7589520" cy="530352"/>
          </a:xfrm>
          <a:prstGeom prst="rect">
            <a:avLst/>
          </a:prstGeom>
          <a:noFill/>
          <a:ln/>
        </p:spPr>
        <p:txBody>
          <a:bodyPr wrap="square" lIns="50800" tIns="50800" rIns="50800" bIns="50800" rtlCol="0" anchor="ctr"/>
          <a:lstStyle/>
          <a:p>
            <a:pPr marL="0" indent="0" algn="l">
              <a:buNone/>
            </a:pPr>
            <a:r>
              <a:rPr lang="en-US" sz="1900" b="1" dirty="0">
                <a:solidFill>
                  <a:srgbClr val="FFFFFF"/>
                </a:solidFill>
                <a:latin typeface="Cambria" pitchFamily="34" charset="0"/>
                <a:ea typeface="Cambria" pitchFamily="34" charset="-122"/>
                <a:cs typeface="Cambria" pitchFamily="34" charset="-120"/>
              </a:rPr>
              <a:t>11.  Preconditioning — Main Idea and the M-Inner Product</a:t>
            </a:r>
            <a:endParaRPr lang="en-US" sz="1900" dirty="0"/>
          </a:p>
        </p:txBody>
      </p:sp>
      <p:sp>
        <p:nvSpPr>
          <p:cNvPr id="4" name="Text 2"/>
          <p:cNvSpPr/>
          <p:nvPr/>
        </p:nvSpPr>
        <p:spPr>
          <a:xfrm>
            <a:off x="8138160" y="54864"/>
            <a:ext cx="640080" cy="530352"/>
          </a:xfrm>
          <a:prstGeom prst="rect">
            <a:avLst/>
          </a:prstGeom>
          <a:noFill/>
          <a:ln/>
        </p:spPr>
        <p:txBody>
          <a:bodyPr wrap="square" lIns="25400" tIns="25400" rIns="25400" bIns="25400" rtlCol="0" anchor="ctr"/>
          <a:lstStyle/>
          <a:p>
            <a:pPr marL="0" indent="0" algn="r">
              <a:buNone/>
            </a:pPr>
            <a:r>
              <a:rPr lang="en-US" sz="1000" dirty="0">
                <a:solidFill>
                  <a:srgbClr val="AAC0E8"/>
                </a:solidFill>
                <a:latin typeface="Arial" pitchFamily="34" charset="0"/>
                <a:ea typeface="Arial" pitchFamily="34" charset="-122"/>
                <a:cs typeface="Arial" pitchFamily="34" charset="-120"/>
              </a:rPr>
              <a:t>11 / 20</a:t>
            </a:r>
            <a:endParaRPr lang="en-US" sz="1000" dirty="0"/>
          </a:p>
        </p:txBody>
      </p:sp>
      <p:sp>
        <p:nvSpPr>
          <p:cNvPr id="5" name="Shape 3"/>
          <p:cNvSpPr/>
          <p:nvPr/>
        </p:nvSpPr>
        <p:spPr>
          <a:xfrm>
            <a:off x="0" y="640080"/>
            <a:ext cx="9144000" cy="45720"/>
          </a:xfrm>
          <a:prstGeom prst="rect">
            <a:avLst/>
          </a:prstGeom>
          <a:solidFill>
            <a:srgbClr val="C8102E"/>
          </a:solidFill>
          <a:ln w="12700">
            <a:solidFill>
              <a:srgbClr val="C8102E"/>
            </a:solidFill>
            <a:prstDash val="solid"/>
          </a:ln>
        </p:spPr>
        <p:txBody>
          <a:bodyPr/>
          <a:lstStyle/>
          <a:p>
            <a:endParaRPr lang="en-NG"/>
          </a:p>
        </p:txBody>
      </p:sp>
      <p:sp>
        <p:nvSpPr>
          <p:cNvPr id="6" name="Shape 4"/>
          <p:cNvSpPr/>
          <p:nvPr/>
        </p:nvSpPr>
        <p:spPr>
          <a:xfrm>
            <a:off x="320040" y="749808"/>
            <a:ext cx="8503920" cy="530352"/>
          </a:xfrm>
          <a:prstGeom prst="roundRect">
            <a:avLst>
              <a:gd name="adj" fmla="val 10345"/>
            </a:avLst>
          </a:prstGeom>
          <a:solidFill>
            <a:srgbClr val="FFF5F5"/>
          </a:solidFill>
          <a:ln w="15240">
            <a:solidFill>
              <a:srgbClr val="C8102E"/>
            </a:solidFill>
            <a:prstDash val="solid"/>
          </a:ln>
        </p:spPr>
        <p:txBody>
          <a:bodyPr/>
          <a:lstStyle/>
          <a:p>
            <a:endParaRPr lang="en-NG"/>
          </a:p>
        </p:txBody>
      </p:sp>
      <p:sp>
        <p:nvSpPr>
          <p:cNvPr id="7" name="Text 5"/>
          <p:cNvSpPr/>
          <p:nvPr/>
        </p:nvSpPr>
        <p:spPr>
          <a:xfrm>
            <a:off x="457200" y="804672"/>
            <a:ext cx="1828800" cy="274320"/>
          </a:xfrm>
          <a:prstGeom prst="rect">
            <a:avLst/>
          </a:prstGeom>
          <a:noFill/>
          <a:ln/>
        </p:spPr>
        <p:txBody>
          <a:bodyPr wrap="square" lIns="63500" tIns="63500" rIns="63500" bIns="63500" rtlCol="0" anchor="t"/>
          <a:lstStyle/>
          <a:p>
            <a:pPr marL="0" indent="0" algn="l">
              <a:buNone/>
            </a:pPr>
            <a:r>
              <a:rPr lang="en-US" sz="1200" b="1" dirty="0">
                <a:solidFill>
                  <a:srgbClr val="C8102E"/>
                </a:solidFill>
                <a:latin typeface="Cambria" pitchFamily="34" charset="0"/>
                <a:ea typeface="Cambria" pitchFamily="34" charset="-122"/>
                <a:cs typeface="Cambria" pitchFamily="34" charset="-120"/>
              </a:rPr>
              <a:t>Why Needed:</a:t>
            </a:r>
            <a:endParaRPr lang="en-US" sz="1200" dirty="0"/>
          </a:p>
        </p:txBody>
      </p:sp>
      <p:sp>
        <p:nvSpPr>
          <p:cNvPr id="8" name="Text 6"/>
          <p:cNvSpPr/>
          <p:nvPr/>
        </p:nvSpPr>
        <p:spPr>
          <a:xfrm>
            <a:off x="2331720" y="804672"/>
            <a:ext cx="6355080" cy="420624"/>
          </a:xfrm>
          <a:prstGeom prst="rect">
            <a:avLst/>
          </a:prstGeom>
          <a:noFill/>
          <a:ln/>
        </p:spPr>
        <p:txBody>
          <a:bodyPr wrap="square" lIns="63500" tIns="63500" rIns="63500" bIns="63500" rtlCol="0" anchor="t"/>
          <a:lstStyle/>
          <a:p>
            <a:pPr marL="0" indent="0" algn="l">
              <a:buNone/>
            </a:pPr>
            <a:r>
              <a:rPr lang="en-US" sz="1050" dirty="0">
                <a:solidFill>
                  <a:srgbClr val="8B0000"/>
                </a:solidFill>
                <a:latin typeface="Arial" pitchFamily="34" charset="0"/>
                <a:ea typeface="Arial" pitchFamily="34" charset="-122"/>
                <a:cs typeface="Arial" pitchFamily="34" charset="-120"/>
              </a:rPr>
              <a:t>For 2D FD matrices κ(A)=O(h⁻²). A 100×100 grid ⇒ κ≈10⁴ ⇒ ~100 CG iterations per reduction. 3D problems: κ≈10⁶. CG alone is infeasible. Preconditioning is necessary.</a:t>
            </a:r>
            <a:endParaRPr lang="en-US" sz="1050" dirty="0"/>
          </a:p>
        </p:txBody>
      </p:sp>
      <p:sp>
        <p:nvSpPr>
          <p:cNvPr id="9" name="Shape 7"/>
          <p:cNvSpPr/>
          <p:nvPr/>
        </p:nvSpPr>
        <p:spPr>
          <a:xfrm>
            <a:off x="320040" y="1389888"/>
            <a:ext cx="4983480" cy="1298448"/>
          </a:xfrm>
          <a:prstGeom prst="roundRect">
            <a:avLst>
              <a:gd name="adj" fmla="val 4225"/>
            </a:avLst>
          </a:prstGeom>
          <a:solidFill>
            <a:srgbClr val="EBF0FA"/>
          </a:solidFill>
          <a:ln w="12700">
            <a:solidFill>
              <a:srgbClr val="003087"/>
            </a:solidFill>
            <a:prstDash val="solid"/>
          </a:ln>
        </p:spPr>
        <p:txBody>
          <a:bodyPr/>
          <a:lstStyle/>
          <a:p>
            <a:endParaRPr lang="en-NG"/>
          </a:p>
        </p:txBody>
      </p:sp>
      <p:sp>
        <p:nvSpPr>
          <p:cNvPr id="10" name="Text 8"/>
          <p:cNvSpPr/>
          <p:nvPr/>
        </p:nvSpPr>
        <p:spPr>
          <a:xfrm>
            <a:off x="429768" y="1435608"/>
            <a:ext cx="4754880" cy="274320"/>
          </a:xfrm>
          <a:prstGeom prst="rect">
            <a:avLst/>
          </a:prstGeom>
          <a:noFill/>
          <a:ln/>
        </p:spPr>
        <p:txBody>
          <a:bodyPr wrap="square" lIns="63500" tIns="63500" rIns="63500" bIns="63500" rtlCol="0" anchor="t"/>
          <a:lstStyle/>
          <a:p>
            <a:pPr marL="0" indent="0" algn="l">
              <a:buNone/>
            </a:pPr>
            <a:r>
              <a:rPr lang="en-US" sz="1200" b="1" dirty="0">
                <a:solidFill>
                  <a:srgbClr val="003087"/>
                </a:solidFill>
                <a:latin typeface="Cambria" pitchFamily="34" charset="0"/>
                <a:ea typeface="Cambria" pitchFamily="34" charset="-122"/>
                <a:cs typeface="Cambria" pitchFamily="34" charset="-120"/>
              </a:rPr>
              <a:t>The Preconditioning Idea:</a:t>
            </a:r>
            <a:endParaRPr lang="en-US" sz="1200" dirty="0"/>
          </a:p>
        </p:txBody>
      </p:sp>
      <p:sp>
        <p:nvSpPr>
          <p:cNvPr id="11" name="Text 9"/>
          <p:cNvSpPr/>
          <p:nvPr/>
        </p:nvSpPr>
        <p:spPr>
          <a:xfrm>
            <a:off x="429768" y="1737360"/>
            <a:ext cx="4754880" cy="411480"/>
          </a:xfrm>
          <a:prstGeom prst="rect">
            <a:avLst/>
          </a:prstGeom>
          <a:noFill/>
          <a:ln/>
        </p:spPr>
        <p:txBody>
          <a:bodyPr wrap="square" lIns="63500" tIns="63500" rIns="63500" bIns="63500" rtlCol="0" anchor="t"/>
          <a:lstStyle/>
          <a:p>
            <a:pPr marL="0" indent="0" algn="l">
              <a:buNone/>
            </a:pPr>
            <a:r>
              <a:rPr lang="en-US" sz="1100" dirty="0">
                <a:solidFill>
                  <a:srgbClr val="1A1A2E"/>
                </a:solidFill>
                <a:latin typeface="Arial" pitchFamily="34" charset="0"/>
                <a:ea typeface="Arial" pitchFamily="34" charset="-122"/>
                <a:cs typeface="Arial" pitchFamily="34" charset="-120"/>
              </a:rPr>
              <a:t>Replace  Ax = b  with  M⁻¹Ax = M⁻¹b  where M ≈ A (SPD, cheap to invert).</a:t>
            </a:r>
            <a:endParaRPr lang="en-US" sz="1100" dirty="0"/>
          </a:p>
          <a:p>
            <a:pPr marL="0" indent="0" algn="l">
              <a:buNone/>
            </a:pPr>
            <a:r>
              <a:rPr lang="en-US" sz="1100" dirty="0">
                <a:solidFill>
                  <a:srgbClr val="1A1A2E"/>
                </a:solidFill>
                <a:latin typeface="Arial" pitchFamily="34" charset="0"/>
                <a:ea typeface="Arial" pitchFamily="34" charset="-122"/>
                <a:cs typeface="Arial" pitchFamily="34" charset="-120"/>
              </a:rPr>
              <a:t>Solution x* unchanged. Effective condition number: κ(M⁻¹A) ≪ κ(A) ⇒ fewer iterations.</a:t>
            </a:r>
            <a:endParaRPr lang="en-US" sz="1100" dirty="0"/>
          </a:p>
        </p:txBody>
      </p:sp>
      <p:sp>
        <p:nvSpPr>
          <p:cNvPr id="12" name="Text 10"/>
          <p:cNvSpPr/>
          <p:nvPr/>
        </p:nvSpPr>
        <p:spPr>
          <a:xfrm>
            <a:off x="429768" y="2176272"/>
            <a:ext cx="4754880" cy="475488"/>
          </a:xfrm>
          <a:prstGeom prst="rect">
            <a:avLst/>
          </a:prstGeom>
          <a:noFill/>
          <a:ln/>
        </p:spPr>
        <p:txBody>
          <a:bodyPr wrap="square" lIns="63500" tIns="63500" rIns="63500" bIns="63500" rtlCol="0" anchor="t"/>
          <a:lstStyle/>
          <a:p>
            <a:pPr marL="0" indent="0" algn="l">
              <a:buNone/>
            </a:pPr>
            <a:r>
              <a:rPr lang="en-US" sz="1050" dirty="0">
                <a:solidFill>
                  <a:srgbClr val="1A1A2E"/>
                </a:solidFill>
                <a:latin typeface="Arial" pitchFamily="34" charset="0"/>
                <a:ea typeface="Arial" pitchFamily="34" charset="-122"/>
                <a:cs typeface="Arial" pitchFamily="34" charset="-120"/>
              </a:rPr>
              <a:t>The M-inner product (Nasedkina 2026, Lec. 15):</a:t>
            </a:r>
            <a:endParaRPr lang="en-US" sz="1050" dirty="0"/>
          </a:p>
          <a:p>
            <a:pPr marL="0" indent="0" algn="l">
              <a:buNone/>
            </a:pPr>
            <a:r>
              <a:rPr lang="en-US" sz="1050" dirty="0">
                <a:solidFill>
                  <a:srgbClr val="1A1A2E"/>
                </a:solidFill>
                <a:latin typeface="Arial" pitchFamily="34" charset="0"/>
                <a:ea typeface="Arial" pitchFamily="34" charset="-122"/>
                <a:cs typeface="Arial" pitchFamily="34" charset="-120"/>
              </a:rPr>
              <a:t>⟨x, y⟩_M = (Mx, y)  preserves self-adjointness of M⁻¹A ⇒ CG structure intact.</a:t>
            </a:r>
            <a:endParaRPr lang="en-US" sz="1050" dirty="0"/>
          </a:p>
        </p:txBody>
      </p:sp>
      <p:sp>
        <p:nvSpPr>
          <p:cNvPr id="13" name="Shape 11"/>
          <p:cNvSpPr/>
          <p:nvPr/>
        </p:nvSpPr>
        <p:spPr>
          <a:xfrm>
            <a:off x="5550408" y="1389888"/>
            <a:ext cx="3273552" cy="1298448"/>
          </a:xfrm>
          <a:prstGeom prst="roundRect">
            <a:avLst>
              <a:gd name="adj" fmla="val 4225"/>
            </a:avLst>
          </a:prstGeom>
          <a:solidFill>
            <a:srgbClr val="F4F6FA"/>
          </a:solidFill>
          <a:ln w="12700">
            <a:solidFill>
              <a:srgbClr val="DDE3EF"/>
            </a:solidFill>
            <a:prstDash val="solid"/>
          </a:ln>
        </p:spPr>
        <p:txBody>
          <a:bodyPr/>
          <a:lstStyle/>
          <a:p>
            <a:endParaRPr lang="en-NG"/>
          </a:p>
        </p:txBody>
      </p:sp>
      <p:sp>
        <p:nvSpPr>
          <p:cNvPr id="14" name="Text 12"/>
          <p:cNvSpPr/>
          <p:nvPr/>
        </p:nvSpPr>
        <p:spPr>
          <a:xfrm>
            <a:off x="5660136" y="1435608"/>
            <a:ext cx="3063240" cy="274320"/>
          </a:xfrm>
          <a:prstGeom prst="rect">
            <a:avLst/>
          </a:prstGeom>
          <a:noFill/>
          <a:ln/>
        </p:spPr>
        <p:txBody>
          <a:bodyPr wrap="square" lIns="63500" tIns="63500" rIns="63500" bIns="63500" rtlCol="0" anchor="t"/>
          <a:lstStyle/>
          <a:p>
            <a:pPr marL="0" indent="0" algn="l">
              <a:buNone/>
            </a:pPr>
            <a:r>
              <a:rPr lang="en-US" sz="1200" b="1" dirty="0">
                <a:solidFill>
                  <a:srgbClr val="003087"/>
                </a:solidFill>
                <a:latin typeface="Cambria" pitchFamily="34" charset="0"/>
                <a:ea typeface="Cambria" pitchFamily="34" charset="-122"/>
                <a:cs typeface="Cambria" pitchFamily="34" charset="-120"/>
              </a:rPr>
              <a:t>Incomplete Cholesky (IC)</a:t>
            </a:r>
            <a:endParaRPr lang="en-US" sz="1200" dirty="0"/>
          </a:p>
        </p:txBody>
      </p:sp>
      <p:sp>
        <p:nvSpPr>
          <p:cNvPr id="15" name="Text 13"/>
          <p:cNvSpPr/>
          <p:nvPr/>
        </p:nvSpPr>
        <p:spPr>
          <a:xfrm>
            <a:off x="5660136" y="1755648"/>
            <a:ext cx="3017520" cy="173736"/>
          </a:xfrm>
          <a:prstGeom prst="rect">
            <a:avLst/>
          </a:prstGeom>
          <a:noFill/>
          <a:ln/>
        </p:spPr>
        <p:txBody>
          <a:bodyPr wrap="square" lIns="0" tIns="0" rIns="0" bIns="0" rtlCol="0" anchor="t"/>
          <a:lstStyle/>
          <a:p>
            <a:pPr marL="0" indent="0" algn="l">
              <a:buNone/>
            </a:pPr>
            <a:r>
              <a:rPr lang="en-US" sz="1000" dirty="0">
                <a:solidFill>
                  <a:srgbClr val="1A1A2E"/>
                </a:solidFill>
                <a:latin typeface="Arial" pitchFamily="34" charset="0"/>
                <a:ea typeface="Arial" pitchFamily="34" charset="-122"/>
                <a:cs typeface="Arial" pitchFamily="34" charset="-120"/>
              </a:rPr>
              <a:t>▸  Complete: A = LLᵀ (exact; L is dense)</a:t>
            </a:r>
            <a:endParaRPr lang="en-US" sz="1000" dirty="0"/>
          </a:p>
        </p:txBody>
      </p:sp>
      <p:sp>
        <p:nvSpPr>
          <p:cNvPr id="16" name="Text 14"/>
          <p:cNvSpPr/>
          <p:nvPr/>
        </p:nvSpPr>
        <p:spPr>
          <a:xfrm>
            <a:off x="5660136" y="1938528"/>
            <a:ext cx="3017520" cy="173736"/>
          </a:xfrm>
          <a:prstGeom prst="rect">
            <a:avLst/>
          </a:prstGeom>
          <a:noFill/>
          <a:ln/>
        </p:spPr>
        <p:txBody>
          <a:bodyPr wrap="square" lIns="0" tIns="0" rIns="0" bIns="0" rtlCol="0" anchor="t"/>
          <a:lstStyle/>
          <a:p>
            <a:pPr marL="0" indent="0" algn="l">
              <a:buNone/>
            </a:pPr>
            <a:r>
              <a:rPr lang="en-US" sz="1000" dirty="0">
                <a:solidFill>
                  <a:srgbClr val="1A1A2E"/>
                </a:solidFill>
                <a:latin typeface="Arial" pitchFamily="34" charset="0"/>
                <a:ea typeface="Arial" pitchFamily="34" charset="-122"/>
                <a:cs typeface="Arial" pitchFamily="34" charset="-120"/>
              </a:rPr>
              <a:t>▸  IC: A ≈ L̃L̃ᵀ (drop fill-in below δ)</a:t>
            </a:r>
            <a:endParaRPr lang="en-US" sz="1000" dirty="0"/>
          </a:p>
        </p:txBody>
      </p:sp>
      <p:sp>
        <p:nvSpPr>
          <p:cNvPr id="17" name="Text 15"/>
          <p:cNvSpPr/>
          <p:nvPr/>
        </p:nvSpPr>
        <p:spPr>
          <a:xfrm>
            <a:off x="5660136" y="2121408"/>
            <a:ext cx="3017520" cy="173736"/>
          </a:xfrm>
          <a:prstGeom prst="rect">
            <a:avLst/>
          </a:prstGeom>
          <a:noFill/>
          <a:ln/>
        </p:spPr>
        <p:txBody>
          <a:bodyPr wrap="square" lIns="0" tIns="0" rIns="0" bIns="0" rtlCol="0" anchor="t"/>
          <a:lstStyle/>
          <a:p>
            <a:pPr marL="0" indent="0" algn="l">
              <a:buNone/>
            </a:pPr>
            <a:r>
              <a:rPr lang="en-US" sz="1000" dirty="0">
                <a:solidFill>
                  <a:srgbClr val="1A1A2E"/>
                </a:solidFill>
                <a:latin typeface="Arial" pitchFamily="34" charset="0"/>
                <a:ea typeface="Arial" pitchFamily="34" charset="-122"/>
                <a:cs typeface="Arial" pitchFamily="34" charset="-120"/>
              </a:rPr>
              <a:t>▸  Apply M⁻¹: z = L̃ᵀ \ (L̃ \ r)</a:t>
            </a:r>
            <a:endParaRPr lang="en-US" sz="1000" dirty="0"/>
          </a:p>
        </p:txBody>
      </p:sp>
      <p:sp>
        <p:nvSpPr>
          <p:cNvPr id="18" name="Text 16"/>
          <p:cNvSpPr/>
          <p:nvPr/>
        </p:nvSpPr>
        <p:spPr>
          <a:xfrm>
            <a:off x="5660136" y="2304288"/>
            <a:ext cx="3017520" cy="173736"/>
          </a:xfrm>
          <a:prstGeom prst="rect">
            <a:avLst/>
          </a:prstGeom>
          <a:noFill/>
          <a:ln/>
        </p:spPr>
        <p:txBody>
          <a:bodyPr wrap="square" lIns="0" tIns="0" rIns="0" bIns="0" rtlCol="0" anchor="t"/>
          <a:lstStyle/>
          <a:p>
            <a:pPr marL="0" indent="0" algn="l">
              <a:buNone/>
            </a:pPr>
            <a:r>
              <a:rPr lang="en-US" sz="1000" dirty="0">
                <a:solidFill>
                  <a:srgbClr val="1A1A2E"/>
                </a:solidFill>
                <a:latin typeface="Arial" pitchFamily="34" charset="0"/>
                <a:ea typeface="Arial" pitchFamily="34" charset="-122"/>
                <a:cs typeface="Arial" pitchFamily="34" charset="-120"/>
              </a:rPr>
              <a:t>▸  Cost: O(nnz(L̃))  —  sparse &amp; cheap</a:t>
            </a:r>
            <a:endParaRPr lang="en-US" sz="1000" dirty="0"/>
          </a:p>
        </p:txBody>
      </p:sp>
      <p:sp>
        <p:nvSpPr>
          <p:cNvPr id="19" name="Text 17"/>
          <p:cNvSpPr/>
          <p:nvPr/>
        </p:nvSpPr>
        <p:spPr>
          <a:xfrm>
            <a:off x="5660136" y="2487168"/>
            <a:ext cx="3017520" cy="173736"/>
          </a:xfrm>
          <a:prstGeom prst="rect">
            <a:avLst/>
          </a:prstGeom>
          <a:noFill/>
          <a:ln/>
        </p:spPr>
        <p:txBody>
          <a:bodyPr wrap="square" lIns="0" tIns="0" rIns="0" bIns="0" rtlCol="0" anchor="t"/>
          <a:lstStyle/>
          <a:p>
            <a:pPr marL="0" indent="0" algn="l">
              <a:buNone/>
            </a:pPr>
            <a:r>
              <a:rPr lang="en-US" sz="1000" dirty="0">
                <a:solidFill>
                  <a:srgbClr val="1A1A2E"/>
                </a:solidFill>
                <a:latin typeface="Arial" pitchFamily="34" charset="0"/>
                <a:ea typeface="Arial" pitchFamily="34" charset="-122"/>
                <a:cs typeface="Arial" pitchFamily="34" charset="-120"/>
              </a:rPr>
              <a:t>▸  MATLAB: M = ichol(A)</a:t>
            </a:r>
            <a:endParaRPr lang="en-US" sz="1000" dirty="0"/>
          </a:p>
        </p:txBody>
      </p:sp>
      <p:sp>
        <p:nvSpPr>
          <p:cNvPr id="20" name="Shape 18"/>
          <p:cNvSpPr/>
          <p:nvPr/>
        </p:nvSpPr>
        <p:spPr>
          <a:xfrm>
            <a:off x="320040" y="2779776"/>
            <a:ext cx="8503920" cy="566928"/>
          </a:xfrm>
          <a:prstGeom prst="roundRect">
            <a:avLst>
              <a:gd name="adj" fmla="val 9677"/>
            </a:avLst>
          </a:prstGeom>
          <a:solidFill>
            <a:srgbClr val="003087"/>
          </a:solidFill>
          <a:ln w="12700">
            <a:solidFill>
              <a:srgbClr val="003087"/>
            </a:solidFill>
            <a:prstDash val="solid"/>
          </a:ln>
        </p:spPr>
        <p:txBody>
          <a:bodyPr/>
          <a:lstStyle/>
          <a:p>
            <a:endParaRPr lang="en-NG"/>
          </a:p>
        </p:txBody>
      </p:sp>
      <p:sp>
        <p:nvSpPr>
          <p:cNvPr id="21" name="Text 19"/>
          <p:cNvSpPr/>
          <p:nvPr/>
        </p:nvSpPr>
        <p:spPr>
          <a:xfrm>
            <a:off x="457200" y="2816352"/>
            <a:ext cx="8229600" cy="475488"/>
          </a:xfrm>
          <a:prstGeom prst="rect">
            <a:avLst/>
          </a:prstGeom>
          <a:noFill/>
          <a:ln/>
        </p:spPr>
        <p:txBody>
          <a:bodyPr wrap="square" lIns="50800" tIns="50800" rIns="50800" bIns="50800" rtlCol="0" anchor="t"/>
          <a:lstStyle/>
          <a:p>
            <a:pPr marL="0" indent="0" algn="l">
              <a:buNone/>
            </a:pPr>
            <a:r>
              <a:rPr lang="en-US" sz="1050" dirty="0">
                <a:solidFill>
                  <a:srgbClr val="FFFFFF"/>
                </a:solidFill>
                <a:latin typeface="Arial" pitchFamily="34" charset="0"/>
                <a:ea typeface="Arial" pitchFamily="34" charset="-122"/>
                <a:cs typeface="Arial" pitchFamily="34" charset="-120"/>
              </a:rPr>
              <a:t>PCG convergence bound: ‖e_k‖_A ≤ 2·((√κ(M⁻¹A)−1)/(√κ(M⁻¹A)+1))^k·‖e₀‖_A   —   same as CG but κ(A) replaced by κ(M⁻¹A). A good M compresses the eigenvalue spectrum of M⁻¹A toward 1.</a:t>
            </a:r>
            <a:endParaRPr lang="en-US" sz="1050" dirty="0"/>
          </a:p>
        </p:txBody>
      </p:sp>
      <p:sp>
        <p:nvSpPr>
          <p:cNvPr id="22" name="Shape 20"/>
          <p:cNvSpPr/>
          <p:nvPr/>
        </p:nvSpPr>
        <p:spPr>
          <a:xfrm>
            <a:off x="320040" y="3438144"/>
            <a:ext cx="8503920" cy="1024128"/>
          </a:xfrm>
          <a:prstGeom prst="roundRect">
            <a:avLst>
              <a:gd name="adj" fmla="val 5357"/>
            </a:avLst>
          </a:prstGeom>
          <a:solidFill>
            <a:srgbClr val="F4F6FA"/>
          </a:solidFill>
          <a:ln w="12700">
            <a:solidFill>
              <a:srgbClr val="DDE3EF"/>
            </a:solidFill>
            <a:prstDash val="solid"/>
          </a:ln>
        </p:spPr>
        <p:txBody>
          <a:bodyPr/>
          <a:lstStyle/>
          <a:p>
            <a:endParaRPr lang="en-NG"/>
          </a:p>
        </p:txBody>
      </p:sp>
      <p:sp>
        <p:nvSpPr>
          <p:cNvPr id="23" name="Text 21"/>
          <p:cNvSpPr/>
          <p:nvPr/>
        </p:nvSpPr>
        <p:spPr>
          <a:xfrm>
            <a:off x="429768" y="3483864"/>
            <a:ext cx="8284464" cy="274320"/>
          </a:xfrm>
          <a:prstGeom prst="rect">
            <a:avLst/>
          </a:prstGeom>
          <a:noFill/>
          <a:ln/>
        </p:spPr>
        <p:txBody>
          <a:bodyPr wrap="square" lIns="63500" tIns="63500" rIns="63500" bIns="63500" rtlCol="0" anchor="t"/>
          <a:lstStyle/>
          <a:p>
            <a:pPr marL="0" indent="0" algn="l">
              <a:buNone/>
            </a:pPr>
            <a:r>
              <a:rPr lang="en-US" sz="1100" b="1" dirty="0">
                <a:solidFill>
                  <a:srgbClr val="003087"/>
                </a:solidFill>
                <a:latin typeface="Cambria" pitchFamily="34" charset="0"/>
                <a:ea typeface="Cambria" pitchFamily="34" charset="-122"/>
                <a:cs typeface="Cambria" pitchFamily="34" charset="-120"/>
              </a:rPr>
              <a:t>Drop tolerance δ — trade-off control:</a:t>
            </a:r>
            <a:endParaRPr lang="en-US" sz="1100" dirty="0"/>
          </a:p>
        </p:txBody>
      </p:sp>
      <p:sp>
        <p:nvSpPr>
          <p:cNvPr id="24" name="Text 22"/>
          <p:cNvSpPr/>
          <p:nvPr/>
        </p:nvSpPr>
        <p:spPr>
          <a:xfrm>
            <a:off x="484632" y="3776472"/>
            <a:ext cx="8174736" cy="640080"/>
          </a:xfrm>
          <a:prstGeom prst="rect">
            <a:avLst/>
          </a:prstGeom>
          <a:noFill/>
          <a:ln/>
        </p:spPr>
        <p:txBody>
          <a:bodyPr wrap="square" lIns="0" tIns="0" rIns="0" bIns="0" rtlCol="0" anchor="t"/>
          <a:lstStyle/>
          <a:p>
            <a:pPr marL="0" indent="0" algn="l">
              <a:buNone/>
            </a:pPr>
            <a:r>
              <a:rPr lang="en-US" sz="1050" dirty="0">
                <a:solidFill>
                  <a:srgbClr val="1A1A2E"/>
                </a:solidFill>
                <a:latin typeface="Arial" pitchFamily="34" charset="0"/>
                <a:ea typeface="Arial" pitchFamily="34" charset="-122"/>
                <a:cs typeface="Arial" pitchFamily="34" charset="-120"/>
              </a:rPr>
              <a:t>▸  Smaller δ: retain more entries ⇒ better preconditioner, more memory, cheaper per iteration in total</a:t>
            </a:r>
            <a:endParaRPr lang="en-US" sz="1050" dirty="0"/>
          </a:p>
          <a:p>
            <a:pPr marL="0" indent="0" algn="l">
              <a:buNone/>
            </a:pPr>
            <a:r>
              <a:rPr lang="en-US" sz="1050" dirty="0">
                <a:solidFill>
                  <a:srgbClr val="1A1A2E"/>
                </a:solidFill>
                <a:latin typeface="Arial" pitchFamily="34" charset="0"/>
                <a:ea typeface="Arial" pitchFamily="34" charset="-122"/>
                <a:cs typeface="Arial" pitchFamily="34" charset="-120"/>
              </a:rPr>
              <a:t>▸  Larger δ: sparser L̃, cheaper to apply, but less effective reduction of κ(M⁻¹A)</a:t>
            </a:r>
            <a:endParaRPr lang="en-US" sz="1050" dirty="0"/>
          </a:p>
          <a:p>
            <a:pPr marL="0" indent="0" algn="l">
              <a:buNone/>
            </a:pPr>
            <a:r>
              <a:rPr lang="en-US" sz="1050" dirty="0">
                <a:solidFill>
                  <a:srgbClr val="1A1A2E"/>
                </a:solidFill>
                <a:latin typeface="Arial" pitchFamily="34" charset="0"/>
                <a:ea typeface="Arial" pitchFamily="34" charset="-122"/>
                <a:cs typeface="Arial" pitchFamily="34" charset="-120"/>
              </a:rPr>
              <a:t>▸  Our implementation: opts.type='ict', opts.droptol=1e-3, opts.diagcomp=0.1 (diagonal compensation ensures positive pivots)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3087"/>
          </a:solidFill>
          <a:ln w="12700">
            <a:solidFill>
              <a:srgbClr val="003087"/>
            </a:solidFill>
            <a:prstDash val="solid"/>
          </a:ln>
        </p:spPr>
        <p:txBody>
          <a:bodyPr/>
          <a:lstStyle/>
          <a:p>
            <a:endParaRPr lang="en-NG"/>
          </a:p>
        </p:txBody>
      </p:sp>
      <p:sp>
        <p:nvSpPr>
          <p:cNvPr id="3" name="Text 1"/>
          <p:cNvSpPr/>
          <p:nvPr/>
        </p:nvSpPr>
        <p:spPr>
          <a:xfrm>
            <a:off x="320040" y="54864"/>
            <a:ext cx="7589520" cy="530352"/>
          </a:xfrm>
          <a:prstGeom prst="rect">
            <a:avLst/>
          </a:prstGeom>
          <a:noFill/>
          <a:ln/>
        </p:spPr>
        <p:txBody>
          <a:bodyPr wrap="square" lIns="50800" tIns="50800" rIns="50800" bIns="50800" rtlCol="0" anchor="ctr"/>
          <a:lstStyle/>
          <a:p>
            <a:pPr marL="0" indent="0" algn="l">
              <a:buNone/>
            </a:pPr>
            <a:r>
              <a:rPr lang="en-US" sz="1900" b="1" dirty="0">
                <a:solidFill>
                  <a:srgbClr val="FFFFFF"/>
                </a:solidFill>
                <a:latin typeface="Cambria" pitchFamily="34" charset="0"/>
                <a:ea typeface="Cambria" pitchFamily="34" charset="-122"/>
                <a:cs typeface="Cambria" pitchFamily="34" charset="-120"/>
              </a:rPr>
              <a:t>12.  PCG Algorithm — Derivation and Full Recursions</a:t>
            </a:r>
            <a:endParaRPr lang="en-US" sz="1900" dirty="0"/>
          </a:p>
        </p:txBody>
      </p:sp>
      <p:sp>
        <p:nvSpPr>
          <p:cNvPr id="4" name="Text 2"/>
          <p:cNvSpPr/>
          <p:nvPr/>
        </p:nvSpPr>
        <p:spPr>
          <a:xfrm>
            <a:off x="8138160" y="54864"/>
            <a:ext cx="640080" cy="530352"/>
          </a:xfrm>
          <a:prstGeom prst="rect">
            <a:avLst/>
          </a:prstGeom>
          <a:noFill/>
          <a:ln/>
        </p:spPr>
        <p:txBody>
          <a:bodyPr wrap="square" lIns="25400" tIns="25400" rIns="25400" bIns="25400" rtlCol="0" anchor="ctr"/>
          <a:lstStyle/>
          <a:p>
            <a:pPr marL="0" indent="0" algn="r">
              <a:buNone/>
            </a:pPr>
            <a:r>
              <a:rPr lang="en-US" sz="1000" dirty="0">
                <a:solidFill>
                  <a:srgbClr val="AAC0E8"/>
                </a:solidFill>
                <a:latin typeface="Arial" pitchFamily="34" charset="0"/>
                <a:ea typeface="Arial" pitchFamily="34" charset="-122"/>
                <a:cs typeface="Arial" pitchFamily="34" charset="-120"/>
              </a:rPr>
              <a:t>12 / 20</a:t>
            </a:r>
            <a:endParaRPr lang="en-US" sz="1000" dirty="0"/>
          </a:p>
        </p:txBody>
      </p:sp>
      <p:sp>
        <p:nvSpPr>
          <p:cNvPr id="5" name="Shape 3"/>
          <p:cNvSpPr/>
          <p:nvPr/>
        </p:nvSpPr>
        <p:spPr>
          <a:xfrm>
            <a:off x="0" y="640080"/>
            <a:ext cx="9144000" cy="45720"/>
          </a:xfrm>
          <a:prstGeom prst="rect">
            <a:avLst/>
          </a:prstGeom>
          <a:solidFill>
            <a:srgbClr val="C8102E"/>
          </a:solidFill>
          <a:ln w="12700">
            <a:solidFill>
              <a:srgbClr val="C8102E"/>
            </a:solidFill>
            <a:prstDash val="solid"/>
          </a:ln>
        </p:spPr>
        <p:txBody>
          <a:bodyPr/>
          <a:lstStyle/>
          <a:p>
            <a:endParaRPr lang="en-NG"/>
          </a:p>
        </p:txBody>
      </p:sp>
      <p:sp>
        <p:nvSpPr>
          <p:cNvPr id="6" name="Text 4"/>
          <p:cNvSpPr/>
          <p:nvPr/>
        </p:nvSpPr>
        <p:spPr>
          <a:xfrm>
            <a:off x="320040" y="749808"/>
            <a:ext cx="8503920" cy="347472"/>
          </a:xfrm>
          <a:prstGeom prst="rect">
            <a:avLst/>
          </a:prstGeom>
          <a:noFill/>
          <a:ln/>
        </p:spPr>
        <p:txBody>
          <a:bodyPr wrap="square" lIns="25400" tIns="25400" rIns="25400" bIns="25400" rtlCol="0" anchor="t"/>
          <a:lstStyle/>
          <a:p>
            <a:pPr marL="0" indent="0" algn="l">
              <a:buNone/>
            </a:pPr>
            <a:r>
              <a:rPr lang="en-US" sz="1100" dirty="0">
                <a:solidFill>
                  <a:srgbClr val="1A1A2E"/>
                </a:solidFill>
                <a:latin typeface="Arial" pitchFamily="34" charset="0"/>
                <a:ea typeface="Arial" pitchFamily="34" charset="-122"/>
                <a:cs typeface="Arial" pitchFamily="34" charset="-120"/>
              </a:rPr>
              <a:t>Define z_j = M⁻¹r_j. Replace (r,r) inner products with (r,z) in α and β. The PCG recursions (Nasedkina 2026, Lec. 15 | Saad 2003):</a:t>
            </a:r>
            <a:endParaRPr lang="en-US" sz="1100" dirty="0"/>
          </a:p>
        </p:txBody>
      </p:sp>
      <p:sp>
        <p:nvSpPr>
          <p:cNvPr id="7" name="Shape 5"/>
          <p:cNvSpPr/>
          <p:nvPr/>
        </p:nvSpPr>
        <p:spPr>
          <a:xfrm>
            <a:off x="320040" y="1143000"/>
            <a:ext cx="4983480" cy="2999232"/>
          </a:xfrm>
          <a:prstGeom prst="roundRect">
            <a:avLst>
              <a:gd name="adj" fmla="val 1829"/>
            </a:avLst>
          </a:prstGeom>
          <a:solidFill>
            <a:srgbClr val="F4F6FA"/>
          </a:solidFill>
          <a:ln w="15240">
            <a:solidFill>
              <a:srgbClr val="003087"/>
            </a:solidFill>
            <a:prstDash val="solid"/>
          </a:ln>
        </p:spPr>
        <p:txBody>
          <a:bodyPr/>
          <a:lstStyle/>
          <a:p>
            <a:endParaRPr lang="en-NG"/>
          </a:p>
        </p:txBody>
      </p:sp>
      <p:sp>
        <p:nvSpPr>
          <p:cNvPr id="8" name="Text 6"/>
          <p:cNvSpPr/>
          <p:nvPr/>
        </p:nvSpPr>
        <p:spPr>
          <a:xfrm>
            <a:off x="429768" y="1188720"/>
            <a:ext cx="4754880" cy="256032"/>
          </a:xfrm>
          <a:prstGeom prst="rect">
            <a:avLst/>
          </a:prstGeom>
          <a:noFill/>
          <a:ln/>
        </p:spPr>
        <p:txBody>
          <a:bodyPr wrap="square" lIns="63500" tIns="63500" rIns="63500" bIns="63500" rtlCol="0" anchor="t"/>
          <a:lstStyle/>
          <a:p>
            <a:pPr marL="0" indent="0" algn="l">
              <a:buNone/>
            </a:pPr>
            <a:r>
              <a:rPr lang="en-US" sz="1200" b="1" dirty="0">
                <a:solidFill>
                  <a:srgbClr val="003087"/>
                </a:solidFill>
                <a:latin typeface="Cambria" pitchFamily="34" charset="0"/>
                <a:ea typeface="Cambria" pitchFamily="34" charset="-122"/>
                <a:cs typeface="Cambria" pitchFamily="34" charset="-120"/>
              </a:rPr>
              <a:t>Algorithm: Preconditioned CG (PCG)</a:t>
            </a:r>
            <a:endParaRPr lang="en-US" sz="1200" dirty="0"/>
          </a:p>
        </p:txBody>
      </p:sp>
      <p:sp>
        <p:nvSpPr>
          <p:cNvPr id="9" name="Text 7"/>
          <p:cNvSpPr/>
          <p:nvPr/>
        </p:nvSpPr>
        <p:spPr>
          <a:xfrm>
            <a:off x="457200" y="1490472"/>
            <a:ext cx="4709160" cy="192024"/>
          </a:xfrm>
          <a:prstGeom prst="rect">
            <a:avLst/>
          </a:prstGeom>
          <a:noFill/>
          <a:ln/>
        </p:spPr>
        <p:txBody>
          <a:bodyPr wrap="square" lIns="0" tIns="0" rIns="0" bIns="0" rtlCol="0" anchor="t"/>
          <a:lstStyle/>
          <a:p>
            <a:pPr marL="0" indent="0" algn="l">
              <a:buNone/>
            </a:pPr>
            <a:r>
              <a:rPr lang="en-US" sz="1000" dirty="0">
                <a:solidFill>
                  <a:srgbClr val="6B7C99"/>
                </a:solidFill>
                <a:latin typeface="Courier New" pitchFamily="34" charset="0"/>
                <a:ea typeface="Courier New" pitchFamily="34" charset="-122"/>
                <a:cs typeface="Courier New" pitchFamily="34" charset="-120"/>
              </a:rPr>
              <a:t>r₀←b−Ax₀; z₀←M⁻¹r₀; p₀←z₀; k←0</a:t>
            </a:r>
            <a:endParaRPr lang="en-US" sz="1000" dirty="0"/>
          </a:p>
        </p:txBody>
      </p:sp>
      <p:sp>
        <p:nvSpPr>
          <p:cNvPr id="10" name="Text 8"/>
          <p:cNvSpPr/>
          <p:nvPr/>
        </p:nvSpPr>
        <p:spPr>
          <a:xfrm>
            <a:off x="457200" y="1892808"/>
            <a:ext cx="4709160" cy="192024"/>
          </a:xfrm>
          <a:prstGeom prst="rect">
            <a:avLst/>
          </a:prstGeom>
          <a:noFill/>
          <a:ln/>
        </p:spPr>
        <p:txBody>
          <a:bodyPr wrap="square" lIns="0" tIns="0" rIns="0" bIns="0" rtlCol="0" anchor="t"/>
          <a:lstStyle/>
          <a:p>
            <a:pPr marL="0" indent="0" algn="l">
              <a:buNone/>
            </a:pPr>
            <a:r>
              <a:rPr lang="en-US" sz="1000" dirty="0">
                <a:solidFill>
                  <a:srgbClr val="1A1A2E"/>
                </a:solidFill>
                <a:latin typeface="Courier New" pitchFamily="34" charset="0"/>
                <a:ea typeface="Courier New" pitchFamily="34" charset="-122"/>
                <a:cs typeface="Courier New" pitchFamily="34" charset="-120"/>
              </a:rPr>
              <a:t>while  ‖r_k‖/‖b‖ &gt; ε  and  k &lt; k_max  do:</a:t>
            </a:r>
            <a:endParaRPr lang="en-US" sz="1000" dirty="0"/>
          </a:p>
        </p:txBody>
      </p:sp>
      <p:sp>
        <p:nvSpPr>
          <p:cNvPr id="11" name="Text 9"/>
          <p:cNvSpPr/>
          <p:nvPr/>
        </p:nvSpPr>
        <p:spPr>
          <a:xfrm>
            <a:off x="457200" y="2295144"/>
            <a:ext cx="4709160" cy="192024"/>
          </a:xfrm>
          <a:prstGeom prst="rect">
            <a:avLst/>
          </a:prstGeom>
          <a:noFill/>
          <a:ln/>
        </p:spPr>
        <p:txBody>
          <a:bodyPr wrap="square" lIns="0" tIns="0" rIns="0" bIns="0" rtlCol="0" anchor="t"/>
          <a:lstStyle/>
          <a:p>
            <a:pPr marL="0" indent="0" algn="l">
              <a:buNone/>
            </a:pPr>
            <a:r>
              <a:rPr lang="en-US" sz="1000" dirty="0">
                <a:solidFill>
                  <a:srgbClr val="1A1A2E"/>
                </a:solidFill>
                <a:latin typeface="Courier New" pitchFamily="34" charset="0"/>
                <a:ea typeface="Courier New" pitchFamily="34" charset="-122"/>
                <a:cs typeface="Courier New" pitchFamily="34" charset="-120"/>
              </a:rPr>
              <a:t>  α_k ← (r_k, z_k) / (Ap_k, p_k)       ← step [uses z_k]</a:t>
            </a:r>
            <a:endParaRPr lang="en-US" sz="1000" dirty="0"/>
          </a:p>
        </p:txBody>
      </p:sp>
      <p:sp>
        <p:nvSpPr>
          <p:cNvPr id="12" name="Text 10"/>
          <p:cNvSpPr/>
          <p:nvPr/>
        </p:nvSpPr>
        <p:spPr>
          <a:xfrm>
            <a:off x="457200" y="2496312"/>
            <a:ext cx="4709160" cy="192024"/>
          </a:xfrm>
          <a:prstGeom prst="rect">
            <a:avLst/>
          </a:prstGeom>
          <a:noFill/>
          <a:ln/>
        </p:spPr>
        <p:txBody>
          <a:bodyPr wrap="square" lIns="0" tIns="0" rIns="0" bIns="0" rtlCol="0" anchor="t"/>
          <a:lstStyle/>
          <a:p>
            <a:pPr marL="0" indent="0" algn="l">
              <a:buNone/>
            </a:pPr>
            <a:r>
              <a:rPr lang="en-US" sz="1000" dirty="0">
                <a:solidFill>
                  <a:srgbClr val="1A1A2E"/>
                </a:solidFill>
                <a:latin typeface="Courier New" pitchFamily="34" charset="0"/>
                <a:ea typeface="Courier New" pitchFamily="34" charset="-122"/>
                <a:cs typeface="Courier New" pitchFamily="34" charset="-120"/>
              </a:rPr>
              <a:t>  x_{k+1} ← x_k + α_k · p_k            ← update solution</a:t>
            </a:r>
            <a:endParaRPr lang="en-US" sz="1000" dirty="0"/>
          </a:p>
        </p:txBody>
      </p:sp>
      <p:sp>
        <p:nvSpPr>
          <p:cNvPr id="13" name="Text 11"/>
          <p:cNvSpPr/>
          <p:nvPr/>
        </p:nvSpPr>
        <p:spPr>
          <a:xfrm>
            <a:off x="457200" y="2697480"/>
            <a:ext cx="4709160" cy="192024"/>
          </a:xfrm>
          <a:prstGeom prst="rect">
            <a:avLst/>
          </a:prstGeom>
          <a:noFill/>
          <a:ln/>
        </p:spPr>
        <p:txBody>
          <a:bodyPr wrap="square" lIns="0" tIns="0" rIns="0" bIns="0" rtlCol="0" anchor="t"/>
          <a:lstStyle/>
          <a:p>
            <a:pPr marL="0" indent="0" algn="l">
              <a:buNone/>
            </a:pPr>
            <a:r>
              <a:rPr lang="en-US" sz="1000" dirty="0">
                <a:solidFill>
                  <a:srgbClr val="1A1A2E"/>
                </a:solidFill>
                <a:latin typeface="Courier New" pitchFamily="34" charset="0"/>
                <a:ea typeface="Courier New" pitchFamily="34" charset="-122"/>
                <a:cs typeface="Courier New" pitchFamily="34" charset="-120"/>
              </a:rPr>
              <a:t>  r_{k+1} ← r_k − α_k · A · p_k      ← update residual</a:t>
            </a:r>
            <a:endParaRPr lang="en-US" sz="1000" dirty="0"/>
          </a:p>
        </p:txBody>
      </p:sp>
      <p:sp>
        <p:nvSpPr>
          <p:cNvPr id="14" name="Text 12"/>
          <p:cNvSpPr/>
          <p:nvPr/>
        </p:nvSpPr>
        <p:spPr>
          <a:xfrm>
            <a:off x="457200" y="2898648"/>
            <a:ext cx="4709160" cy="192024"/>
          </a:xfrm>
          <a:prstGeom prst="rect">
            <a:avLst/>
          </a:prstGeom>
          <a:noFill/>
          <a:ln/>
        </p:spPr>
        <p:txBody>
          <a:bodyPr wrap="square" lIns="0" tIns="0" rIns="0" bIns="0" rtlCol="0" anchor="t"/>
          <a:lstStyle/>
          <a:p>
            <a:pPr marL="0" indent="0" algn="l">
              <a:buNone/>
            </a:pPr>
            <a:r>
              <a:rPr lang="en-US" sz="1000" dirty="0">
                <a:solidFill>
                  <a:srgbClr val="1B6B3A"/>
                </a:solidFill>
                <a:latin typeface="Courier New" pitchFamily="34" charset="0"/>
                <a:ea typeface="Courier New" pitchFamily="34" charset="-122"/>
                <a:cs typeface="Courier New" pitchFamily="34" charset="-120"/>
              </a:rPr>
              <a:t>  if  ‖r_{k+1}‖/‖b‖ ≤ ε  then  break</a:t>
            </a:r>
            <a:endParaRPr lang="en-US" sz="1000" dirty="0"/>
          </a:p>
        </p:txBody>
      </p:sp>
      <p:sp>
        <p:nvSpPr>
          <p:cNvPr id="15" name="Text 13"/>
          <p:cNvSpPr/>
          <p:nvPr/>
        </p:nvSpPr>
        <p:spPr>
          <a:xfrm>
            <a:off x="457200" y="3099816"/>
            <a:ext cx="4709160" cy="192024"/>
          </a:xfrm>
          <a:prstGeom prst="rect">
            <a:avLst/>
          </a:prstGeom>
          <a:noFill/>
          <a:ln/>
        </p:spPr>
        <p:txBody>
          <a:bodyPr wrap="square" lIns="0" tIns="0" rIns="0" bIns="0" rtlCol="0" anchor="t"/>
          <a:lstStyle/>
          <a:p>
            <a:pPr marL="0" indent="0" algn="l">
              <a:buNone/>
            </a:pPr>
            <a:r>
              <a:rPr lang="en-US" sz="1000" b="1" dirty="0">
                <a:solidFill>
                  <a:srgbClr val="C8102E"/>
                </a:solidFill>
                <a:latin typeface="Courier New" pitchFamily="34" charset="0"/>
                <a:ea typeface="Courier New" pitchFamily="34" charset="-122"/>
                <a:cs typeface="Courier New" pitchFamily="34" charset="-120"/>
              </a:rPr>
              <a:t>  z_{k+1} ← M⁻¹ r_{k+1}               ← APPLY PRECONDITIONER</a:t>
            </a:r>
            <a:endParaRPr lang="en-US" sz="1000" dirty="0"/>
          </a:p>
        </p:txBody>
      </p:sp>
      <p:sp>
        <p:nvSpPr>
          <p:cNvPr id="16" name="Text 14"/>
          <p:cNvSpPr/>
          <p:nvPr/>
        </p:nvSpPr>
        <p:spPr>
          <a:xfrm>
            <a:off x="457200" y="3300984"/>
            <a:ext cx="4709160" cy="192024"/>
          </a:xfrm>
          <a:prstGeom prst="rect">
            <a:avLst/>
          </a:prstGeom>
          <a:noFill/>
          <a:ln/>
        </p:spPr>
        <p:txBody>
          <a:bodyPr wrap="square" lIns="0" tIns="0" rIns="0" bIns="0" rtlCol="0" anchor="t"/>
          <a:lstStyle/>
          <a:p>
            <a:pPr marL="0" indent="0" algn="l">
              <a:buNone/>
            </a:pPr>
            <a:r>
              <a:rPr lang="en-US" sz="1000" dirty="0">
                <a:solidFill>
                  <a:srgbClr val="1A1A2E"/>
                </a:solidFill>
                <a:latin typeface="Courier New" pitchFamily="34" charset="0"/>
                <a:ea typeface="Courier New" pitchFamily="34" charset="-122"/>
                <a:cs typeface="Courier New" pitchFamily="34" charset="-120"/>
              </a:rPr>
              <a:t>  β_k ← (r_{k+1},z_{k+1}) / (r_k,z_k)  ← scalar [uses z]</a:t>
            </a:r>
            <a:endParaRPr lang="en-US" sz="1000" dirty="0"/>
          </a:p>
        </p:txBody>
      </p:sp>
      <p:sp>
        <p:nvSpPr>
          <p:cNvPr id="17" name="Text 15"/>
          <p:cNvSpPr/>
          <p:nvPr/>
        </p:nvSpPr>
        <p:spPr>
          <a:xfrm>
            <a:off x="457200" y="3502152"/>
            <a:ext cx="4709160" cy="192024"/>
          </a:xfrm>
          <a:prstGeom prst="rect">
            <a:avLst/>
          </a:prstGeom>
          <a:noFill/>
          <a:ln/>
        </p:spPr>
        <p:txBody>
          <a:bodyPr wrap="square" lIns="0" tIns="0" rIns="0" bIns="0" rtlCol="0" anchor="t"/>
          <a:lstStyle/>
          <a:p>
            <a:pPr marL="0" indent="0" algn="l">
              <a:buNone/>
            </a:pPr>
            <a:r>
              <a:rPr lang="en-US" sz="1000" dirty="0">
                <a:solidFill>
                  <a:srgbClr val="1A1A2E"/>
                </a:solidFill>
                <a:latin typeface="Courier New" pitchFamily="34" charset="0"/>
                <a:ea typeface="Courier New" pitchFamily="34" charset="-122"/>
                <a:cs typeface="Courier New" pitchFamily="34" charset="-120"/>
              </a:rPr>
              <a:t>  p_{k+1} ← z_{k+1} + β_k · p_k       ← new direction</a:t>
            </a:r>
            <a:endParaRPr lang="en-US" sz="1000" dirty="0"/>
          </a:p>
        </p:txBody>
      </p:sp>
      <p:sp>
        <p:nvSpPr>
          <p:cNvPr id="18" name="Text 16"/>
          <p:cNvSpPr/>
          <p:nvPr/>
        </p:nvSpPr>
        <p:spPr>
          <a:xfrm>
            <a:off x="457200" y="3703320"/>
            <a:ext cx="4709160" cy="192024"/>
          </a:xfrm>
          <a:prstGeom prst="rect">
            <a:avLst/>
          </a:prstGeom>
          <a:noFill/>
          <a:ln/>
        </p:spPr>
        <p:txBody>
          <a:bodyPr wrap="square" lIns="0" tIns="0" rIns="0" bIns="0" rtlCol="0" anchor="t"/>
          <a:lstStyle/>
          <a:p>
            <a:pPr marL="0" indent="0" algn="l">
              <a:buNone/>
            </a:pPr>
            <a:r>
              <a:rPr lang="en-US" sz="1000" dirty="0">
                <a:solidFill>
                  <a:srgbClr val="1A1A2E"/>
                </a:solidFill>
                <a:latin typeface="Courier New" pitchFamily="34" charset="0"/>
                <a:ea typeface="Courier New" pitchFamily="34" charset="-122"/>
                <a:cs typeface="Courier New" pitchFamily="34" charset="-120"/>
              </a:rPr>
              <a:t>  k ← k + 1</a:t>
            </a:r>
            <a:endParaRPr lang="en-US" sz="1000" dirty="0"/>
          </a:p>
        </p:txBody>
      </p:sp>
      <p:sp>
        <p:nvSpPr>
          <p:cNvPr id="19" name="Text 17"/>
          <p:cNvSpPr/>
          <p:nvPr/>
        </p:nvSpPr>
        <p:spPr>
          <a:xfrm>
            <a:off x="457200" y="3904488"/>
            <a:ext cx="4709160" cy="192024"/>
          </a:xfrm>
          <a:prstGeom prst="rect">
            <a:avLst/>
          </a:prstGeom>
          <a:noFill/>
          <a:ln/>
        </p:spPr>
        <p:txBody>
          <a:bodyPr wrap="square" lIns="0" tIns="0" rIns="0" bIns="0" rtlCol="0" anchor="t"/>
          <a:lstStyle/>
          <a:p>
            <a:pPr marL="0" indent="0" algn="l">
              <a:buNone/>
            </a:pPr>
            <a:r>
              <a:rPr lang="en-US" sz="1000" dirty="0">
                <a:solidFill>
                  <a:srgbClr val="1A1A2E"/>
                </a:solidFill>
                <a:latin typeface="Courier New" pitchFamily="34" charset="0"/>
                <a:ea typeface="Courier New" pitchFamily="34" charset="-122"/>
                <a:cs typeface="Courier New" pitchFamily="34" charset="-120"/>
              </a:rPr>
              <a:t>end while</a:t>
            </a:r>
            <a:endParaRPr lang="en-US" sz="1000" dirty="0"/>
          </a:p>
        </p:txBody>
      </p:sp>
      <p:sp>
        <p:nvSpPr>
          <p:cNvPr id="20" name="Shape 18"/>
          <p:cNvSpPr/>
          <p:nvPr/>
        </p:nvSpPr>
        <p:spPr>
          <a:xfrm>
            <a:off x="5550408" y="1143000"/>
            <a:ext cx="3273552" cy="2999232"/>
          </a:xfrm>
          <a:prstGeom prst="roundRect">
            <a:avLst>
              <a:gd name="adj" fmla="val 1829"/>
            </a:avLst>
          </a:prstGeom>
          <a:solidFill>
            <a:srgbClr val="EBF0FA"/>
          </a:solidFill>
          <a:ln w="12700">
            <a:solidFill>
              <a:srgbClr val="003087"/>
            </a:solidFill>
            <a:prstDash val="solid"/>
          </a:ln>
        </p:spPr>
        <p:txBody>
          <a:bodyPr/>
          <a:lstStyle/>
          <a:p>
            <a:endParaRPr lang="en-NG"/>
          </a:p>
        </p:txBody>
      </p:sp>
      <p:sp>
        <p:nvSpPr>
          <p:cNvPr id="21" name="Text 19"/>
          <p:cNvSpPr/>
          <p:nvPr/>
        </p:nvSpPr>
        <p:spPr>
          <a:xfrm>
            <a:off x="5660136" y="1188720"/>
            <a:ext cx="3063240" cy="256032"/>
          </a:xfrm>
          <a:prstGeom prst="rect">
            <a:avLst/>
          </a:prstGeom>
          <a:noFill/>
          <a:ln/>
        </p:spPr>
        <p:txBody>
          <a:bodyPr wrap="square" lIns="63500" tIns="63500" rIns="63500" bIns="63500" rtlCol="0" anchor="t"/>
          <a:lstStyle/>
          <a:p>
            <a:pPr marL="0" indent="0" algn="l">
              <a:buNone/>
            </a:pPr>
            <a:r>
              <a:rPr lang="en-US" sz="1100" b="1" dirty="0">
                <a:solidFill>
                  <a:srgbClr val="003087"/>
                </a:solidFill>
                <a:latin typeface="Cambria" pitchFamily="34" charset="0"/>
                <a:ea typeface="Cambria" pitchFamily="34" charset="-122"/>
                <a:cs typeface="Cambria" pitchFamily="34" charset="-120"/>
              </a:rPr>
              <a:t>CG vs PCG: What Changes</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577840" y="1481328"/>
          <a:ext cx="3218688" cy="2643775"/>
        </p:xfrm>
        <a:graphic>
          <a:graphicData uri="http://schemas.openxmlformats.org/drawingml/2006/table">
            <a:tbl>
              <a:tblPr/>
              <a:tblGrid>
                <a:gridCol w="1072896">
                  <a:extLst>
                    <a:ext uri="{9D8B030D-6E8A-4147-A177-3AD203B41FA5}">
                      <a16:colId xmlns:a16="http://schemas.microsoft.com/office/drawing/2014/main" val="20000"/>
                    </a:ext>
                  </a:extLst>
                </a:gridCol>
                <a:gridCol w="1072896">
                  <a:extLst>
                    <a:ext uri="{9D8B030D-6E8A-4147-A177-3AD203B41FA5}">
                      <a16:colId xmlns:a16="http://schemas.microsoft.com/office/drawing/2014/main" val="20001"/>
                    </a:ext>
                  </a:extLst>
                </a:gridCol>
                <a:gridCol w="1072896">
                  <a:extLst>
                    <a:ext uri="{9D8B030D-6E8A-4147-A177-3AD203B41FA5}">
                      <a16:colId xmlns:a16="http://schemas.microsoft.com/office/drawing/2014/main" val="20002"/>
                    </a:ext>
                  </a:extLst>
                </a:gridCol>
              </a:tblGrid>
              <a:tr h="372291">
                <a:tc>
                  <a:txBody>
                    <a:bodyPr/>
                    <a:lstStyle/>
                    <a:p>
                      <a:pPr marL="0" indent="0" algn="ctr">
                        <a:buNone/>
                      </a:pPr>
                      <a:r>
                        <a:rPr lang="en-US" sz="950" b="1" dirty="0">
                          <a:solidFill>
                            <a:srgbClr val="FFFFFF"/>
                          </a:solidFill>
                          <a:latin typeface="Arial" pitchFamily="34" charset="0"/>
                          <a:ea typeface="Arial" pitchFamily="34" charset="-122"/>
                          <a:cs typeface="Arial" pitchFamily="34" charset="-120"/>
                        </a:rPr>
                        <a:t>Property</a:t>
                      </a:r>
                      <a:endParaRPr lang="en-US" sz="950" dirty="0">
                        <a:latin typeface="Arial" charset="0"/>
                        <a:ea typeface="Arial" charset="0"/>
                        <a:cs typeface="Arial" charset="0"/>
                      </a:endParaRPr>
                    </a:p>
                  </a:txBody>
                  <a:tcPr marL="50800" marR="50800" marT="50800" marB="50800" anchor="ctr">
                    <a:lnL w="0" cap="flat" cmpd="sng" algn="ctr">
                      <a:noFill/>
                    </a:lnL>
                    <a:lnR w="0" cap="flat" cmpd="sng" algn="ctr">
                      <a:noFill/>
                    </a:lnR>
                    <a:lnT w="6350" cap="flat" cmpd="sng" algn="ctr">
                      <a:solidFill>
                        <a:srgbClr val="DDE3EF"/>
                      </a:solidFill>
                      <a:prstDash val="solid"/>
                      <a:round/>
                      <a:headEnd type="none" w="med" len="med"/>
                      <a:tailEnd type="none" w="med" len="med"/>
                    </a:lnT>
                    <a:lnB w="0" cap="flat" cmpd="sng" algn="ctr">
                      <a:noFill/>
                    </a:lnB>
                    <a:solidFill>
                      <a:srgbClr val="003087"/>
                    </a:solidFill>
                  </a:tcPr>
                </a:tc>
                <a:tc>
                  <a:txBody>
                    <a:bodyPr/>
                    <a:lstStyle/>
                    <a:p>
                      <a:pPr marL="0" indent="0" algn="ctr">
                        <a:buNone/>
                      </a:pPr>
                      <a:r>
                        <a:rPr lang="en-US" sz="950" b="1" dirty="0">
                          <a:solidFill>
                            <a:srgbClr val="FFFFFF"/>
                          </a:solidFill>
                          <a:latin typeface="Arial" pitchFamily="34" charset="0"/>
                          <a:ea typeface="Arial" pitchFamily="34" charset="-122"/>
                          <a:cs typeface="Arial" pitchFamily="34" charset="-120"/>
                        </a:rPr>
                        <a:t>CG</a:t>
                      </a:r>
                      <a:endParaRPr lang="en-US" sz="950" dirty="0">
                        <a:latin typeface="Arial" charset="0"/>
                        <a:ea typeface="Arial" charset="0"/>
                        <a:cs typeface="Arial" charset="0"/>
                      </a:endParaRPr>
                    </a:p>
                  </a:txBody>
                  <a:tcPr marL="50800" marR="50800" marT="50800" marB="50800" anchor="ctr">
                    <a:lnL w="0" cap="flat" cmpd="sng" algn="ctr">
                      <a:noFill/>
                    </a:lnL>
                    <a:lnR w="0" cap="flat" cmpd="sng" algn="ctr">
                      <a:noFill/>
                    </a:lnR>
                    <a:lnT w="6350" cap="flat" cmpd="sng" algn="ctr">
                      <a:solidFill>
                        <a:srgbClr val="DDE3EF"/>
                      </a:solidFill>
                      <a:prstDash val="solid"/>
                      <a:round/>
                      <a:headEnd type="none" w="med" len="med"/>
                      <a:tailEnd type="none" w="med" len="med"/>
                    </a:lnT>
                    <a:lnB w="0" cap="flat" cmpd="sng" algn="ctr">
                      <a:noFill/>
                    </a:lnB>
                    <a:solidFill>
                      <a:srgbClr val="003087"/>
                    </a:solidFill>
                  </a:tcPr>
                </a:tc>
                <a:tc>
                  <a:txBody>
                    <a:bodyPr/>
                    <a:lstStyle/>
                    <a:p>
                      <a:pPr marL="0" indent="0" algn="ctr">
                        <a:buNone/>
                      </a:pPr>
                      <a:r>
                        <a:rPr lang="en-US" sz="950" b="1" dirty="0">
                          <a:solidFill>
                            <a:srgbClr val="FFFFFF"/>
                          </a:solidFill>
                          <a:latin typeface="Arial" pitchFamily="34" charset="0"/>
                          <a:ea typeface="Arial" pitchFamily="34" charset="-122"/>
                          <a:cs typeface="Arial" pitchFamily="34" charset="-120"/>
                        </a:rPr>
                        <a:t>PCG</a:t>
                      </a:r>
                      <a:endParaRPr lang="en-US" sz="950" dirty="0">
                        <a:latin typeface="Arial" charset="0"/>
                        <a:ea typeface="Arial" charset="0"/>
                        <a:cs typeface="Arial" charset="0"/>
                      </a:endParaRPr>
                    </a:p>
                  </a:txBody>
                  <a:tcPr marL="50800" marR="50800" marT="50800" marB="50800" anchor="ctr">
                    <a:lnL w="0" cap="flat" cmpd="sng" algn="ctr">
                      <a:noFill/>
                    </a:lnL>
                    <a:lnR w="0" cap="flat" cmpd="sng" algn="ctr">
                      <a:noFill/>
                    </a:lnR>
                    <a:lnT w="6350" cap="flat" cmpd="sng" algn="ctr">
                      <a:solidFill>
                        <a:srgbClr val="DDE3EF"/>
                      </a:solidFill>
                      <a:prstDash val="solid"/>
                      <a:round/>
                      <a:headEnd type="none" w="med" len="med"/>
                      <a:tailEnd type="none" w="med" len="med"/>
                    </a:lnT>
                    <a:lnB w="0" cap="flat" cmpd="sng" algn="ctr">
                      <a:noFill/>
                    </a:lnB>
                    <a:solidFill>
                      <a:srgbClr val="003087"/>
                    </a:solidFill>
                  </a:tcPr>
                </a:tc>
                <a:extLst>
                  <a:ext uri="{0D108BD9-81ED-4DB2-BD59-A6C34878D82A}">
                    <a16:rowId xmlns:a16="http://schemas.microsoft.com/office/drawing/2014/main" val="10000"/>
                  </a:ext>
                </a:extLst>
              </a:tr>
              <a:tr h="372291">
                <a:tc>
                  <a:txBody>
                    <a:bodyPr/>
                    <a:lstStyle/>
                    <a:p>
                      <a:pPr marL="0" indent="0" algn="ctr">
                        <a:buNone/>
                      </a:pPr>
                      <a:r>
                        <a:rPr lang="en-US" sz="950" b="1" dirty="0">
                          <a:solidFill>
                            <a:srgbClr val="1A1A2E"/>
                          </a:solidFill>
                          <a:latin typeface="Arial" pitchFamily="34" charset="0"/>
                          <a:ea typeface="Arial" pitchFamily="34" charset="-122"/>
                          <a:cs typeface="Arial" pitchFamily="34" charset="-120"/>
                        </a:rPr>
                        <a:t>α numer.</a:t>
                      </a:r>
                      <a:endParaRPr lang="en-US" sz="950" dirty="0">
                        <a:latin typeface="Arial" charset="0"/>
                        <a:ea typeface="Arial" charset="0"/>
                        <a:cs typeface="Arial" charset="0"/>
                      </a:endParaRPr>
                    </a:p>
                  </a:txBody>
                  <a:tcPr marL="50800" marR="50800" marT="50800" marB="508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950" b="1" dirty="0">
                          <a:solidFill>
                            <a:srgbClr val="1A1A2E"/>
                          </a:solidFill>
                          <a:latin typeface="Arial" pitchFamily="34" charset="0"/>
                          <a:ea typeface="Arial" pitchFamily="34" charset="-122"/>
                          <a:cs typeface="Arial" pitchFamily="34" charset="-120"/>
                        </a:rPr>
                        <a:t>(r,r)</a:t>
                      </a:r>
                      <a:endParaRPr lang="en-US" sz="950" dirty="0">
                        <a:latin typeface="Arial" charset="0"/>
                        <a:ea typeface="Arial" charset="0"/>
                        <a:cs typeface="Arial" charset="0"/>
                      </a:endParaRPr>
                    </a:p>
                  </a:txBody>
                  <a:tcPr marL="50800" marR="50800" marT="50800" marB="508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950" b="1" dirty="0">
                          <a:solidFill>
                            <a:srgbClr val="1A1A2E"/>
                          </a:solidFill>
                          <a:latin typeface="Arial" pitchFamily="34" charset="0"/>
                          <a:ea typeface="Arial" pitchFamily="34" charset="-122"/>
                          <a:cs typeface="Arial" pitchFamily="34" charset="-120"/>
                        </a:rPr>
                        <a:t>(r,z)</a:t>
                      </a:r>
                      <a:endParaRPr lang="en-US" sz="950" dirty="0">
                        <a:latin typeface="Arial" charset="0"/>
                        <a:ea typeface="Arial" charset="0"/>
                        <a:cs typeface="Arial" charset="0"/>
                      </a:endParaRPr>
                    </a:p>
                  </a:txBody>
                  <a:tcPr marL="50800" marR="50800" marT="50800" marB="508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1"/>
                  </a:ext>
                </a:extLst>
              </a:tr>
              <a:tr h="372291">
                <a:tc>
                  <a:txBody>
                    <a:bodyPr/>
                    <a:lstStyle/>
                    <a:p>
                      <a:pPr marL="0" indent="0" algn="ctr">
                        <a:buNone/>
                      </a:pPr>
                      <a:r>
                        <a:rPr lang="en-US" sz="950" b="1" dirty="0">
                          <a:solidFill>
                            <a:srgbClr val="1A1A2E"/>
                          </a:solidFill>
                          <a:latin typeface="Arial" pitchFamily="34" charset="0"/>
                          <a:ea typeface="Arial" pitchFamily="34" charset="-122"/>
                          <a:cs typeface="Arial" pitchFamily="34" charset="-120"/>
                        </a:rPr>
                        <a:t>β numer.</a:t>
                      </a:r>
                      <a:endParaRPr lang="en-US" sz="950" dirty="0">
                        <a:latin typeface="Arial" charset="0"/>
                        <a:ea typeface="Arial" charset="0"/>
                        <a:cs typeface="Arial" charset="0"/>
                      </a:endParaRPr>
                    </a:p>
                  </a:txBody>
                  <a:tcPr marL="50800" marR="50800" marT="50800" marB="508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950" b="1" dirty="0">
                          <a:solidFill>
                            <a:srgbClr val="1A1A2E"/>
                          </a:solidFill>
                          <a:latin typeface="Arial" pitchFamily="34" charset="0"/>
                          <a:ea typeface="Arial" pitchFamily="34" charset="-122"/>
                          <a:cs typeface="Arial" pitchFamily="34" charset="-120"/>
                        </a:rPr>
                        <a:t>‖r_{k+1}‖²/‖r_k‖²</a:t>
                      </a:r>
                      <a:endParaRPr lang="en-US" sz="950" dirty="0">
                        <a:latin typeface="Arial" charset="0"/>
                        <a:ea typeface="Arial" charset="0"/>
                        <a:cs typeface="Arial" charset="0"/>
                      </a:endParaRPr>
                    </a:p>
                  </a:txBody>
                  <a:tcPr marL="50800" marR="50800" marT="50800" marB="508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950" b="1" dirty="0">
                          <a:solidFill>
                            <a:srgbClr val="1A1A2E"/>
                          </a:solidFill>
                          <a:latin typeface="Arial" pitchFamily="34" charset="0"/>
                          <a:ea typeface="Arial" pitchFamily="34" charset="-122"/>
                          <a:cs typeface="Arial" pitchFamily="34" charset="-120"/>
                        </a:rPr>
                        <a:t>(r_{k+1},z_{k+1})/(r_k,z_k)</a:t>
                      </a:r>
                      <a:endParaRPr lang="en-US" sz="950" dirty="0">
                        <a:latin typeface="Arial" charset="0"/>
                        <a:ea typeface="Arial" charset="0"/>
                        <a:cs typeface="Arial" charset="0"/>
                      </a:endParaRPr>
                    </a:p>
                  </a:txBody>
                  <a:tcPr marL="50800" marR="50800" marT="50800" marB="508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2"/>
                  </a:ext>
                </a:extLst>
              </a:tr>
              <a:tr h="372291">
                <a:tc>
                  <a:txBody>
                    <a:bodyPr/>
                    <a:lstStyle/>
                    <a:p>
                      <a:pPr marL="0" indent="0" algn="ctr">
                        <a:buNone/>
                      </a:pPr>
                      <a:r>
                        <a:rPr lang="en-US" sz="950" b="1" dirty="0">
                          <a:solidFill>
                            <a:srgbClr val="1A1A2E"/>
                          </a:solidFill>
                          <a:latin typeface="Arial" pitchFamily="34" charset="0"/>
                          <a:ea typeface="Arial" pitchFamily="34" charset="-122"/>
                          <a:cs typeface="Arial" pitchFamily="34" charset="-120"/>
                        </a:rPr>
                        <a:t>Extra step</a:t>
                      </a:r>
                      <a:endParaRPr lang="en-US" sz="950" dirty="0">
                        <a:latin typeface="Arial" charset="0"/>
                        <a:ea typeface="Arial" charset="0"/>
                        <a:cs typeface="Arial" charset="0"/>
                      </a:endParaRPr>
                    </a:p>
                  </a:txBody>
                  <a:tcPr marL="50800" marR="50800" marT="50800" marB="508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950" b="1" dirty="0">
                          <a:solidFill>
                            <a:srgbClr val="1A1A2E"/>
                          </a:solidFill>
                          <a:latin typeface="Arial" pitchFamily="34" charset="0"/>
                          <a:ea typeface="Arial" pitchFamily="34" charset="-122"/>
                          <a:cs typeface="Arial" pitchFamily="34" charset="-120"/>
                        </a:rPr>
                        <a:t>none</a:t>
                      </a:r>
                      <a:endParaRPr lang="en-US" sz="950" dirty="0">
                        <a:latin typeface="Arial" charset="0"/>
                        <a:ea typeface="Arial" charset="0"/>
                        <a:cs typeface="Arial" charset="0"/>
                      </a:endParaRPr>
                    </a:p>
                  </a:txBody>
                  <a:tcPr marL="50800" marR="50800" marT="50800" marB="508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950" b="1" dirty="0">
                          <a:solidFill>
                            <a:srgbClr val="1A1A2E"/>
                          </a:solidFill>
                          <a:latin typeface="Arial" pitchFamily="34" charset="0"/>
                          <a:ea typeface="Arial" pitchFamily="34" charset="-122"/>
                          <a:cs typeface="Arial" pitchFamily="34" charset="-120"/>
                        </a:rPr>
                        <a:t>z_{k+1}=M⁻¹r_{k+1}</a:t>
                      </a:r>
                      <a:endParaRPr lang="en-US" sz="950" dirty="0">
                        <a:latin typeface="Arial" charset="0"/>
                        <a:ea typeface="Arial" charset="0"/>
                        <a:cs typeface="Arial" charset="0"/>
                      </a:endParaRPr>
                    </a:p>
                  </a:txBody>
                  <a:tcPr marL="50800" marR="50800" marT="50800" marB="508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3"/>
                  </a:ext>
                </a:extLst>
              </a:tr>
              <a:tr h="372291">
                <a:tc>
                  <a:txBody>
                    <a:bodyPr/>
                    <a:lstStyle/>
                    <a:p>
                      <a:pPr marL="0" indent="0" algn="ctr">
                        <a:buNone/>
                      </a:pPr>
                      <a:r>
                        <a:rPr lang="en-US" sz="950" b="1" dirty="0">
                          <a:solidFill>
                            <a:srgbClr val="1A1A2E"/>
                          </a:solidFill>
                          <a:latin typeface="Arial" pitchFamily="34" charset="0"/>
                          <a:ea typeface="Arial" pitchFamily="34" charset="-122"/>
                          <a:cs typeface="Arial" pitchFamily="34" charset="-120"/>
                        </a:rPr>
                        <a:t>Direction</a:t>
                      </a:r>
                      <a:endParaRPr lang="en-US" sz="950" dirty="0">
                        <a:latin typeface="Arial" charset="0"/>
                        <a:ea typeface="Arial" charset="0"/>
                        <a:cs typeface="Arial" charset="0"/>
                      </a:endParaRPr>
                    </a:p>
                  </a:txBody>
                  <a:tcPr marL="50800" marR="50800" marT="50800" marB="508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950" b="1" dirty="0">
                          <a:solidFill>
                            <a:srgbClr val="1A1A2E"/>
                          </a:solidFill>
                          <a:latin typeface="Arial" pitchFamily="34" charset="0"/>
                          <a:ea typeface="Arial" pitchFamily="34" charset="-122"/>
                          <a:cs typeface="Arial" pitchFamily="34" charset="-120"/>
                        </a:rPr>
                        <a:t>r_{k+1}+βp_k</a:t>
                      </a:r>
                      <a:endParaRPr lang="en-US" sz="950" dirty="0">
                        <a:latin typeface="Arial" charset="0"/>
                        <a:ea typeface="Arial" charset="0"/>
                        <a:cs typeface="Arial" charset="0"/>
                      </a:endParaRPr>
                    </a:p>
                  </a:txBody>
                  <a:tcPr marL="50800" marR="50800" marT="50800" marB="508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950" b="1" dirty="0">
                          <a:solidFill>
                            <a:srgbClr val="1A1A2E"/>
                          </a:solidFill>
                          <a:latin typeface="Arial" pitchFamily="34" charset="0"/>
                          <a:ea typeface="Arial" pitchFamily="34" charset="-122"/>
                          <a:cs typeface="Arial" pitchFamily="34" charset="-120"/>
                        </a:rPr>
                        <a:t>z_{k+1}+βp_k</a:t>
                      </a:r>
                      <a:endParaRPr lang="en-US" sz="950" dirty="0">
                        <a:latin typeface="Arial" charset="0"/>
                        <a:ea typeface="Arial" charset="0"/>
                        <a:cs typeface="Arial" charset="0"/>
                      </a:endParaRPr>
                    </a:p>
                  </a:txBody>
                  <a:tcPr marL="50800" marR="50800" marT="50800" marB="508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4"/>
                  </a:ext>
                </a:extLst>
              </a:tr>
              <a:tr h="372291">
                <a:tc>
                  <a:txBody>
                    <a:bodyPr/>
                    <a:lstStyle/>
                    <a:p>
                      <a:pPr marL="0" indent="0" algn="ctr">
                        <a:buNone/>
                      </a:pPr>
                      <a:r>
                        <a:rPr lang="en-US" sz="950" b="1" dirty="0">
                          <a:solidFill>
                            <a:srgbClr val="1A1A2E"/>
                          </a:solidFill>
                          <a:latin typeface="Arial" pitchFamily="34" charset="0"/>
                          <a:ea typeface="Arial" pitchFamily="34" charset="-122"/>
                          <a:cs typeface="Arial" pitchFamily="34" charset="-120"/>
                        </a:rPr>
                        <a:t>Conv. rate</a:t>
                      </a:r>
                      <a:endParaRPr lang="en-US" sz="950" dirty="0">
                        <a:latin typeface="Arial" charset="0"/>
                        <a:ea typeface="Arial" charset="0"/>
                        <a:cs typeface="Arial" charset="0"/>
                      </a:endParaRPr>
                    </a:p>
                  </a:txBody>
                  <a:tcPr marL="50800" marR="50800" marT="50800" marB="508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950" b="1" dirty="0">
                          <a:solidFill>
                            <a:srgbClr val="1A1A2E"/>
                          </a:solidFill>
                          <a:latin typeface="Arial" pitchFamily="34" charset="0"/>
                          <a:ea typeface="Arial" pitchFamily="34" charset="-122"/>
                          <a:cs typeface="Arial" pitchFamily="34" charset="-120"/>
                        </a:rPr>
                        <a:t>κ(A)</a:t>
                      </a:r>
                      <a:endParaRPr lang="en-US" sz="950" dirty="0">
                        <a:latin typeface="Arial" charset="0"/>
                        <a:ea typeface="Arial" charset="0"/>
                        <a:cs typeface="Arial" charset="0"/>
                      </a:endParaRPr>
                    </a:p>
                  </a:txBody>
                  <a:tcPr marL="50800" marR="50800" marT="50800" marB="508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950" b="1" dirty="0">
                          <a:solidFill>
                            <a:srgbClr val="1A1A2E"/>
                          </a:solidFill>
                          <a:latin typeface="Arial" pitchFamily="34" charset="0"/>
                          <a:ea typeface="Arial" pitchFamily="34" charset="-122"/>
                          <a:cs typeface="Arial" pitchFamily="34" charset="-120"/>
                        </a:rPr>
                        <a:t>k(M⁻¹A)</a:t>
                      </a:r>
                      <a:endParaRPr lang="en-US" sz="950" dirty="0">
                        <a:latin typeface="Arial" charset="0"/>
                        <a:ea typeface="Arial" charset="0"/>
                        <a:cs typeface="Arial" charset="0"/>
                      </a:endParaRPr>
                    </a:p>
                  </a:txBody>
                  <a:tcPr marL="50800" marR="50800" marT="50800" marB="508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5"/>
                  </a:ext>
                </a:extLst>
              </a:tr>
              <a:tr h="372291">
                <a:tc>
                  <a:txBody>
                    <a:bodyPr/>
                    <a:lstStyle/>
                    <a:p>
                      <a:pPr marL="0" indent="0" algn="ctr">
                        <a:buNone/>
                      </a:pPr>
                      <a:r>
                        <a:rPr lang="en-US" sz="950" b="1" dirty="0">
                          <a:solidFill>
                            <a:srgbClr val="1A1A2E"/>
                          </a:solidFill>
                          <a:latin typeface="Arial" pitchFamily="34" charset="0"/>
                          <a:ea typeface="Arial" pitchFamily="34" charset="-122"/>
                          <a:cs typeface="Arial" pitchFamily="34" charset="-120"/>
                        </a:rPr>
                        <a:t>Memory</a:t>
                      </a:r>
                      <a:endParaRPr lang="en-US" sz="950" dirty="0">
                        <a:latin typeface="Arial" charset="0"/>
                        <a:ea typeface="Arial" charset="0"/>
                        <a:cs typeface="Arial" charset="0"/>
                      </a:endParaRPr>
                    </a:p>
                  </a:txBody>
                  <a:tcPr marL="50800" marR="50800" marT="50800" marB="508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950" b="1" dirty="0">
                          <a:solidFill>
                            <a:srgbClr val="1A1A2E"/>
                          </a:solidFill>
                          <a:latin typeface="Arial" pitchFamily="34" charset="0"/>
                          <a:ea typeface="Arial" pitchFamily="34" charset="-122"/>
                          <a:cs typeface="Arial" pitchFamily="34" charset="-120"/>
                        </a:rPr>
                        <a:t>4 vectors</a:t>
                      </a:r>
                      <a:endParaRPr lang="en-US" sz="950" dirty="0">
                        <a:latin typeface="Arial" charset="0"/>
                        <a:ea typeface="Arial" charset="0"/>
                        <a:cs typeface="Arial" charset="0"/>
                      </a:endParaRPr>
                    </a:p>
                  </a:txBody>
                  <a:tcPr marL="50800" marR="50800" marT="50800" marB="508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950" b="1" dirty="0">
                          <a:solidFill>
                            <a:srgbClr val="1A1A2E"/>
                          </a:solidFill>
                          <a:latin typeface="Arial" pitchFamily="34" charset="0"/>
                          <a:ea typeface="Arial" pitchFamily="34" charset="-122"/>
                          <a:cs typeface="Arial" pitchFamily="34" charset="-120"/>
                        </a:rPr>
                        <a:t>5 vectors</a:t>
                      </a:r>
                      <a:endParaRPr lang="en-US" sz="950" dirty="0">
                        <a:latin typeface="Arial" charset="0"/>
                        <a:ea typeface="Arial" charset="0"/>
                        <a:cs typeface="Arial" charset="0"/>
                      </a:endParaRPr>
                    </a:p>
                  </a:txBody>
                  <a:tcPr marL="50800" marR="50800" marT="50800" marB="508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6"/>
                  </a:ext>
                </a:extLst>
              </a:tr>
            </a:tbl>
          </a:graphicData>
        </a:graphic>
      </p:graphicFrame>
      <p:sp>
        <p:nvSpPr>
          <p:cNvPr id="23" name="Shape 20"/>
          <p:cNvSpPr/>
          <p:nvPr/>
        </p:nvSpPr>
        <p:spPr>
          <a:xfrm>
            <a:off x="320040" y="4233672"/>
            <a:ext cx="8503920" cy="530352"/>
          </a:xfrm>
          <a:prstGeom prst="roundRect">
            <a:avLst>
              <a:gd name="adj" fmla="val 10345"/>
            </a:avLst>
          </a:prstGeom>
          <a:solidFill>
            <a:srgbClr val="003087"/>
          </a:solidFill>
          <a:ln w="12700">
            <a:solidFill>
              <a:srgbClr val="003087"/>
            </a:solidFill>
            <a:prstDash val="solid"/>
          </a:ln>
        </p:spPr>
        <p:txBody>
          <a:bodyPr/>
          <a:lstStyle/>
          <a:p>
            <a:endParaRPr lang="en-NG"/>
          </a:p>
        </p:txBody>
      </p:sp>
      <p:sp>
        <p:nvSpPr>
          <p:cNvPr id="24" name="Text 21"/>
          <p:cNvSpPr/>
          <p:nvPr/>
        </p:nvSpPr>
        <p:spPr>
          <a:xfrm>
            <a:off x="457200" y="4270248"/>
            <a:ext cx="8229600" cy="438912"/>
          </a:xfrm>
          <a:prstGeom prst="rect">
            <a:avLst/>
          </a:prstGeom>
          <a:noFill/>
          <a:ln/>
        </p:spPr>
        <p:txBody>
          <a:bodyPr wrap="square" lIns="50800" tIns="50800" rIns="50800" bIns="50800" rtlCol="0" anchor="t"/>
          <a:lstStyle/>
          <a:p>
            <a:pPr marL="0" indent="0" algn="l">
              <a:buNone/>
            </a:pPr>
            <a:r>
              <a:rPr lang="en-US" sz="1100" dirty="0">
                <a:solidFill>
                  <a:srgbClr val="FFFFFF"/>
                </a:solidFill>
                <a:latin typeface="Arial" pitchFamily="34" charset="0"/>
                <a:ea typeface="Arial" pitchFamily="34" charset="-122"/>
                <a:cs typeface="Arial" pitchFamily="34" charset="-120"/>
              </a:rPr>
              <a:t>The highlighted line — z_{k+1} = M⁻¹r_{k+1} — is the entire algorithmic difference between CG and PCG.  In MATLAB: z = L̃' \ (L̃ \ r_{k+1})</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3087"/>
          </a:solidFill>
          <a:ln w="12700">
            <a:solidFill>
              <a:srgbClr val="003087"/>
            </a:solidFill>
            <a:prstDash val="solid"/>
          </a:ln>
        </p:spPr>
        <p:txBody>
          <a:bodyPr/>
          <a:lstStyle/>
          <a:p>
            <a:endParaRPr lang="en-NG"/>
          </a:p>
        </p:txBody>
      </p:sp>
      <p:sp>
        <p:nvSpPr>
          <p:cNvPr id="3" name="Text 1"/>
          <p:cNvSpPr/>
          <p:nvPr/>
        </p:nvSpPr>
        <p:spPr>
          <a:xfrm>
            <a:off x="320040" y="54864"/>
            <a:ext cx="7589520" cy="530352"/>
          </a:xfrm>
          <a:prstGeom prst="rect">
            <a:avLst/>
          </a:prstGeom>
          <a:noFill/>
          <a:ln/>
        </p:spPr>
        <p:txBody>
          <a:bodyPr wrap="square" lIns="50800" tIns="50800" rIns="50800" bIns="50800" rtlCol="0" anchor="ctr"/>
          <a:lstStyle/>
          <a:p>
            <a:pPr marL="0" indent="0" algn="l">
              <a:buNone/>
            </a:pPr>
            <a:r>
              <a:rPr lang="en-US" sz="1900" b="1" dirty="0">
                <a:solidFill>
                  <a:srgbClr val="FFFFFF"/>
                </a:solidFill>
                <a:latin typeface="Cambria" pitchFamily="34" charset="0"/>
                <a:ea typeface="Cambria" pitchFamily="34" charset="-122"/>
                <a:cs typeface="Cambria" pitchFamily="34" charset="-120"/>
              </a:rPr>
              <a:t>13.  Implementation in MATLAB</a:t>
            </a:r>
            <a:endParaRPr lang="en-US" sz="1900" dirty="0"/>
          </a:p>
        </p:txBody>
      </p:sp>
      <p:sp>
        <p:nvSpPr>
          <p:cNvPr id="4" name="Text 2"/>
          <p:cNvSpPr/>
          <p:nvPr/>
        </p:nvSpPr>
        <p:spPr>
          <a:xfrm>
            <a:off x="8138160" y="54864"/>
            <a:ext cx="640080" cy="530352"/>
          </a:xfrm>
          <a:prstGeom prst="rect">
            <a:avLst/>
          </a:prstGeom>
          <a:noFill/>
          <a:ln/>
        </p:spPr>
        <p:txBody>
          <a:bodyPr wrap="square" lIns="25400" tIns="25400" rIns="25400" bIns="25400" rtlCol="0" anchor="ctr"/>
          <a:lstStyle/>
          <a:p>
            <a:pPr marL="0" indent="0" algn="r">
              <a:buNone/>
            </a:pPr>
            <a:r>
              <a:rPr lang="en-US" sz="1000" dirty="0">
                <a:solidFill>
                  <a:srgbClr val="AAC0E8"/>
                </a:solidFill>
                <a:latin typeface="Arial" pitchFamily="34" charset="0"/>
                <a:ea typeface="Arial" pitchFamily="34" charset="-122"/>
                <a:cs typeface="Arial" pitchFamily="34" charset="-120"/>
              </a:rPr>
              <a:t>13 / 20</a:t>
            </a:r>
            <a:endParaRPr lang="en-US" sz="1000" dirty="0"/>
          </a:p>
        </p:txBody>
      </p:sp>
      <p:sp>
        <p:nvSpPr>
          <p:cNvPr id="5" name="Shape 3"/>
          <p:cNvSpPr/>
          <p:nvPr/>
        </p:nvSpPr>
        <p:spPr>
          <a:xfrm>
            <a:off x="0" y="640080"/>
            <a:ext cx="9144000" cy="45720"/>
          </a:xfrm>
          <a:prstGeom prst="rect">
            <a:avLst/>
          </a:prstGeom>
          <a:solidFill>
            <a:srgbClr val="C8102E"/>
          </a:solidFill>
          <a:ln w="12700">
            <a:solidFill>
              <a:srgbClr val="C8102E"/>
            </a:solidFill>
            <a:prstDash val="solid"/>
          </a:ln>
        </p:spPr>
        <p:txBody>
          <a:bodyPr/>
          <a:lstStyle/>
          <a:p>
            <a:endParaRPr lang="en-NG"/>
          </a:p>
        </p:txBody>
      </p:sp>
      <p:sp>
        <p:nvSpPr>
          <p:cNvPr id="6" name="Shape 4"/>
          <p:cNvSpPr/>
          <p:nvPr/>
        </p:nvSpPr>
        <p:spPr>
          <a:xfrm>
            <a:off x="320040" y="749808"/>
            <a:ext cx="8503920" cy="713232"/>
          </a:xfrm>
          <a:prstGeom prst="roundRect">
            <a:avLst>
              <a:gd name="adj" fmla="val 7692"/>
            </a:avLst>
          </a:prstGeom>
          <a:solidFill>
            <a:srgbClr val="EBF0FA"/>
          </a:solidFill>
          <a:ln w="12700">
            <a:solidFill>
              <a:srgbClr val="003087"/>
            </a:solidFill>
            <a:prstDash val="solid"/>
          </a:ln>
        </p:spPr>
        <p:txBody>
          <a:bodyPr/>
          <a:lstStyle/>
          <a:p>
            <a:endParaRPr lang="en-NG"/>
          </a:p>
        </p:txBody>
      </p:sp>
      <p:sp>
        <p:nvSpPr>
          <p:cNvPr id="7" name="Text 5"/>
          <p:cNvSpPr/>
          <p:nvPr/>
        </p:nvSpPr>
        <p:spPr>
          <a:xfrm>
            <a:off x="429768" y="795528"/>
            <a:ext cx="8284464" cy="237744"/>
          </a:xfrm>
          <a:prstGeom prst="rect">
            <a:avLst/>
          </a:prstGeom>
          <a:noFill/>
          <a:ln/>
        </p:spPr>
        <p:txBody>
          <a:bodyPr wrap="square" lIns="63500" tIns="63500" rIns="63500" bIns="63500" rtlCol="0" anchor="t"/>
          <a:lstStyle/>
          <a:p>
            <a:pPr marL="0" indent="0" algn="l">
              <a:buNone/>
            </a:pPr>
            <a:r>
              <a:rPr lang="en-US" sz="1100" b="1" dirty="0">
                <a:solidFill>
                  <a:srgbClr val="003087"/>
                </a:solidFill>
                <a:latin typeface="Cambria" pitchFamily="34" charset="0"/>
                <a:ea typeface="Cambria" pitchFamily="34" charset="-122"/>
                <a:cs typeface="Cambria" pitchFamily="34" charset="-120"/>
              </a:rPr>
              <a:t>Function Signatures:</a:t>
            </a:r>
            <a:endParaRPr lang="en-US" sz="1100" dirty="0"/>
          </a:p>
        </p:txBody>
      </p:sp>
      <p:sp>
        <p:nvSpPr>
          <p:cNvPr id="8" name="Text 6"/>
          <p:cNvSpPr/>
          <p:nvPr/>
        </p:nvSpPr>
        <p:spPr>
          <a:xfrm>
            <a:off x="457200" y="1042416"/>
            <a:ext cx="8229600" cy="201168"/>
          </a:xfrm>
          <a:prstGeom prst="rect">
            <a:avLst/>
          </a:prstGeom>
          <a:noFill/>
          <a:ln/>
        </p:spPr>
        <p:txBody>
          <a:bodyPr wrap="square" lIns="0" tIns="0" rIns="0" bIns="0" rtlCol="0" anchor="t"/>
          <a:lstStyle/>
          <a:p>
            <a:pPr marL="0" indent="0" algn="l">
              <a:buNone/>
            </a:pPr>
            <a:r>
              <a:rPr lang="en-US" sz="1100" dirty="0">
                <a:solidFill>
                  <a:srgbClr val="1A1A2E"/>
                </a:solidFill>
                <a:latin typeface="Courier New" pitchFamily="34" charset="0"/>
                <a:ea typeface="Courier New" pitchFamily="34" charset="-122"/>
                <a:cs typeface="Courier New" pitchFamily="34" charset="-120"/>
              </a:rPr>
              <a:t>CG_solver(A, b, x₀, tol, kmax)  →  [x, r, r_norm, rel_res, k]</a:t>
            </a:r>
            <a:endParaRPr lang="en-US" sz="1100" dirty="0"/>
          </a:p>
        </p:txBody>
      </p:sp>
      <p:sp>
        <p:nvSpPr>
          <p:cNvPr id="9" name="Text 7"/>
          <p:cNvSpPr/>
          <p:nvPr/>
        </p:nvSpPr>
        <p:spPr>
          <a:xfrm>
            <a:off x="457200" y="1225296"/>
            <a:ext cx="8229600" cy="201168"/>
          </a:xfrm>
          <a:prstGeom prst="rect">
            <a:avLst/>
          </a:prstGeom>
          <a:noFill/>
          <a:ln/>
        </p:spPr>
        <p:txBody>
          <a:bodyPr wrap="square" lIns="0" tIns="0" rIns="0" bIns="0" rtlCol="0" anchor="t"/>
          <a:lstStyle/>
          <a:p>
            <a:pPr marL="0" indent="0" algn="l">
              <a:buNone/>
            </a:pPr>
            <a:r>
              <a:rPr lang="en-US" sz="1100" dirty="0">
                <a:solidFill>
                  <a:srgbClr val="1A1A2E"/>
                </a:solidFill>
                <a:latin typeface="Courier New" pitchFamily="34" charset="0"/>
                <a:ea typeface="Courier New" pitchFamily="34" charset="-122"/>
                <a:cs typeface="Courier New" pitchFamily="34" charset="-120"/>
              </a:rPr>
              <a:t>PCG_solver(A, b, x₀, tol, kmax, M_lower)  →  [x, r, r_norm, rel_res, k]</a:t>
            </a:r>
            <a:endParaRPr lang="en-US" sz="1100" dirty="0"/>
          </a:p>
        </p:txBody>
      </p:sp>
      <p:sp>
        <p:nvSpPr>
          <p:cNvPr id="10" name="Shape 8"/>
          <p:cNvSpPr/>
          <p:nvPr/>
        </p:nvSpPr>
        <p:spPr>
          <a:xfrm>
            <a:off x="320040" y="1847088"/>
            <a:ext cx="1572768" cy="658368"/>
          </a:xfrm>
          <a:prstGeom prst="roundRect">
            <a:avLst>
              <a:gd name="adj" fmla="val 8333"/>
            </a:avLst>
          </a:prstGeom>
          <a:solidFill>
            <a:srgbClr val="003087"/>
          </a:solidFill>
          <a:ln w="12700">
            <a:solidFill>
              <a:srgbClr val="003087"/>
            </a:solidFill>
            <a:prstDash val="solid"/>
          </a:ln>
        </p:spPr>
        <p:txBody>
          <a:bodyPr/>
          <a:lstStyle/>
          <a:p>
            <a:endParaRPr lang="en-NG"/>
          </a:p>
        </p:txBody>
      </p:sp>
      <p:sp>
        <p:nvSpPr>
          <p:cNvPr id="11" name="Text 9"/>
          <p:cNvSpPr/>
          <p:nvPr/>
        </p:nvSpPr>
        <p:spPr>
          <a:xfrm>
            <a:off x="320040" y="1847088"/>
            <a:ext cx="1572768" cy="658368"/>
          </a:xfrm>
          <a:prstGeom prst="rect">
            <a:avLst/>
          </a:prstGeom>
          <a:noFill/>
          <a:ln/>
        </p:spPr>
        <p:txBody>
          <a:bodyPr wrap="square" lIns="25400" tIns="25400" rIns="25400" bIns="25400" rtlCol="0" anchor="ctr"/>
          <a:lstStyle/>
          <a:p>
            <a:pPr marL="0" indent="0" algn="ctr">
              <a:buNone/>
            </a:pPr>
            <a:r>
              <a:rPr lang="en-US" sz="950" dirty="0">
                <a:solidFill>
                  <a:srgbClr val="FFFFFF"/>
                </a:solidFill>
                <a:latin typeface="Arial" pitchFamily="34" charset="0"/>
                <a:ea typeface="Arial" pitchFamily="34" charset="-122"/>
                <a:cs typeface="Arial" pitchFamily="34" charset="-120"/>
              </a:rPr>
              <a:t>Input</a:t>
            </a:r>
            <a:endParaRPr lang="en-US" sz="950" dirty="0"/>
          </a:p>
          <a:p>
            <a:pPr marL="0" indent="0" algn="ctr">
              <a:buNone/>
            </a:pPr>
            <a:r>
              <a:rPr lang="en-US" sz="950" dirty="0">
                <a:solidFill>
                  <a:srgbClr val="FFFFFF"/>
                </a:solidFill>
                <a:latin typeface="Arial" pitchFamily="34" charset="0"/>
                <a:ea typeface="Arial" pitchFamily="34" charset="-122"/>
                <a:cs typeface="Arial" pitchFamily="34" charset="-120"/>
              </a:rPr>
              <a:t>A,b,x₀,tol,kmax</a:t>
            </a:r>
            <a:endParaRPr lang="en-US" sz="950" dirty="0"/>
          </a:p>
        </p:txBody>
      </p:sp>
      <p:sp>
        <p:nvSpPr>
          <p:cNvPr id="12" name="Shape 10"/>
          <p:cNvSpPr/>
          <p:nvPr/>
        </p:nvSpPr>
        <p:spPr>
          <a:xfrm>
            <a:off x="1892808" y="2121408"/>
            <a:ext cx="164592" cy="54864"/>
          </a:xfrm>
          <a:prstGeom prst="rect">
            <a:avLst/>
          </a:prstGeom>
          <a:solidFill>
            <a:srgbClr val="6B7C99"/>
          </a:solidFill>
          <a:ln w="12700">
            <a:solidFill>
              <a:srgbClr val="6B7C99"/>
            </a:solidFill>
            <a:prstDash val="solid"/>
          </a:ln>
        </p:spPr>
        <p:txBody>
          <a:bodyPr/>
          <a:lstStyle/>
          <a:p>
            <a:endParaRPr lang="en-NG"/>
          </a:p>
        </p:txBody>
      </p:sp>
      <p:sp>
        <p:nvSpPr>
          <p:cNvPr id="13" name="Shape 11"/>
          <p:cNvSpPr/>
          <p:nvPr/>
        </p:nvSpPr>
        <p:spPr>
          <a:xfrm>
            <a:off x="2057400" y="1847088"/>
            <a:ext cx="1572768" cy="658368"/>
          </a:xfrm>
          <a:prstGeom prst="roundRect">
            <a:avLst>
              <a:gd name="adj" fmla="val 8333"/>
            </a:avLst>
          </a:prstGeom>
          <a:solidFill>
            <a:srgbClr val="1A5276"/>
          </a:solidFill>
          <a:ln w="12700">
            <a:solidFill>
              <a:srgbClr val="1A5276"/>
            </a:solidFill>
            <a:prstDash val="solid"/>
          </a:ln>
        </p:spPr>
        <p:txBody>
          <a:bodyPr/>
          <a:lstStyle/>
          <a:p>
            <a:endParaRPr lang="en-NG"/>
          </a:p>
        </p:txBody>
      </p:sp>
      <p:sp>
        <p:nvSpPr>
          <p:cNvPr id="14" name="Text 12"/>
          <p:cNvSpPr/>
          <p:nvPr/>
        </p:nvSpPr>
        <p:spPr>
          <a:xfrm>
            <a:off x="2057400" y="1847088"/>
            <a:ext cx="1572768" cy="658368"/>
          </a:xfrm>
          <a:prstGeom prst="rect">
            <a:avLst/>
          </a:prstGeom>
          <a:noFill/>
          <a:ln/>
        </p:spPr>
        <p:txBody>
          <a:bodyPr wrap="square" lIns="25400" tIns="25400" rIns="25400" bIns="25400" rtlCol="0" anchor="ctr"/>
          <a:lstStyle/>
          <a:p>
            <a:pPr marL="0" indent="0" algn="ctr">
              <a:buNone/>
            </a:pPr>
            <a:r>
              <a:rPr lang="en-US" sz="950" dirty="0">
                <a:solidFill>
                  <a:srgbClr val="FFFFFF"/>
                </a:solidFill>
                <a:latin typeface="Arial" pitchFamily="34" charset="0"/>
                <a:ea typeface="Arial" pitchFamily="34" charset="-122"/>
                <a:cs typeface="Arial" pitchFamily="34" charset="-120"/>
              </a:rPr>
              <a:t>Initialise</a:t>
            </a:r>
            <a:endParaRPr lang="en-US" sz="950" dirty="0"/>
          </a:p>
          <a:p>
            <a:pPr marL="0" indent="0" algn="ctr">
              <a:buNone/>
            </a:pPr>
            <a:r>
              <a:rPr lang="en-US" sz="950" dirty="0">
                <a:solidFill>
                  <a:srgbClr val="FFFFFF"/>
                </a:solidFill>
                <a:latin typeface="Arial" pitchFamily="34" charset="0"/>
                <a:ea typeface="Arial" pitchFamily="34" charset="-122"/>
                <a:cs typeface="Arial" pitchFamily="34" charset="-120"/>
              </a:rPr>
              <a:t>r←b−Ax, p←r</a:t>
            </a:r>
            <a:endParaRPr lang="en-US" sz="950" dirty="0"/>
          </a:p>
        </p:txBody>
      </p:sp>
      <p:sp>
        <p:nvSpPr>
          <p:cNvPr id="15" name="Shape 13"/>
          <p:cNvSpPr/>
          <p:nvPr/>
        </p:nvSpPr>
        <p:spPr>
          <a:xfrm>
            <a:off x="3630168" y="2121408"/>
            <a:ext cx="164592" cy="54864"/>
          </a:xfrm>
          <a:prstGeom prst="rect">
            <a:avLst/>
          </a:prstGeom>
          <a:solidFill>
            <a:srgbClr val="6B7C99"/>
          </a:solidFill>
          <a:ln w="12700">
            <a:solidFill>
              <a:srgbClr val="6B7C99"/>
            </a:solidFill>
            <a:prstDash val="solid"/>
          </a:ln>
        </p:spPr>
        <p:txBody>
          <a:bodyPr/>
          <a:lstStyle/>
          <a:p>
            <a:endParaRPr lang="en-NG"/>
          </a:p>
        </p:txBody>
      </p:sp>
      <p:sp>
        <p:nvSpPr>
          <p:cNvPr id="16" name="Shape 14"/>
          <p:cNvSpPr/>
          <p:nvPr/>
        </p:nvSpPr>
        <p:spPr>
          <a:xfrm>
            <a:off x="3794760" y="1847088"/>
            <a:ext cx="1572768" cy="658368"/>
          </a:xfrm>
          <a:prstGeom prst="roundRect">
            <a:avLst>
              <a:gd name="adj" fmla="val 8333"/>
            </a:avLst>
          </a:prstGeom>
          <a:solidFill>
            <a:srgbClr val="1A5276"/>
          </a:solidFill>
          <a:ln w="12700">
            <a:solidFill>
              <a:srgbClr val="1A5276"/>
            </a:solidFill>
            <a:prstDash val="solid"/>
          </a:ln>
        </p:spPr>
        <p:txBody>
          <a:bodyPr/>
          <a:lstStyle/>
          <a:p>
            <a:endParaRPr lang="en-NG"/>
          </a:p>
        </p:txBody>
      </p:sp>
      <p:sp>
        <p:nvSpPr>
          <p:cNvPr id="17" name="Text 15"/>
          <p:cNvSpPr/>
          <p:nvPr/>
        </p:nvSpPr>
        <p:spPr>
          <a:xfrm>
            <a:off x="3794760" y="1847088"/>
            <a:ext cx="1572768" cy="658368"/>
          </a:xfrm>
          <a:prstGeom prst="rect">
            <a:avLst/>
          </a:prstGeom>
          <a:noFill/>
          <a:ln/>
        </p:spPr>
        <p:txBody>
          <a:bodyPr wrap="square" lIns="25400" tIns="25400" rIns="25400" bIns="25400" rtlCol="0" anchor="ctr"/>
          <a:lstStyle/>
          <a:p>
            <a:pPr marL="0" indent="0" algn="ctr">
              <a:buNone/>
            </a:pPr>
            <a:r>
              <a:rPr lang="en-US" sz="950" dirty="0">
                <a:solidFill>
                  <a:srgbClr val="FFFFFF"/>
                </a:solidFill>
                <a:latin typeface="Arial" pitchFamily="34" charset="0"/>
                <a:ea typeface="Arial" pitchFamily="34" charset="-122"/>
                <a:cs typeface="Arial" pitchFamily="34" charset="-120"/>
              </a:rPr>
              <a:t>Loop</a:t>
            </a:r>
            <a:endParaRPr lang="en-US" sz="950" dirty="0"/>
          </a:p>
          <a:p>
            <a:pPr marL="0" indent="0" algn="ctr">
              <a:buNone/>
            </a:pPr>
            <a:r>
              <a:rPr lang="en-US" sz="950" dirty="0">
                <a:solidFill>
                  <a:srgbClr val="FFFFFF"/>
                </a:solidFill>
                <a:latin typeface="Arial" pitchFamily="34" charset="0"/>
                <a:ea typeface="Arial" pitchFamily="34" charset="-122"/>
                <a:cs typeface="Arial" pitchFamily="34" charset="-120"/>
              </a:rPr>
              <a:t>α,x,r,β,p update</a:t>
            </a:r>
            <a:endParaRPr lang="en-US" sz="950" dirty="0"/>
          </a:p>
        </p:txBody>
      </p:sp>
      <p:sp>
        <p:nvSpPr>
          <p:cNvPr id="18" name="Shape 16"/>
          <p:cNvSpPr/>
          <p:nvPr/>
        </p:nvSpPr>
        <p:spPr>
          <a:xfrm>
            <a:off x="5367528" y="2121408"/>
            <a:ext cx="164592" cy="54864"/>
          </a:xfrm>
          <a:prstGeom prst="rect">
            <a:avLst/>
          </a:prstGeom>
          <a:solidFill>
            <a:srgbClr val="6B7C99"/>
          </a:solidFill>
          <a:ln w="12700">
            <a:solidFill>
              <a:srgbClr val="6B7C99"/>
            </a:solidFill>
            <a:prstDash val="solid"/>
          </a:ln>
        </p:spPr>
        <p:txBody>
          <a:bodyPr/>
          <a:lstStyle/>
          <a:p>
            <a:endParaRPr lang="en-NG"/>
          </a:p>
        </p:txBody>
      </p:sp>
      <p:sp>
        <p:nvSpPr>
          <p:cNvPr id="19" name="Shape 17"/>
          <p:cNvSpPr/>
          <p:nvPr/>
        </p:nvSpPr>
        <p:spPr>
          <a:xfrm>
            <a:off x="5532120" y="1847088"/>
            <a:ext cx="1572768" cy="658368"/>
          </a:xfrm>
          <a:prstGeom prst="roundRect">
            <a:avLst>
              <a:gd name="adj" fmla="val 8333"/>
            </a:avLst>
          </a:prstGeom>
          <a:solidFill>
            <a:srgbClr val="1B6B3A"/>
          </a:solidFill>
          <a:ln w="12700">
            <a:solidFill>
              <a:srgbClr val="1B6B3A"/>
            </a:solidFill>
            <a:prstDash val="solid"/>
          </a:ln>
        </p:spPr>
        <p:txBody>
          <a:bodyPr/>
          <a:lstStyle/>
          <a:p>
            <a:endParaRPr lang="en-NG"/>
          </a:p>
        </p:txBody>
      </p:sp>
      <p:sp>
        <p:nvSpPr>
          <p:cNvPr id="20" name="Text 18"/>
          <p:cNvSpPr/>
          <p:nvPr/>
        </p:nvSpPr>
        <p:spPr>
          <a:xfrm>
            <a:off x="5532120" y="1847088"/>
            <a:ext cx="1572768" cy="658368"/>
          </a:xfrm>
          <a:prstGeom prst="rect">
            <a:avLst/>
          </a:prstGeom>
          <a:noFill/>
          <a:ln/>
        </p:spPr>
        <p:txBody>
          <a:bodyPr wrap="square" lIns="25400" tIns="25400" rIns="25400" bIns="25400" rtlCol="0" anchor="ctr"/>
          <a:lstStyle/>
          <a:p>
            <a:pPr marL="0" indent="0" algn="ctr">
              <a:buNone/>
            </a:pPr>
            <a:r>
              <a:rPr lang="en-US" sz="950" dirty="0">
                <a:solidFill>
                  <a:srgbClr val="FFFFFF"/>
                </a:solidFill>
                <a:latin typeface="Arial" pitchFamily="34" charset="0"/>
                <a:ea typeface="Arial" pitchFamily="34" charset="-122"/>
                <a:cs typeface="Arial" pitchFamily="34" charset="-120"/>
              </a:rPr>
              <a:t>Check</a:t>
            </a:r>
            <a:endParaRPr lang="en-US" sz="950" dirty="0"/>
          </a:p>
          <a:p>
            <a:pPr marL="0" indent="0" algn="ctr">
              <a:buNone/>
            </a:pPr>
            <a:r>
              <a:rPr lang="en-US" sz="950" dirty="0">
                <a:solidFill>
                  <a:srgbClr val="FFFFFF"/>
                </a:solidFill>
                <a:latin typeface="Arial" pitchFamily="34" charset="0"/>
                <a:ea typeface="Arial" pitchFamily="34" charset="-122"/>
                <a:cs typeface="Arial" pitchFamily="34" charset="-120"/>
              </a:rPr>
              <a:t>‖r‖/‖b‖&lt;ε?</a:t>
            </a:r>
            <a:endParaRPr lang="en-US" sz="950" dirty="0"/>
          </a:p>
        </p:txBody>
      </p:sp>
      <p:sp>
        <p:nvSpPr>
          <p:cNvPr id="21" name="Shape 19"/>
          <p:cNvSpPr/>
          <p:nvPr/>
        </p:nvSpPr>
        <p:spPr>
          <a:xfrm>
            <a:off x="7104888" y="2121408"/>
            <a:ext cx="164592" cy="54864"/>
          </a:xfrm>
          <a:prstGeom prst="rect">
            <a:avLst/>
          </a:prstGeom>
          <a:solidFill>
            <a:srgbClr val="6B7C99"/>
          </a:solidFill>
          <a:ln w="12700">
            <a:solidFill>
              <a:srgbClr val="6B7C99"/>
            </a:solidFill>
            <a:prstDash val="solid"/>
          </a:ln>
        </p:spPr>
        <p:txBody>
          <a:bodyPr/>
          <a:lstStyle/>
          <a:p>
            <a:endParaRPr lang="en-NG"/>
          </a:p>
        </p:txBody>
      </p:sp>
      <p:sp>
        <p:nvSpPr>
          <p:cNvPr id="22" name="Shape 20"/>
          <p:cNvSpPr/>
          <p:nvPr/>
        </p:nvSpPr>
        <p:spPr>
          <a:xfrm>
            <a:off x="7269480" y="1847088"/>
            <a:ext cx="1572768" cy="658368"/>
          </a:xfrm>
          <a:prstGeom prst="roundRect">
            <a:avLst>
              <a:gd name="adj" fmla="val 8333"/>
            </a:avLst>
          </a:prstGeom>
          <a:solidFill>
            <a:srgbClr val="003087"/>
          </a:solidFill>
          <a:ln w="12700">
            <a:solidFill>
              <a:srgbClr val="003087"/>
            </a:solidFill>
            <a:prstDash val="solid"/>
          </a:ln>
        </p:spPr>
        <p:txBody>
          <a:bodyPr/>
          <a:lstStyle/>
          <a:p>
            <a:endParaRPr lang="en-NG"/>
          </a:p>
        </p:txBody>
      </p:sp>
      <p:sp>
        <p:nvSpPr>
          <p:cNvPr id="23" name="Text 21"/>
          <p:cNvSpPr/>
          <p:nvPr/>
        </p:nvSpPr>
        <p:spPr>
          <a:xfrm>
            <a:off x="7269480" y="1847088"/>
            <a:ext cx="1572768" cy="658368"/>
          </a:xfrm>
          <a:prstGeom prst="rect">
            <a:avLst/>
          </a:prstGeom>
          <a:noFill/>
          <a:ln/>
        </p:spPr>
        <p:txBody>
          <a:bodyPr wrap="square" lIns="25400" tIns="25400" rIns="25400" bIns="25400" rtlCol="0" anchor="ctr"/>
          <a:lstStyle/>
          <a:p>
            <a:pPr marL="0" indent="0" algn="ctr">
              <a:buNone/>
            </a:pPr>
            <a:r>
              <a:rPr lang="en-US" sz="950" dirty="0">
                <a:solidFill>
                  <a:srgbClr val="FFFFFF"/>
                </a:solidFill>
                <a:latin typeface="Arial" pitchFamily="34" charset="0"/>
                <a:ea typeface="Arial" pitchFamily="34" charset="-122"/>
                <a:cs typeface="Arial" pitchFamily="34" charset="-120"/>
              </a:rPr>
              <a:t>Output</a:t>
            </a:r>
            <a:endParaRPr lang="en-US" sz="950" dirty="0"/>
          </a:p>
          <a:p>
            <a:pPr marL="0" indent="0" algn="ctr">
              <a:buNone/>
            </a:pPr>
            <a:r>
              <a:rPr lang="en-US" sz="950" dirty="0">
                <a:solidFill>
                  <a:srgbClr val="FFFFFF"/>
                </a:solidFill>
                <a:latin typeface="Arial" pitchFamily="34" charset="0"/>
                <a:ea typeface="Arial" pitchFamily="34" charset="-122"/>
                <a:cs typeface="Arial" pitchFamily="34" charset="-120"/>
              </a:rPr>
              <a:t>x,r,‖r‖,k</a:t>
            </a:r>
            <a:endParaRPr lang="en-US" sz="950" dirty="0"/>
          </a:p>
        </p:txBody>
      </p:sp>
      <p:sp>
        <p:nvSpPr>
          <p:cNvPr id="24" name="Shape 22"/>
          <p:cNvSpPr/>
          <p:nvPr/>
        </p:nvSpPr>
        <p:spPr>
          <a:xfrm>
            <a:off x="2606040" y="2596896"/>
            <a:ext cx="4224528" cy="384048"/>
          </a:xfrm>
          <a:prstGeom prst="roundRect">
            <a:avLst>
              <a:gd name="adj" fmla="val 14286"/>
            </a:avLst>
          </a:prstGeom>
          <a:solidFill>
            <a:srgbClr val="FFF5F5"/>
          </a:solidFill>
          <a:ln w="12700">
            <a:solidFill>
              <a:srgbClr val="C8102E"/>
            </a:solidFill>
            <a:prstDash val="solid"/>
          </a:ln>
        </p:spPr>
        <p:txBody>
          <a:bodyPr/>
          <a:lstStyle/>
          <a:p>
            <a:endParaRPr lang="en-NG"/>
          </a:p>
        </p:txBody>
      </p:sp>
      <p:sp>
        <p:nvSpPr>
          <p:cNvPr id="25" name="Text 23"/>
          <p:cNvSpPr/>
          <p:nvPr/>
        </p:nvSpPr>
        <p:spPr>
          <a:xfrm>
            <a:off x="2715768" y="2633472"/>
            <a:ext cx="4005072" cy="310896"/>
          </a:xfrm>
          <a:prstGeom prst="rect">
            <a:avLst/>
          </a:prstGeom>
          <a:noFill/>
          <a:ln/>
        </p:spPr>
        <p:txBody>
          <a:bodyPr wrap="square" lIns="25400" tIns="25400" rIns="25400" bIns="25400" rtlCol="0" anchor="t"/>
          <a:lstStyle/>
          <a:p>
            <a:pPr marL="0" indent="0" algn="l">
              <a:buNone/>
            </a:pPr>
            <a:r>
              <a:rPr lang="en-US" sz="1050" dirty="0">
                <a:solidFill>
                  <a:srgbClr val="C8102E"/>
                </a:solidFill>
                <a:latin typeface="Courier New" pitchFamily="34" charset="0"/>
                <a:ea typeface="Courier New" pitchFamily="34" charset="-122"/>
                <a:cs typeface="Courier New" pitchFamily="34" charset="-120"/>
              </a:rPr>
              <a:t>PCG adds inside loop after r update: z_{k+1} = L̃' \ (L̃ \ r_{k+1})</a:t>
            </a:r>
            <a:endParaRPr lang="en-US" sz="1050" dirty="0"/>
          </a:p>
        </p:txBody>
      </p:sp>
      <p:sp>
        <p:nvSpPr>
          <p:cNvPr id="26" name="Shape 24"/>
          <p:cNvSpPr/>
          <p:nvPr/>
        </p:nvSpPr>
        <p:spPr>
          <a:xfrm>
            <a:off x="320040" y="3072384"/>
            <a:ext cx="2697480" cy="1024128"/>
          </a:xfrm>
          <a:prstGeom prst="roundRect">
            <a:avLst>
              <a:gd name="adj" fmla="val 5357"/>
            </a:avLst>
          </a:prstGeom>
          <a:solidFill>
            <a:srgbClr val="F4F6FA"/>
          </a:solidFill>
          <a:ln w="12700">
            <a:solidFill>
              <a:srgbClr val="DDE3EF"/>
            </a:solidFill>
            <a:prstDash val="solid"/>
          </a:ln>
        </p:spPr>
        <p:txBody>
          <a:bodyPr/>
          <a:lstStyle/>
          <a:p>
            <a:endParaRPr lang="en-NG"/>
          </a:p>
        </p:txBody>
      </p:sp>
      <p:sp>
        <p:nvSpPr>
          <p:cNvPr id="27" name="Text 25"/>
          <p:cNvSpPr/>
          <p:nvPr/>
        </p:nvSpPr>
        <p:spPr>
          <a:xfrm>
            <a:off x="429768" y="3118104"/>
            <a:ext cx="2487168" cy="256032"/>
          </a:xfrm>
          <a:prstGeom prst="rect">
            <a:avLst/>
          </a:prstGeom>
          <a:noFill/>
          <a:ln/>
        </p:spPr>
        <p:txBody>
          <a:bodyPr wrap="square" lIns="63500" tIns="63500" rIns="63500" bIns="63500" rtlCol="0" anchor="t"/>
          <a:lstStyle/>
          <a:p>
            <a:pPr marL="0" indent="0" algn="l">
              <a:buNone/>
            </a:pPr>
            <a:r>
              <a:rPr lang="en-US" sz="1050" b="1" dirty="0">
                <a:solidFill>
                  <a:srgbClr val="C8102E"/>
                </a:solidFill>
                <a:latin typeface="Cambria" pitchFamily="34" charset="0"/>
                <a:ea typeface="Cambria" pitchFamily="34" charset="-122"/>
                <a:cs typeface="Cambria" pitchFamily="34" charset="-120"/>
              </a:rPr>
              <a:t>Naming Conflict Resolved</a:t>
            </a:r>
            <a:endParaRPr lang="en-US" sz="1050" dirty="0"/>
          </a:p>
        </p:txBody>
      </p:sp>
      <p:sp>
        <p:nvSpPr>
          <p:cNvPr id="28" name="Text 26"/>
          <p:cNvSpPr/>
          <p:nvPr/>
        </p:nvSpPr>
        <p:spPr>
          <a:xfrm>
            <a:off x="429768" y="3392424"/>
            <a:ext cx="2487168" cy="658368"/>
          </a:xfrm>
          <a:prstGeom prst="rect">
            <a:avLst/>
          </a:prstGeom>
          <a:noFill/>
          <a:ln/>
        </p:spPr>
        <p:txBody>
          <a:bodyPr wrap="square" lIns="63500" tIns="63500" rIns="63500" bIns="63500" rtlCol="0" anchor="t"/>
          <a:lstStyle/>
          <a:p>
            <a:pPr marL="0" indent="0" algn="l">
              <a:buNone/>
            </a:pPr>
            <a:r>
              <a:rPr lang="en-US" sz="950" dirty="0">
                <a:solidFill>
                  <a:srgbClr val="1A1A2E"/>
                </a:solidFill>
                <a:latin typeface="Arial" pitchFamily="34" charset="0"/>
                <a:ea typeface="Arial" pitchFamily="34" charset="-122"/>
                <a:cs typeface="Arial" pitchFamily="34" charset="-120"/>
              </a:rPr>
              <a:t>MATLAB Live Scripts cannot share name with internal function. Renamed to CG_solver and PCG_solver. Error: 'Local function name must be different from the script name.'</a:t>
            </a:r>
            <a:endParaRPr lang="en-US" sz="950" dirty="0"/>
          </a:p>
        </p:txBody>
      </p:sp>
      <p:sp>
        <p:nvSpPr>
          <p:cNvPr id="29" name="Shape 27"/>
          <p:cNvSpPr/>
          <p:nvPr/>
        </p:nvSpPr>
        <p:spPr>
          <a:xfrm>
            <a:off x="3172968" y="3072384"/>
            <a:ext cx="2697480" cy="1024128"/>
          </a:xfrm>
          <a:prstGeom prst="roundRect">
            <a:avLst>
              <a:gd name="adj" fmla="val 5357"/>
            </a:avLst>
          </a:prstGeom>
          <a:solidFill>
            <a:srgbClr val="F4F6FA"/>
          </a:solidFill>
          <a:ln w="12700">
            <a:solidFill>
              <a:srgbClr val="DDE3EF"/>
            </a:solidFill>
            <a:prstDash val="solid"/>
          </a:ln>
        </p:spPr>
        <p:txBody>
          <a:bodyPr/>
          <a:lstStyle/>
          <a:p>
            <a:endParaRPr lang="en-NG"/>
          </a:p>
        </p:txBody>
      </p:sp>
      <p:sp>
        <p:nvSpPr>
          <p:cNvPr id="30" name="Text 28"/>
          <p:cNvSpPr/>
          <p:nvPr/>
        </p:nvSpPr>
        <p:spPr>
          <a:xfrm>
            <a:off x="3282696" y="3118104"/>
            <a:ext cx="2487168" cy="256032"/>
          </a:xfrm>
          <a:prstGeom prst="rect">
            <a:avLst/>
          </a:prstGeom>
          <a:noFill/>
          <a:ln/>
        </p:spPr>
        <p:txBody>
          <a:bodyPr wrap="square" lIns="63500" tIns="63500" rIns="63500" bIns="63500" rtlCol="0" anchor="t"/>
          <a:lstStyle/>
          <a:p>
            <a:pPr marL="0" indent="0" algn="l">
              <a:buNone/>
            </a:pPr>
            <a:r>
              <a:rPr lang="en-US" sz="1050" b="1" dirty="0">
                <a:solidFill>
                  <a:srgbClr val="003087"/>
                </a:solidFill>
                <a:latin typeface="Cambria" pitchFamily="34" charset="0"/>
                <a:ea typeface="Cambria" pitchFamily="34" charset="-122"/>
                <a:cs typeface="Cambria" pitchFamily="34" charset="-120"/>
              </a:rPr>
              <a:t>Semicolons Balanced</a:t>
            </a:r>
            <a:endParaRPr lang="en-US" sz="1050" dirty="0"/>
          </a:p>
        </p:txBody>
      </p:sp>
      <p:sp>
        <p:nvSpPr>
          <p:cNvPr id="31" name="Text 29"/>
          <p:cNvSpPr/>
          <p:nvPr/>
        </p:nvSpPr>
        <p:spPr>
          <a:xfrm>
            <a:off x="3282696" y="3392424"/>
            <a:ext cx="2487168" cy="658368"/>
          </a:xfrm>
          <a:prstGeom prst="rect">
            <a:avLst/>
          </a:prstGeom>
          <a:noFill/>
          <a:ln/>
        </p:spPr>
        <p:txBody>
          <a:bodyPr wrap="square" lIns="63500" tIns="63500" rIns="63500" bIns="63500" rtlCol="0" anchor="t"/>
          <a:lstStyle/>
          <a:p>
            <a:pPr marL="0" indent="0" algn="l">
              <a:buNone/>
            </a:pPr>
            <a:r>
              <a:rPr lang="en-US" sz="950" dirty="0">
                <a:solidFill>
                  <a:srgbClr val="1A1A2E"/>
                </a:solidFill>
                <a:latin typeface="Arial" pitchFamily="34" charset="0"/>
                <a:ea typeface="Arial" pitchFamily="34" charset="-122"/>
                <a:cs typeface="Arial" pitchFamily="34" charset="-120"/>
              </a:rPr>
              <a:t>Loop output suppressed (performance). Test sections: semicolons removed so key outputs print. Critical on remote desktop to avoid display limit.</a:t>
            </a:r>
            <a:endParaRPr lang="en-US" sz="950" dirty="0"/>
          </a:p>
        </p:txBody>
      </p:sp>
      <p:sp>
        <p:nvSpPr>
          <p:cNvPr id="32" name="Shape 30"/>
          <p:cNvSpPr/>
          <p:nvPr/>
        </p:nvSpPr>
        <p:spPr>
          <a:xfrm>
            <a:off x="6025896" y="3072384"/>
            <a:ext cx="2697480" cy="1024128"/>
          </a:xfrm>
          <a:prstGeom prst="roundRect">
            <a:avLst>
              <a:gd name="adj" fmla="val 5357"/>
            </a:avLst>
          </a:prstGeom>
          <a:solidFill>
            <a:srgbClr val="F4F6FA"/>
          </a:solidFill>
          <a:ln w="12700">
            <a:solidFill>
              <a:srgbClr val="DDE3EF"/>
            </a:solidFill>
            <a:prstDash val="solid"/>
          </a:ln>
        </p:spPr>
        <p:txBody>
          <a:bodyPr/>
          <a:lstStyle/>
          <a:p>
            <a:endParaRPr lang="en-NG"/>
          </a:p>
        </p:txBody>
      </p:sp>
      <p:sp>
        <p:nvSpPr>
          <p:cNvPr id="33" name="Text 31"/>
          <p:cNvSpPr/>
          <p:nvPr/>
        </p:nvSpPr>
        <p:spPr>
          <a:xfrm>
            <a:off x="6135624" y="3118104"/>
            <a:ext cx="2487168" cy="256032"/>
          </a:xfrm>
          <a:prstGeom prst="rect">
            <a:avLst/>
          </a:prstGeom>
          <a:noFill/>
          <a:ln/>
        </p:spPr>
        <p:txBody>
          <a:bodyPr wrap="square" lIns="63500" tIns="63500" rIns="63500" bIns="63500" rtlCol="0" anchor="t"/>
          <a:lstStyle/>
          <a:p>
            <a:pPr marL="0" indent="0" algn="l">
              <a:buNone/>
            </a:pPr>
            <a:r>
              <a:rPr lang="en-US" sz="1050" b="1" dirty="0">
                <a:solidFill>
                  <a:srgbClr val="1B6B3A"/>
                </a:solidFill>
                <a:latin typeface="Cambria" pitchFamily="34" charset="0"/>
                <a:ea typeface="Cambria" pitchFamily="34" charset="-122"/>
                <a:cs typeface="Cambria" pitchFamily="34" charset="-120"/>
              </a:rPr>
              <a:t>ichol Options</a:t>
            </a:r>
            <a:endParaRPr lang="en-US" sz="1050" dirty="0"/>
          </a:p>
        </p:txBody>
      </p:sp>
      <p:sp>
        <p:nvSpPr>
          <p:cNvPr id="34" name="Text 32"/>
          <p:cNvSpPr/>
          <p:nvPr/>
        </p:nvSpPr>
        <p:spPr>
          <a:xfrm>
            <a:off x="6135624" y="3392424"/>
            <a:ext cx="2487168" cy="658368"/>
          </a:xfrm>
          <a:prstGeom prst="rect">
            <a:avLst/>
          </a:prstGeom>
          <a:noFill/>
          <a:ln/>
        </p:spPr>
        <p:txBody>
          <a:bodyPr wrap="square" lIns="63500" tIns="63500" rIns="63500" bIns="63500" rtlCol="0" anchor="t"/>
          <a:lstStyle/>
          <a:p>
            <a:pPr marL="0" indent="0" algn="l">
              <a:buNone/>
            </a:pPr>
            <a:r>
              <a:rPr lang="en-US" sz="950" dirty="0">
                <a:solidFill>
                  <a:srgbClr val="1A1A2E"/>
                </a:solidFill>
                <a:latin typeface="Arial" pitchFamily="34" charset="0"/>
                <a:ea typeface="Arial" pitchFamily="34" charset="-122"/>
                <a:cs typeface="Arial" pitchFamily="34" charset="-120"/>
              </a:rPr>
              <a:t>opts.type='ict', opts.droptol=1e-3, opts.diagcomp=0.1. The diagcomp shift prevents non-positive pivot errors on Poisson-type matrices.</a:t>
            </a:r>
            <a:endParaRPr lang="en-US" sz="950" dirty="0"/>
          </a:p>
        </p:txBody>
      </p:sp>
      <p:sp>
        <p:nvSpPr>
          <p:cNvPr id="35" name="Shape 33"/>
          <p:cNvSpPr/>
          <p:nvPr/>
        </p:nvSpPr>
        <p:spPr>
          <a:xfrm>
            <a:off x="320040" y="4187952"/>
            <a:ext cx="8503920" cy="658368"/>
          </a:xfrm>
          <a:prstGeom prst="roundRect">
            <a:avLst>
              <a:gd name="adj" fmla="val 8333"/>
            </a:avLst>
          </a:prstGeom>
          <a:solidFill>
            <a:srgbClr val="F0FAF4"/>
          </a:solidFill>
          <a:ln w="15240">
            <a:solidFill>
              <a:srgbClr val="1B6B3A"/>
            </a:solidFill>
            <a:prstDash val="solid"/>
          </a:ln>
        </p:spPr>
        <p:txBody>
          <a:bodyPr/>
          <a:lstStyle/>
          <a:p>
            <a:endParaRPr lang="en-NG"/>
          </a:p>
        </p:txBody>
      </p:sp>
      <p:sp>
        <p:nvSpPr>
          <p:cNvPr id="36" name="Text 34"/>
          <p:cNvSpPr/>
          <p:nvPr/>
        </p:nvSpPr>
        <p:spPr>
          <a:xfrm>
            <a:off x="429768" y="4224528"/>
            <a:ext cx="2286000" cy="256032"/>
          </a:xfrm>
          <a:prstGeom prst="rect">
            <a:avLst/>
          </a:prstGeom>
          <a:noFill/>
          <a:ln/>
        </p:spPr>
        <p:txBody>
          <a:bodyPr wrap="square" lIns="63500" tIns="63500" rIns="63500" bIns="63500" rtlCol="0" anchor="t"/>
          <a:lstStyle/>
          <a:p>
            <a:pPr marL="0" indent="0" algn="l">
              <a:buNone/>
            </a:pPr>
            <a:r>
              <a:rPr lang="en-US" sz="1100" b="1" dirty="0">
                <a:solidFill>
                  <a:srgbClr val="1B6B3A"/>
                </a:solidFill>
                <a:latin typeface="Cambria" pitchFamily="34" charset="0"/>
                <a:ea typeface="Cambria" pitchFamily="34" charset="-122"/>
                <a:cs typeface="Cambria" pitchFamily="34" charset="-120"/>
              </a:rPr>
              <a:t>Verification:</a:t>
            </a:r>
            <a:endParaRPr lang="en-US" sz="1100" dirty="0"/>
          </a:p>
        </p:txBody>
      </p:sp>
      <p:sp>
        <p:nvSpPr>
          <p:cNvPr id="37" name="Text 35"/>
          <p:cNvSpPr/>
          <p:nvPr/>
        </p:nvSpPr>
        <p:spPr>
          <a:xfrm>
            <a:off x="2715768" y="4224528"/>
            <a:ext cx="5998464" cy="566928"/>
          </a:xfrm>
          <a:prstGeom prst="rect">
            <a:avLst/>
          </a:prstGeom>
          <a:noFill/>
          <a:ln/>
        </p:spPr>
        <p:txBody>
          <a:bodyPr wrap="square" lIns="63500" tIns="63500" rIns="63500" bIns="63500" rtlCol="0" anchor="t"/>
          <a:lstStyle/>
          <a:p>
            <a:pPr marL="0" indent="0" algn="l">
              <a:buNone/>
            </a:pPr>
            <a:r>
              <a:rPr lang="en-US" sz="1050" dirty="0">
                <a:solidFill>
                  <a:srgbClr val="1A1A2E"/>
                </a:solidFill>
                <a:latin typeface="Arial" pitchFamily="34" charset="0"/>
                <a:ea typeface="Arial" pitchFamily="34" charset="-122"/>
                <a:cs typeface="Arial" pitchFamily="34" charset="-120"/>
              </a:rPr>
              <a:t>Both functions tested against MATLAB pcg() on n=300 SPD system. Identical iteration counts, residual norms, and solution errors confirmed correct implementation. CG_solver ≡ pcg() with no preconditioner. PCG_solver ≡ pcg() with IC factor.</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3087"/>
          </a:solidFill>
          <a:ln w="12700">
            <a:solidFill>
              <a:srgbClr val="003087"/>
            </a:solidFill>
            <a:prstDash val="solid"/>
          </a:ln>
        </p:spPr>
        <p:txBody>
          <a:bodyPr/>
          <a:lstStyle/>
          <a:p>
            <a:endParaRPr lang="en-NG"/>
          </a:p>
        </p:txBody>
      </p:sp>
      <p:sp>
        <p:nvSpPr>
          <p:cNvPr id="3" name="Text 1"/>
          <p:cNvSpPr/>
          <p:nvPr/>
        </p:nvSpPr>
        <p:spPr>
          <a:xfrm>
            <a:off x="320040" y="54864"/>
            <a:ext cx="7589520" cy="530352"/>
          </a:xfrm>
          <a:prstGeom prst="rect">
            <a:avLst/>
          </a:prstGeom>
          <a:noFill/>
          <a:ln/>
        </p:spPr>
        <p:txBody>
          <a:bodyPr wrap="square" lIns="50800" tIns="50800" rIns="50800" bIns="50800" rtlCol="0" anchor="ctr"/>
          <a:lstStyle/>
          <a:p>
            <a:pPr marL="0" indent="0" algn="l">
              <a:buNone/>
            </a:pPr>
            <a:r>
              <a:rPr lang="en-US" sz="1900" b="1" dirty="0">
                <a:solidFill>
                  <a:srgbClr val="FFFFFF"/>
                </a:solidFill>
                <a:latin typeface="Cambria" pitchFamily="34" charset="0"/>
                <a:ea typeface="Cambria" pitchFamily="34" charset="-122"/>
                <a:cs typeface="Cambria" pitchFamily="34" charset="-120"/>
              </a:rPr>
              <a:t>14.  Results — Small System Test (n = 5)</a:t>
            </a:r>
            <a:endParaRPr lang="en-US" sz="1900" dirty="0"/>
          </a:p>
        </p:txBody>
      </p:sp>
      <p:sp>
        <p:nvSpPr>
          <p:cNvPr id="4" name="Text 2"/>
          <p:cNvSpPr/>
          <p:nvPr/>
        </p:nvSpPr>
        <p:spPr>
          <a:xfrm>
            <a:off x="8138160" y="54864"/>
            <a:ext cx="640080" cy="530352"/>
          </a:xfrm>
          <a:prstGeom prst="rect">
            <a:avLst/>
          </a:prstGeom>
          <a:noFill/>
          <a:ln/>
        </p:spPr>
        <p:txBody>
          <a:bodyPr wrap="square" lIns="25400" tIns="25400" rIns="25400" bIns="25400" rtlCol="0" anchor="ctr"/>
          <a:lstStyle/>
          <a:p>
            <a:pPr marL="0" indent="0" algn="r">
              <a:buNone/>
            </a:pPr>
            <a:r>
              <a:rPr lang="en-US" sz="1000" dirty="0">
                <a:solidFill>
                  <a:srgbClr val="AAC0E8"/>
                </a:solidFill>
                <a:latin typeface="Arial" pitchFamily="34" charset="0"/>
                <a:ea typeface="Arial" pitchFamily="34" charset="-122"/>
                <a:cs typeface="Arial" pitchFamily="34" charset="-120"/>
              </a:rPr>
              <a:t>14 / 20</a:t>
            </a:r>
            <a:endParaRPr lang="en-US" sz="1000" dirty="0"/>
          </a:p>
        </p:txBody>
      </p:sp>
      <p:sp>
        <p:nvSpPr>
          <p:cNvPr id="5" name="Shape 3"/>
          <p:cNvSpPr/>
          <p:nvPr/>
        </p:nvSpPr>
        <p:spPr>
          <a:xfrm>
            <a:off x="0" y="640080"/>
            <a:ext cx="9144000" cy="45720"/>
          </a:xfrm>
          <a:prstGeom prst="rect">
            <a:avLst/>
          </a:prstGeom>
          <a:solidFill>
            <a:srgbClr val="C8102E"/>
          </a:solidFill>
          <a:ln w="12700">
            <a:solidFill>
              <a:srgbClr val="C8102E"/>
            </a:solidFill>
            <a:prstDash val="solid"/>
          </a:ln>
        </p:spPr>
        <p:txBody>
          <a:bodyPr/>
          <a:lstStyle/>
          <a:p>
            <a:endParaRPr lang="en-NG"/>
          </a:p>
        </p:txBody>
      </p:sp>
      <p:sp>
        <p:nvSpPr>
          <p:cNvPr id="6" name="Text 4"/>
          <p:cNvSpPr/>
          <p:nvPr/>
        </p:nvSpPr>
        <p:spPr>
          <a:xfrm>
            <a:off x="320040" y="749808"/>
            <a:ext cx="8503920" cy="347472"/>
          </a:xfrm>
          <a:prstGeom prst="rect">
            <a:avLst/>
          </a:prstGeom>
          <a:noFill/>
          <a:ln/>
        </p:spPr>
        <p:txBody>
          <a:bodyPr wrap="square" lIns="25400" tIns="25400" rIns="25400" bIns="25400" rtlCol="0" anchor="t"/>
          <a:lstStyle/>
          <a:p>
            <a:pPr marL="0" indent="0" algn="l">
              <a:buNone/>
            </a:pPr>
            <a:r>
              <a:rPr lang="en-US" sz="1100" dirty="0">
                <a:solidFill>
                  <a:srgbClr val="1A1A2E"/>
                </a:solidFill>
                <a:latin typeface="Arial" pitchFamily="34" charset="0"/>
                <a:ea typeface="Arial" pitchFamily="34" charset="-122"/>
                <a:cs typeface="Arial" pitchFamily="34" charset="-120"/>
              </a:rPr>
              <a:t>Test setup: A = RᵀR + nI (guaranteed SPD). Known exact solution x* = rand(n,1). Right-hand side b = Ax*. Tolerance ε = 10⁻⁸. Initial guess x₀ = 0.</a:t>
            </a:r>
            <a:endParaRPr lang="en-US" sz="1100" dirty="0"/>
          </a:p>
        </p:txBody>
      </p:sp>
      <p:sp>
        <p:nvSpPr>
          <p:cNvPr id="7" name="Text 5"/>
          <p:cNvSpPr/>
          <p:nvPr/>
        </p:nvSpPr>
        <p:spPr>
          <a:xfrm>
            <a:off x="320040" y="1170432"/>
            <a:ext cx="8503920" cy="274320"/>
          </a:xfrm>
          <a:prstGeom prst="rect">
            <a:avLst/>
          </a:prstGeom>
          <a:noFill/>
          <a:ln/>
        </p:spPr>
        <p:txBody>
          <a:bodyPr wrap="square" lIns="25400" tIns="25400" rIns="25400" bIns="25400" rtlCol="0" anchor="t"/>
          <a:lstStyle/>
          <a:p>
            <a:pPr marL="0" indent="0" algn="l">
              <a:buNone/>
            </a:pPr>
            <a:r>
              <a:rPr lang="en-US" sz="1200" b="1" dirty="0">
                <a:solidFill>
                  <a:srgbClr val="003087"/>
                </a:solidFill>
                <a:latin typeface="Cambria" pitchFamily="34" charset="0"/>
                <a:ea typeface="Cambria" pitchFamily="34" charset="-122"/>
                <a:cs typeface="Cambria" pitchFamily="34" charset="-120"/>
              </a:rPr>
              <a:t>Table 1: CG and PCG on small SPD system, n = 5</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317931565"/>
              </p:ext>
            </p:extLst>
          </p:nvPr>
        </p:nvGraphicFramePr>
        <p:xfrm>
          <a:off x="320040" y="1463040"/>
          <a:ext cx="8503920" cy="1024128"/>
        </p:xfrm>
        <a:graphic>
          <a:graphicData uri="http://schemas.openxmlformats.org/drawingml/2006/table">
            <a:tbl>
              <a:tblPr/>
              <a:tblGrid>
                <a:gridCol w="12801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341376">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Method</a:t>
                      </a:r>
                      <a:endParaRPr lang="en-US" sz="110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solidFill>
                        <a:srgbClr val="DDE3EF"/>
                      </a:solidFill>
                      <a:prstDash val="solid"/>
                      <a:round/>
                      <a:headEnd type="none" w="med" len="med"/>
                      <a:tailEnd type="none" w="med" len="med"/>
                    </a:lnT>
                    <a:lnB w="0" cap="flat" cmpd="sng" algn="ctr">
                      <a:noFill/>
                    </a:lnB>
                    <a:solidFill>
                      <a:srgbClr val="003087"/>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Iterations</a:t>
                      </a:r>
                      <a:endParaRPr lang="en-US" sz="110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solidFill>
                        <a:srgbClr val="DDE3EF"/>
                      </a:solidFill>
                      <a:prstDash val="solid"/>
                      <a:round/>
                      <a:headEnd type="none" w="med" len="med"/>
                      <a:tailEnd type="none" w="med" len="med"/>
                    </a:lnT>
                    <a:lnB w="0" cap="flat" cmpd="sng" algn="ctr">
                      <a:noFill/>
                    </a:lnB>
                    <a:solidFill>
                      <a:srgbClr val="003087"/>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‖r‖₂</a:t>
                      </a:r>
                      <a:endParaRPr lang="en-US" sz="110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solidFill>
                        <a:srgbClr val="DDE3EF"/>
                      </a:solidFill>
                      <a:prstDash val="solid"/>
                      <a:round/>
                      <a:headEnd type="none" w="med" len="med"/>
                      <a:tailEnd type="none" w="med" len="med"/>
                    </a:lnT>
                    <a:lnB w="0" cap="flat" cmpd="sng" algn="ctr">
                      <a:noFill/>
                    </a:lnB>
                    <a:solidFill>
                      <a:srgbClr val="003087"/>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Relative Residual</a:t>
                      </a:r>
                      <a:endParaRPr lang="en-US" sz="110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solidFill>
                        <a:srgbClr val="DDE3EF"/>
                      </a:solidFill>
                      <a:prstDash val="solid"/>
                      <a:round/>
                      <a:headEnd type="none" w="med" len="med"/>
                      <a:tailEnd type="none" w="med" len="med"/>
                    </a:lnT>
                    <a:lnB w="0" cap="flat" cmpd="sng" algn="ctr">
                      <a:noFill/>
                    </a:lnB>
                    <a:solidFill>
                      <a:srgbClr val="003087"/>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Absolute Error</a:t>
                      </a:r>
                      <a:endParaRPr lang="en-US" sz="110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solidFill>
                        <a:srgbClr val="DDE3EF"/>
                      </a:solidFill>
                      <a:prstDash val="solid"/>
                      <a:round/>
                      <a:headEnd type="none" w="med" len="med"/>
                      <a:tailEnd type="none" w="med" len="med"/>
                    </a:lnT>
                    <a:lnB w="0" cap="flat" cmpd="sng" algn="ctr">
                      <a:noFill/>
                    </a:lnB>
                    <a:solidFill>
                      <a:srgbClr val="003087"/>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Converged?</a:t>
                      </a:r>
                      <a:endParaRPr lang="en-US" sz="110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solidFill>
                        <a:srgbClr val="DDE3EF"/>
                      </a:solidFill>
                      <a:prstDash val="solid"/>
                      <a:round/>
                      <a:headEnd type="none" w="med" len="med"/>
                      <a:tailEnd type="none" w="med" len="med"/>
                    </a:lnT>
                    <a:lnB w="0" cap="flat" cmpd="sng" algn="ctr">
                      <a:noFill/>
                    </a:lnB>
                    <a:solidFill>
                      <a:srgbClr val="003087"/>
                    </a:solidFill>
                  </a:tcPr>
                </a:tc>
                <a:extLst>
                  <a:ext uri="{0D108BD9-81ED-4DB2-BD59-A6C34878D82A}">
                    <a16:rowId xmlns:a16="http://schemas.microsoft.com/office/drawing/2014/main" val="10000"/>
                  </a:ext>
                </a:extLst>
              </a:tr>
              <a:tr h="341376">
                <a:tc>
                  <a:txBody>
                    <a:bodyPr/>
                    <a:lstStyle/>
                    <a:p>
                      <a:pPr marL="0" indent="0" algn="l">
                        <a:buNone/>
                      </a:pPr>
                      <a:r>
                        <a:rPr lang="en-US" sz="1100" dirty="0">
                          <a:solidFill>
                            <a:srgbClr val="1A1A2E"/>
                          </a:solidFill>
                          <a:latin typeface="Arial" pitchFamily="34" charset="0"/>
                          <a:ea typeface="Arial" pitchFamily="34" charset="-122"/>
                          <a:cs typeface="Arial" pitchFamily="34" charset="-120"/>
                        </a:rPr>
                        <a:t>CG</a:t>
                      </a:r>
                      <a:endParaRPr lang="en-US" sz="110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100" dirty="0">
                          <a:solidFill>
                            <a:srgbClr val="1A1A2E"/>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100" dirty="0">
                          <a:solidFill>
                            <a:srgbClr val="1A1A2E"/>
                          </a:solidFill>
                          <a:latin typeface="Arial" pitchFamily="34" charset="0"/>
                          <a:ea typeface="Arial" pitchFamily="34" charset="-122"/>
                          <a:cs typeface="Arial" pitchFamily="34" charset="-120"/>
                        </a:rPr>
                        <a:t>5.96e-16</a:t>
                      </a:r>
                      <a:endParaRPr lang="en-US" sz="110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100" dirty="0">
                          <a:solidFill>
                            <a:srgbClr val="1A1A2E"/>
                          </a:solidFill>
                          <a:latin typeface="Arial" pitchFamily="34" charset="0"/>
                          <a:ea typeface="Arial" pitchFamily="34" charset="-122"/>
                          <a:cs typeface="Arial" pitchFamily="34" charset="-120"/>
                        </a:rPr>
                        <a:t>5.40e-17</a:t>
                      </a:r>
                      <a:endParaRPr lang="en-US" sz="110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100" dirty="0">
                          <a:solidFill>
                            <a:srgbClr val="1A1A2E"/>
                          </a:solidFill>
                          <a:latin typeface="Arial" pitchFamily="34" charset="0"/>
                          <a:ea typeface="Arial" pitchFamily="34" charset="-122"/>
                          <a:cs typeface="Arial" pitchFamily="34" charset="-120"/>
                        </a:rPr>
                        <a:t>3.35e-16</a:t>
                      </a:r>
                      <a:endParaRPr lang="en-US" sz="110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100" b="1" dirty="0">
                          <a:solidFill>
                            <a:srgbClr val="1B6B3A"/>
                          </a:solidFill>
                          <a:latin typeface="Arial" pitchFamily="34" charset="0"/>
                          <a:ea typeface="Arial" pitchFamily="34" charset="-122"/>
                          <a:cs typeface="Arial" pitchFamily="34" charset="-120"/>
                        </a:rPr>
                        <a:t>✓  Yes</a:t>
                      </a:r>
                      <a:endParaRPr lang="en-US" sz="110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1"/>
                  </a:ext>
                </a:extLst>
              </a:tr>
              <a:tr h="341376">
                <a:tc>
                  <a:txBody>
                    <a:bodyPr/>
                    <a:lstStyle/>
                    <a:p>
                      <a:pPr marL="0" indent="0" algn="l">
                        <a:buNone/>
                      </a:pPr>
                      <a:r>
                        <a:rPr lang="en-US" sz="1100" dirty="0">
                          <a:solidFill>
                            <a:srgbClr val="1A1A2E"/>
                          </a:solidFill>
                          <a:latin typeface="Arial" pitchFamily="34" charset="0"/>
                          <a:ea typeface="Arial" pitchFamily="34" charset="-122"/>
                          <a:cs typeface="Arial" pitchFamily="34" charset="-120"/>
                        </a:rPr>
                        <a:t>PCG (IC)</a:t>
                      </a:r>
                      <a:endParaRPr lang="en-US" sz="110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100" dirty="0">
                          <a:solidFill>
                            <a:srgbClr val="1A1A2E"/>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100" dirty="0">
                          <a:solidFill>
                            <a:srgbClr val="1A1A2E"/>
                          </a:solidFill>
                          <a:latin typeface="Arial" pitchFamily="34" charset="0"/>
                          <a:ea typeface="Arial" pitchFamily="34" charset="-122"/>
                          <a:cs typeface="Arial" pitchFamily="34" charset="-120"/>
                        </a:rPr>
                        <a:t>2.82e-15</a:t>
                      </a:r>
                      <a:endParaRPr lang="en-US" sz="110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100" dirty="0">
                          <a:solidFill>
                            <a:srgbClr val="1A1A2E"/>
                          </a:solidFill>
                          <a:latin typeface="Arial" pitchFamily="34" charset="0"/>
                          <a:ea typeface="Arial" pitchFamily="34" charset="-122"/>
                          <a:cs typeface="Arial" pitchFamily="34" charset="-120"/>
                        </a:rPr>
                        <a:t>2.56e-16</a:t>
                      </a:r>
                      <a:endParaRPr lang="en-US" sz="110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100" dirty="0">
                          <a:solidFill>
                            <a:srgbClr val="1A1A2E"/>
                          </a:solidFill>
                          <a:latin typeface="Arial" pitchFamily="34" charset="0"/>
                          <a:ea typeface="Arial" pitchFamily="34" charset="-122"/>
                          <a:cs typeface="Arial" pitchFamily="34" charset="-120"/>
                        </a:rPr>
                        <a:t>3.36e-16</a:t>
                      </a:r>
                      <a:endParaRPr lang="en-US" sz="110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100" b="1" dirty="0">
                          <a:solidFill>
                            <a:srgbClr val="1B6B3A"/>
                          </a:solidFill>
                          <a:latin typeface="Arial" pitchFamily="34" charset="0"/>
                          <a:ea typeface="Arial" pitchFamily="34" charset="-122"/>
                          <a:cs typeface="Arial" pitchFamily="34" charset="-120"/>
                        </a:rPr>
                        <a:t>✓  Yes</a:t>
                      </a:r>
                      <a:endParaRPr lang="en-US" sz="110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2"/>
                  </a:ext>
                </a:extLst>
              </a:tr>
            </a:tbl>
          </a:graphicData>
        </a:graphic>
      </p:graphicFrame>
      <p:sp>
        <p:nvSpPr>
          <p:cNvPr id="9" name="Shape 6"/>
          <p:cNvSpPr/>
          <p:nvPr/>
        </p:nvSpPr>
        <p:spPr>
          <a:xfrm>
            <a:off x="320040" y="2578608"/>
            <a:ext cx="4096512" cy="1481328"/>
          </a:xfrm>
          <a:prstGeom prst="roundRect">
            <a:avLst>
              <a:gd name="adj" fmla="val 3704"/>
            </a:avLst>
          </a:prstGeom>
          <a:solidFill>
            <a:srgbClr val="EBF0FA"/>
          </a:solidFill>
          <a:ln w="12700">
            <a:solidFill>
              <a:srgbClr val="003087"/>
            </a:solidFill>
            <a:prstDash val="solid"/>
          </a:ln>
        </p:spPr>
        <p:txBody>
          <a:bodyPr/>
          <a:lstStyle/>
          <a:p>
            <a:endParaRPr lang="en-NG"/>
          </a:p>
        </p:txBody>
      </p:sp>
      <p:sp>
        <p:nvSpPr>
          <p:cNvPr id="10" name="Text 7"/>
          <p:cNvSpPr/>
          <p:nvPr/>
        </p:nvSpPr>
        <p:spPr>
          <a:xfrm>
            <a:off x="429768" y="2624328"/>
            <a:ext cx="3877056" cy="274320"/>
          </a:xfrm>
          <a:prstGeom prst="rect">
            <a:avLst/>
          </a:prstGeom>
          <a:noFill/>
          <a:ln/>
        </p:spPr>
        <p:txBody>
          <a:bodyPr wrap="square" lIns="63500" tIns="63500" rIns="63500" bIns="63500" rtlCol="0" anchor="t"/>
          <a:lstStyle/>
          <a:p>
            <a:pPr marL="0" indent="0" algn="l">
              <a:buNone/>
            </a:pPr>
            <a:r>
              <a:rPr lang="en-US" sz="1200" b="1" dirty="0">
                <a:solidFill>
                  <a:srgbClr val="003087"/>
                </a:solidFill>
                <a:latin typeface="Cambria" pitchFamily="34" charset="0"/>
                <a:ea typeface="Cambria" pitchFamily="34" charset="-122"/>
                <a:cs typeface="Cambria" pitchFamily="34" charset="-120"/>
              </a:rPr>
              <a:t>CG: 5 iterations = n iterations</a:t>
            </a:r>
            <a:endParaRPr lang="en-US" sz="1200" dirty="0"/>
          </a:p>
        </p:txBody>
      </p:sp>
      <p:sp>
        <p:nvSpPr>
          <p:cNvPr id="11" name="Text 8"/>
          <p:cNvSpPr/>
          <p:nvPr/>
        </p:nvSpPr>
        <p:spPr>
          <a:xfrm>
            <a:off x="429768" y="2926080"/>
            <a:ext cx="3877056" cy="1078992"/>
          </a:xfrm>
          <a:prstGeom prst="rect">
            <a:avLst/>
          </a:prstGeom>
          <a:noFill/>
          <a:ln/>
        </p:spPr>
        <p:txBody>
          <a:bodyPr wrap="square" lIns="63500" tIns="63500" rIns="63500" bIns="63500" rtlCol="0" anchor="t"/>
          <a:lstStyle/>
          <a:p>
            <a:pPr marL="0" indent="0" algn="l">
              <a:buNone/>
            </a:pPr>
            <a:r>
              <a:rPr lang="en-US" sz="1050" dirty="0">
                <a:solidFill>
                  <a:srgbClr val="1A1A2E"/>
                </a:solidFill>
                <a:latin typeface="Arial" pitchFamily="34" charset="0"/>
                <a:ea typeface="Arial" pitchFamily="34" charset="-122"/>
                <a:cs typeface="Arial" pitchFamily="34" charset="-120"/>
              </a:rPr>
              <a:t>This is the finite termination property: in exact arithmetic CG converges in at most n steps. After n mutually A-conjugate directions have been generated, the entire ℝ^n has been spanned and the error is zero.</a:t>
            </a:r>
            <a:endParaRPr lang="en-US" sz="1050" dirty="0"/>
          </a:p>
          <a:p>
            <a:pPr marL="0" indent="0" algn="l">
              <a:buNone/>
            </a:pPr>
            <a:endParaRPr lang="en-US" sz="1050" dirty="0"/>
          </a:p>
          <a:p>
            <a:pPr marL="0" indent="0" algn="l">
              <a:buNone/>
            </a:pPr>
            <a:r>
              <a:rPr lang="en-US" sz="1050" dirty="0">
                <a:solidFill>
                  <a:srgbClr val="1A1A2E"/>
                </a:solidFill>
                <a:latin typeface="Arial" pitchFamily="34" charset="0"/>
                <a:ea typeface="Arial" pitchFamily="34" charset="-122"/>
                <a:cs typeface="Arial" pitchFamily="34" charset="-120"/>
              </a:rPr>
              <a:t>Absolute error 3.35e-16 ≈ machine precision ⇒ exact solution recovered.</a:t>
            </a:r>
            <a:endParaRPr lang="en-US" sz="1050" dirty="0"/>
          </a:p>
        </p:txBody>
      </p:sp>
      <p:sp>
        <p:nvSpPr>
          <p:cNvPr id="12" name="Shape 9"/>
          <p:cNvSpPr/>
          <p:nvPr/>
        </p:nvSpPr>
        <p:spPr>
          <a:xfrm>
            <a:off x="4727448" y="2578608"/>
            <a:ext cx="4096512" cy="1481328"/>
          </a:xfrm>
          <a:prstGeom prst="roundRect">
            <a:avLst>
              <a:gd name="adj" fmla="val 3704"/>
            </a:avLst>
          </a:prstGeom>
          <a:solidFill>
            <a:srgbClr val="F0FAF4"/>
          </a:solidFill>
          <a:ln w="12700">
            <a:solidFill>
              <a:srgbClr val="1B6B3A"/>
            </a:solidFill>
            <a:prstDash val="solid"/>
          </a:ln>
        </p:spPr>
        <p:txBody>
          <a:bodyPr/>
          <a:lstStyle/>
          <a:p>
            <a:endParaRPr lang="en-NG"/>
          </a:p>
        </p:txBody>
      </p:sp>
      <p:sp>
        <p:nvSpPr>
          <p:cNvPr id="13" name="Text 10"/>
          <p:cNvSpPr/>
          <p:nvPr/>
        </p:nvSpPr>
        <p:spPr>
          <a:xfrm>
            <a:off x="4837176" y="2624328"/>
            <a:ext cx="3877056" cy="274320"/>
          </a:xfrm>
          <a:prstGeom prst="rect">
            <a:avLst/>
          </a:prstGeom>
          <a:noFill/>
          <a:ln/>
        </p:spPr>
        <p:txBody>
          <a:bodyPr wrap="square" lIns="63500" tIns="63500" rIns="63500" bIns="63500" rtlCol="0" anchor="t"/>
          <a:lstStyle/>
          <a:p>
            <a:pPr marL="0" indent="0" algn="l">
              <a:buNone/>
            </a:pPr>
            <a:r>
              <a:rPr lang="en-US" sz="1200" b="1" dirty="0">
                <a:solidFill>
                  <a:srgbClr val="1B6B3A"/>
                </a:solidFill>
                <a:latin typeface="Cambria" pitchFamily="34" charset="0"/>
                <a:ea typeface="Cambria" pitchFamily="34" charset="-122"/>
                <a:cs typeface="Cambria" pitchFamily="34" charset="-120"/>
              </a:rPr>
              <a:t>PCG: 1 iteration = maximum preconditioning benefit</a:t>
            </a:r>
            <a:endParaRPr lang="en-US" sz="1200" dirty="0"/>
          </a:p>
        </p:txBody>
      </p:sp>
      <p:sp>
        <p:nvSpPr>
          <p:cNvPr id="14" name="Text 11"/>
          <p:cNvSpPr/>
          <p:nvPr/>
        </p:nvSpPr>
        <p:spPr>
          <a:xfrm>
            <a:off x="4837176" y="2926080"/>
            <a:ext cx="3877056" cy="1078992"/>
          </a:xfrm>
          <a:prstGeom prst="rect">
            <a:avLst/>
          </a:prstGeom>
          <a:noFill/>
          <a:ln/>
        </p:spPr>
        <p:txBody>
          <a:bodyPr wrap="square" lIns="63500" tIns="63500" rIns="63500" bIns="63500" rtlCol="0" anchor="t"/>
          <a:lstStyle/>
          <a:p>
            <a:pPr marL="0" indent="0" algn="l">
              <a:buNone/>
            </a:pPr>
            <a:r>
              <a:rPr lang="en-US" sz="1050" dirty="0">
                <a:solidFill>
                  <a:srgbClr val="1A1A2E"/>
                </a:solidFill>
                <a:latin typeface="Arial" pitchFamily="34" charset="0"/>
                <a:ea typeface="Arial" pitchFamily="34" charset="-122"/>
                <a:cs typeface="Arial" pitchFamily="34" charset="-120"/>
              </a:rPr>
              <a:t>For this small dense SPD matrix, the IC factor L̃ is a near-exact Cholesky factor. Therefore M = L̃L̃ᵀ ≈ A exactly, giving κ(M⁻¹A) ≈ κ(I) = 1. CG on a perfectly conditioned system converges in 1 step.</a:t>
            </a:r>
            <a:endParaRPr lang="en-US" sz="1050" dirty="0"/>
          </a:p>
          <a:p>
            <a:pPr marL="0" indent="0" algn="l">
              <a:buNone/>
            </a:pPr>
            <a:endParaRPr lang="en-US" sz="1050" dirty="0"/>
          </a:p>
          <a:p>
            <a:pPr marL="0" indent="0" algn="l">
              <a:buNone/>
            </a:pPr>
            <a:r>
              <a:rPr lang="en-US" sz="1050" dirty="0">
                <a:solidFill>
                  <a:srgbClr val="1A1A2E"/>
                </a:solidFill>
                <a:latin typeface="Arial" pitchFamily="34" charset="0"/>
                <a:ea typeface="Arial" pitchFamily="34" charset="-122"/>
                <a:cs typeface="Arial" pitchFamily="34" charset="-120"/>
              </a:rPr>
              <a:t>This is the theoretical upper bound of what preconditioning can achieve.</a:t>
            </a:r>
            <a:endParaRPr lang="en-US" sz="1050" dirty="0"/>
          </a:p>
        </p:txBody>
      </p:sp>
      <p:sp>
        <p:nvSpPr>
          <p:cNvPr id="8" name="Shape 12"/>
          <p:cNvSpPr/>
          <p:nvPr/>
        </p:nvSpPr>
        <p:spPr>
          <a:xfrm>
            <a:off x="320040" y="4151376"/>
            <a:ext cx="8503920" cy="566928"/>
          </a:xfrm>
          <a:prstGeom prst="roundRect">
            <a:avLst>
              <a:gd name="adj" fmla="val 9677"/>
            </a:avLst>
          </a:prstGeom>
          <a:solidFill>
            <a:srgbClr val="F4F6FA"/>
          </a:solidFill>
          <a:ln w="12700">
            <a:solidFill>
              <a:srgbClr val="DDE3EF"/>
            </a:solidFill>
            <a:prstDash val="solid"/>
          </a:ln>
        </p:spPr>
        <p:txBody>
          <a:bodyPr/>
          <a:lstStyle/>
          <a:p>
            <a:endParaRPr lang="en-NG"/>
          </a:p>
        </p:txBody>
      </p:sp>
      <p:sp>
        <p:nvSpPr>
          <p:cNvPr id="16" name="Text 13"/>
          <p:cNvSpPr/>
          <p:nvPr/>
        </p:nvSpPr>
        <p:spPr>
          <a:xfrm>
            <a:off x="457200" y="4187952"/>
            <a:ext cx="8229600" cy="475488"/>
          </a:xfrm>
          <a:prstGeom prst="rect">
            <a:avLst/>
          </a:prstGeom>
          <a:noFill/>
          <a:ln/>
        </p:spPr>
        <p:txBody>
          <a:bodyPr wrap="square" lIns="50800" tIns="50800" rIns="50800" bIns="50800" rtlCol="0" anchor="t"/>
          <a:lstStyle/>
          <a:p>
            <a:pPr marL="0" indent="0" algn="l">
              <a:buNone/>
            </a:pPr>
            <a:r>
              <a:rPr lang="en-US" sz="1000" dirty="0">
                <a:solidFill>
                  <a:srgbClr val="6B7C99"/>
                </a:solidFill>
                <a:latin typeface="Arial" pitchFamily="34" charset="0"/>
                <a:ea typeface="Arial" pitchFamily="34" charset="-122"/>
                <a:cs typeface="Arial" pitchFamily="34" charset="-120"/>
              </a:rPr>
              <a:t>Column key: ‖r‖₂ = 2-norm of final residual b−Ax.  Relative Residual = ‖r‖₂/‖b‖₂ (compared to ε=10⁻⁸ for convergence test).  Absolute Error = ‖x−x*‖₂ (available because we constructed b=Ax*).</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3087"/>
          </a:solidFill>
          <a:ln w="12700">
            <a:solidFill>
              <a:srgbClr val="003087"/>
            </a:solidFill>
            <a:prstDash val="solid"/>
          </a:ln>
        </p:spPr>
        <p:txBody>
          <a:bodyPr/>
          <a:lstStyle/>
          <a:p>
            <a:endParaRPr lang="en-NG"/>
          </a:p>
        </p:txBody>
      </p:sp>
      <p:sp>
        <p:nvSpPr>
          <p:cNvPr id="3" name="Text 1"/>
          <p:cNvSpPr/>
          <p:nvPr/>
        </p:nvSpPr>
        <p:spPr>
          <a:xfrm>
            <a:off x="320040" y="54864"/>
            <a:ext cx="7589520" cy="530352"/>
          </a:xfrm>
          <a:prstGeom prst="rect">
            <a:avLst/>
          </a:prstGeom>
          <a:noFill/>
          <a:ln/>
        </p:spPr>
        <p:txBody>
          <a:bodyPr wrap="square" lIns="50800" tIns="50800" rIns="50800" bIns="50800" rtlCol="0" anchor="ctr"/>
          <a:lstStyle/>
          <a:p>
            <a:pPr marL="0" indent="0" algn="l">
              <a:buNone/>
            </a:pPr>
            <a:r>
              <a:rPr lang="en-US" sz="1900" b="1" dirty="0">
                <a:solidFill>
                  <a:srgbClr val="FFFFFF"/>
                </a:solidFill>
                <a:latin typeface="Cambria" pitchFamily="34" charset="0"/>
                <a:ea typeface="Cambria" pitchFamily="34" charset="-122"/>
                <a:cs typeface="Cambria" pitchFamily="34" charset="-120"/>
              </a:rPr>
              <a:t>15.  Results — Scaling Tests (n = 100, 1000, 3000)</a:t>
            </a:r>
            <a:endParaRPr lang="en-US" sz="1900" dirty="0"/>
          </a:p>
        </p:txBody>
      </p:sp>
      <p:sp>
        <p:nvSpPr>
          <p:cNvPr id="4" name="Text 2"/>
          <p:cNvSpPr/>
          <p:nvPr/>
        </p:nvSpPr>
        <p:spPr>
          <a:xfrm>
            <a:off x="8138160" y="54864"/>
            <a:ext cx="640080" cy="530352"/>
          </a:xfrm>
          <a:prstGeom prst="rect">
            <a:avLst/>
          </a:prstGeom>
          <a:noFill/>
          <a:ln/>
        </p:spPr>
        <p:txBody>
          <a:bodyPr wrap="square" lIns="25400" tIns="25400" rIns="25400" bIns="25400" rtlCol="0" anchor="ctr"/>
          <a:lstStyle/>
          <a:p>
            <a:pPr marL="0" indent="0" algn="r">
              <a:buNone/>
            </a:pPr>
            <a:r>
              <a:rPr lang="en-US" sz="1000" dirty="0">
                <a:solidFill>
                  <a:srgbClr val="AAC0E8"/>
                </a:solidFill>
                <a:latin typeface="Arial" pitchFamily="34" charset="0"/>
                <a:ea typeface="Arial" pitchFamily="34" charset="-122"/>
                <a:cs typeface="Arial" pitchFamily="34" charset="-120"/>
              </a:rPr>
              <a:t>15 / 20</a:t>
            </a:r>
            <a:endParaRPr lang="en-US" sz="1000" dirty="0"/>
          </a:p>
        </p:txBody>
      </p:sp>
      <p:sp>
        <p:nvSpPr>
          <p:cNvPr id="5" name="Shape 3"/>
          <p:cNvSpPr/>
          <p:nvPr/>
        </p:nvSpPr>
        <p:spPr>
          <a:xfrm>
            <a:off x="0" y="640080"/>
            <a:ext cx="9144000" cy="45720"/>
          </a:xfrm>
          <a:prstGeom prst="rect">
            <a:avLst/>
          </a:prstGeom>
          <a:solidFill>
            <a:srgbClr val="C8102E"/>
          </a:solidFill>
          <a:ln w="12700">
            <a:solidFill>
              <a:srgbClr val="C8102E"/>
            </a:solidFill>
            <a:prstDash val="solid"/>
          </a:ln>
        </p:spPr>
        <p:txBody>
          <a:bodyPr/>
          <a:lstStyle/>
          <a:p>
            <a:endParaRPr lang="en-NG"/>
          </a:p>
        </p:txBody>
      </p:sp>
      <p:sp>
        <p:nvSpPr>
          <p:cNvPr id="6" name="Text 4"/>
          <p:cNvSpPr/>
          <p:nvPr/>
        </p:nvSpPr>
        <p:spPr>
          <a:xfrm>
            <a:off x="320040" y="749808"/>
            <a:ext cx="8503920" cy="320040"/>
          </a:xfrm>
          <a:prstGeom prst="rect">
            <a:avLst/>
          </a:prstGeom>
          <a:noFill/>
          <a:ln/>
        </p:spPr>
        <p:txBody>
          <a:bodyPr wrap="square" lIns="25400" tIns="25400" rIns="25400" bIns="25400" rtlCol="0" anchor="t"/>
          <a:lstStyle/>
          <a:p>
            <a:pPr marL="0" indent="0" algn="l">
              <a:buNone/>
            </a:pPr>
            <a:r>
              <a:rPr lang="en-US" sz="1100" dirty="0">
                <a:solidFill>
                  <a:srgbClr val="1A1A2E"/>
                </a:solidFill>
                <a:latin typeface="Arial" pitchFamily="34" charset="0"/>
                <a:ea typeface="Arial" pitchFamily="34" charset="-122"/>
                <a:cs typeface="Arial" pitchFamily="34" charset="-120"/>
              </a:rPr>
              <a:t>Same construction: A = RᵀR + nI. Tolerance ε = 10⁻⁸. Initial guess x₀ = 0. All tests converged.</a:t>
            </a:r>
            <a:endParaRPr lang="en-US" sz="1100" dirty="0"/>
          </a:p>
        </p:txBody>
      </p:sp>
      <p:sp>
        <p:nvSpPr>
          <p:cNvPr id="7" name="Text 5"/>
          <p:cNvSpPr/>
          <p:nvPr/>
        </p:nvSpPr>
        <p:spPr>
          <a:xfrm>
            <a:off x="320040" y="1115568"/>
            <a:ext cx="8503920" cy="256032"/>
          </a:xfrm>
          <a:prstGeom prst="rect">
            <a:avLst/>
          </a:prstGeom>
          <a:noFill/>
          <a:ln/>
        </p:spPr>
        <p:txBody>
          <a:bodyPr wrap="square" lIns="25400" tIns="25400" rIns="25400" bIns="25400" rtlCol="0" anchor="t"/>
          <a:lstStyle/>
          <a:p>
            <a:pPr marL="0" indent="0" algn="l">
              <a:buNone/>
            </a:pPr>
            <a:r>
              <a:rPr lang="en-US" sz="1200" b="1" dirty="0">
                <a:solidFill>
                  <a:srgbClr val="003087"/>
                </a:solidFill>
                <a:latin typeface="Cambria" pitchFamily="34" charset="0"/>
                <a:ea typeface="Cambria" pitchFamily="34" charset="-122"/>
                <a:cs typeface="Cambria" pitchFamily="34" charset="-120"/>
              </a:rPr>
              <a:t>Table 2: CG scaling with system size</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20040" y="1389888"/>
          <a:ext cx="8503920" cy="1609344"/>
        </p:xfrm>
        <a:graphic>
          <a:graphicData uri="http://schemas.openxmlformats.org/drawingml/2006/table">
            <a:tbl>
              <a:tblPr/>
              <a:tblGrid>
                <a:gridCol w="10972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402336">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n</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solidFill>
                        <a:srgbClr val="DDE3EF"/>
                      </a:solidFill>
                      <a:prstDash val="solid"/>
                      <a:round/>
                      <a:headEnd type="none" w="med" len="med"/>
                      <a:tailEnd type="none" w="med" len="med"/>
                    </a:lnT>
                    <a:lnB w="0" cap="flat" cmpd="sng" algn="ctr">
                      <a:noFill/>
                    </a:lnB>
                    <a:solidFill>
                      <a:srgbClr val="003087"/>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Iterations</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solidFill>
                        <a:srgbClr val="DDE3EF"/>
                      </a:solidFill>
                      <a:prstDash val="solid"/>
                      <a:round/>
                      <a:headEnd type="none" w="med" len="med"/>
                      <a:tailEnd type="none" w="med" len="med"/>
                    </a:lnT>
                    <a:lnB w="0" cap="flat" cmpd="sng" algn="ctr">
                      <a:noFill/>
                    </a:lnB>
                    <a:solidFill>
                      <a:srgbClr val="003087"/>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‖r‖₂</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solidFill>
                        <a:srgbClr val="DDE3EF"/>
                      </a:solidFill>
                      <a:prstDash val="solid"/>
                      <a:round/>
                      <a:headEnd type="none" w="med" len="med"/>
                      <a:tailEnd type="none" w="med" len="med"/>
                    </a:lnT>
                    <a:lnB w="0" cap="flat" cmpd="sng" algn="ctr">
                      <a:noFill/>
                    </a:lnB>
                    <a:solidFill>
                      <a:srgbClr val="003087"/>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Relative Residual</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solidFill>
                        <a:srgbClr val="DDE3EF"/>
                      </a:solidFill>
                      <a:prstDash val="solid"/>
                      <a:round/>
                      <a:headEnd type="none" w="med" len="med"/>
                      <a:tailEnd type="none" w="med" len="med"/>
                    </a:lnT>
                    <a:lnB w="0" cap="flat" cmpd="sng" algn="ctr">
                      <a:noFill/>
                    </a:lnB>
                    <a:solidFill>
                      <a:srgbClr val="003087"/>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CPU (seconds)</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solidFill>
                        <a:srgbClr val="DDE3EF"/>
                      </a:solidFill>
                      <a:prstDash val="solid"/>
                      <a:round/>
                      <a:headEnd type="none" w="med" len="med"/>
                      <a:tailEnd type="none" w="med" len="med"/>
                    </a:lnT>
                    <a:lnB w="0" cap="flat" cmpd="sng" algn="ctr">
                      <a:noFill/>
                    </a:lnB>
                    <a:solidFill>
                      <a:srgbClr val="003087"/>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Converged?</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solidFill>
                        <a:srgbClr val="DDE3EF"/>
                      </a:solidFill>
                      <a:prstDash val="solid"/>
                      <a:round/>
                      <a:headEnd type="none" w="med" len="med"/>
                      <a:tailEnd type="none" w="med" len="med"/>
                    </a:lnT>
                    <a:lnB w="0" cap="flat" cmpd="sng" algn="ctr">
                      <a:noFill/>
                    </a:lnB>
                    <a:solidFill>
                      <a:srgbClr val="003087"/>
                    </a:solidFill>
                  </a:tcPr>
                </a:tc>
                <a:extLst>
                  <a:ext uri="{0D108BD9-81ED-4DB2-BD59-A6C34878D82A}">
                    <a16:rowId xmlns:a16="http://schemas.microsoft.com/office/drawing/2014/main" val="10000"/>
                  </a:ext>
                </a:extLst>
              </a:tr>
              <a:tr h="402336">
                <a:tc>
                  <a:txBody>
                    <a:bodyPr/>
                    <a:lstStyle/>
                    <a:p>
                      <a:pPr marL="0" indent="0" algn="ctr">
                        <a:buNone/>
                      </a:pPr>
                      <a:r>
                        <a:rPr lang="en-US" sz="1200" dirty="0">
                          <a:solidFill>
                            <a:srgbClr val="1A1A2E"/>
                          </a:solidFill>
                          <a:latin typeface="Arial" pitchFamily="34" charset="0"/>
                          <a:ea typeface="Arial" pitchFamily="34" charset="-122"/>
                          <a:cs typeface="Arial" pitchFamily="34" charset="-120"/>
                        </a:rPr>
                        <a:t>100</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200" dirty="0">
                          <a:solidFill>
                            <a:srgbClr val="1A1A2E"/>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200" dirty="0">
                          <a:solidFill>
                            <a:srgbClr val="1A1A2E"/>
                          </a:solidFill>
                          <a:latin typeface="Arial" pitchFamily="34" charset="0"/>
                          <a:ea typeface="Arial" pitchFamily="34" charset="-122"/>
                          <a:cs typeface="Arial" pitchFamily="34" charset="-120"/>
                        </a:rPr>
                        <a:t>5.72e-05</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200" dirty="0">
                          <a:solidFill>
                            <a:srgbClr val="1A1A2E"/>
                          </a:solidFill>
                          <a:latin typeface="Arial" pitchFamily="34" charset="0"/>
                          <a:ea typeface="Arial" pitchFamily="34" charset="-122"/>
                          <a:cs typeface="Arial" pitchFamily="34" charset="-120"/>
                        </a:rPr>
                        <a:t>4.05e-09</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200" dirty="0">
                          <a:solidFill>
                            <a:srgbClr val="1A1A2E"/>
                          </a:solidFill>
                          <a:latin typeface="Arial" pitchFamily="34" charset="0"/>
                          <a:ea typeface="Arial" pitchFamily="34" charset="-122"/>
                          <a:cs typeface="Arial" pitchFamily="34" charset="-120"/>
                        </a:rPr>
                        <a:t>0.0078</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200" b="1" dirty="0">
                          <a:solidFill>
                            <a:srgbClr val="1B6B3A"/>
                          </a:solidFill>
                          <a:latin typeface="Arial" pitchFamily="34" charset="0"/>
                          <a:ea typeface="Arial" pitchFamily="34" charset="-122"/>
                          <a:cs typeface="Arial" pitchFamily="34" charset="-120"/>
                        </a:rPr>
                        <a:t>✓  Yes</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1"/>
                  </a:ext>
                </a:extLst>
              </a:tr>
              <a:tr h="402336">
                <a:tc>
                  <a:txBody>
                    <a:bodyPr/>
                    <a:lstStyle/>
                    <a:p>
                      <a:pPr marL="0" indent="0" algn="ctr">
                        <a:buNone/>
                      </a:pPr>
                      <a:r>
                        <a:rPr lang="en-US" sz="1200" dirty="0">
                          <a:solidFill>
                            <a:srgbClr val="1A1A2E"/>
                          </a:solidFill>
                          <a:latin typeface="Arial" pitchFamily="34" charset="0"/>
                          <a:ea typeface="Arial" pitchFamily="34" charset="-122"/>
                          <a:cs typeface="Arial" pitchFamily="34" charset="-120"/>
                        </a:rPr>
                        <a:t>1000</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200" dirty="0">
                          <a:solidFill>
                            <a:srgbClr val="1A1A2E"/>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200" dirty="0">
                          <a:solidFill>
                            <a:srgbClr val="1A1A2E"/>
                          </a:solidFill>
                          <a:latin typeface="Arial" pitchFamily="34" charset="0"/>
                          <a:ea typeface="Arial" pitchFamily="34" charset="-122"/>
                          <a:cs typeface="Arial" pitchFamily="34" charset="-120"/>
                        </a:rPr>
                        <a:t>2.47e-02</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200" dirty="0">
                          <a:solidFill>
                            <a:srgbClr val="1A1A2E"/>
                          </a:solidFill>
                          <a:latin typeface="Arial" pitchFamily="34" charset="0"/>
                          <a:ea typeface="Arial" pitchFamily="34" charset="-122"/>
                          <a:cs typeface="Arial" pitchFamily="34" charset="-120"/>
                        </a:rPr>
                        <a:t>6.29e-09</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200" dirty="0">
                          <a:solidFill>
                            <a:srgbClr val="1A1A2E"/>
                          </a:solidFill>
                          <a:latin typeface="Arial" pitchFamily="34" charset="0"/>
                          <a:ea typeface="Arial" pitchFamily="34" charset="-122"/>
                          <a:cs typeface="Arial" pitchFamily="34" charset="-120"/>
                        </a:rPr>
                        <a:t>0.0027</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200" b="1" dirty="0">
                          <a:solidFill>
                            <a:srgbClr val="1B6B3A"/>
                          </a:solidFill>
                          <a:latin typeface="Arial" pitchFamily="34" charset="0"/>
                          <a:ea typeface="Arial" pitchFamily="34" charset="-122"/>
                          <a:cs typeface="Arial" pitchFamily="34" charset="-120"/>
                        </a:rPr>
                        <a:t>✓  Yes</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2"/>
                  </a:ext>
                </a:extLst>
              </a:tr>
              <a:tr h="402336">
                <a:tc>
                  <a:txBody>
                    <a:bodyPr/>
                    <a:lstStyle/>
                    <a:p>
                      <a:pPr marL="0" indent="0" algn="ctr">
                        <a:buNone/>
                      </a:pPr>
                      <a:r>
                        <a:rPr lang="en-US" sz="1200" dirty="0">
                          <a:solidFill>
                            <a:srgbClr val="1A1A2E"/>
                          </a:solidFill>
                          <a:latin typeface="Arial" pitchFamily="34" charset="0"/>
                          <a:ea typeface="Arial" pitchFamily="34" charset="-122"/>
                          <a:cs typeface="Arial" pitchFamily="34" charset="-120"/>
                        </a:rPr>
                        <a:t>3000</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200" dirty="0">
                          <a:solidFill>
                            <a:srgbClr val="1A1A2E"/>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200" dirty="0">
                          <a:solidFill>
                            <a:srgbClr val="1A1A2E"/>
                          </a:solidFill>
                          <a:latin typeface="Arial" pitchFamily="34" charset="0"/>
                          <a:ea typeface="Arial" pitchFamily="34" charset="-122"/>
                          <a:cs typeface="Arial" pitchFamily="34" charset="-120"/>
                        </a:rPr>
                        <a:t>1.11e-01</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200" dirty="0">
                          <a:solidFill>
                            <a:srgbClr val="1A1A2E"/>
                          </a:solidFill>
                          <a:latin typeface="Arial" pitchFamily="34" charset="0"/>
                          <a:ea typeface="Arial" pitchFamily="34" charset="-122"/>
                          <a:cs typeface="Arial" pitchFamily="34" charset="-120"/>
                        </a:rPr>
                        <a:t>1.80e-09</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200" dirty="0">
                          <a:solidFill>
                            <a:srgbClr val="1A1A2E"/>
                          </a:solidFill>
                          <a:latin typeface="Arial" pitchFamily="34" charset="0"/>
                          <a:ea typeface="Arial" pitchFamily="34" charset="-122"/>
                          <a:cs typeface="Arial" pitchFamily="34" charset="-120"/>
                        </a:rPr>
                        <a:t>0.0187</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200" b="1" dirty="0">
                          <a:solidFill>
                            <a:srgbClr val="1B6B3A"/>
                          </a:solidFill>
                          <a:latin typeface="Arial" pitchFamily="34" charset="0"/>
                          <a:ea typeface="Arial" pitchFamily="34" charset="-122"/>
                          <a:cs typeface="Arial" pitchFamily="34" charset="-120"/>
                        </a:rPr>
                        <a:t>✓  Yes</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3"/>
                  </a:ext>
                </a:extLst>
              </a:tr>
            </a:tbl>
          </a:graphicData>
        </a:graphic>
      </p:graphicFrame>
      <p:sp>
        <p:nvSpPr>
          <p:cNvPr id="9" name="Shape 6"/>
          <p:cNvSpPr/>
          <p:nvPr/>
        </p:nvSpPr>
        <p:spPr>
          <a:xfrm>
            <a:off x="320040" y="2743200"/>
            <a:ext cx="8503920" cy="1760220"/>
          </a:xfrm>
          <a:prstGeom prst="roundRect">
            <a:avLst>
              <a:gd name="adj" fmla="val 3797"/>
            </a:avLst>
          </a:prstGeom>
          <a:solidFill>
            <a:srgbClr val="EBF0FA"/>
          </a:solidFill>
          <a:ln w="19050">
            <a:solidFill>
              <a:srgbClr val="003087"/>
            </a:solidFill>
            <a:prstDash val="solid"/>
          </a:ln>
        </p:spPr>
        <p:txBody>
          <a:bodyPr/>
          <a:lstStyle/>
          <a:p>
            <a:endParaRPr lang="en-NG"/>
          </a:p>
        </p:txBody>
      </p:sp>
      <p:sp>
        <p:nvSpPr>
          <p:cNvPr id="10" name="Text 7"/>
          <p:cNvSpPr/>
          <p:nvPr/>
        </p:nvSpPr>
        <p:spPr>
          <a:xfrm>
            <a:off x="457200" y="2788920"/>
            <a:ext cx="8229600" cy="292608"/>
          </a:xfrm>
          <a:prstGeom prst="rect">
            <a:avLst/>
          </a:prstGeom>
          <a:noFill/>
          <a:ln/>
        </p:spPr>
        <p:txBody>
          <a:bodyPr wrap="square" lIns="63500" tIns="63500" rIns="63500" bIns="63500" rtlCol="0" anchor="t"/>
          <a:lstStyle/>
          <a:p>
            <a:pPr marL="0" indent="0" algn="l">
              <a:buNone/>
            </a:pPr>
            <a:r>
              <a:rPr lang="en-US" sz="1250" b="1" dirty="0">
                <a:solidFill>
                  <a:srgbClr val="003087"/>
                </a:solidFill>
                <a:latin typeface="Cambria" pitchFamily="34" charset="0"/>
                <a:ea typeface="Cambria" pitchFamily="34" charset="-122"/>
                <a:cs typeface="Cambria" pitchFamily="34" charset="-120"/>
              </a:rPr>
              <a:t>📊  Key Analytical Insight — CG is Spectrally Aware, Not Size-Aware</a:t>
            </a:r>
            <a:endParaRPr lang="en-US" sz="1250" dirty="0"/>
          </a:p>
        </p:txBody>
      </p:sp>
      <p:sp>
        <p:nvSpPr>
          <p:cNvPr id="11" name="Text 8"/>
          <p:cNvSpPr/>
          <p:nvPr/>
        </p:nvSpPr>
        <p:spPr>
          <a:xfrm>
            <a:off x="457200" y="3072715"/>
            <a:ext cx="8229600" cy="1024128"/>
          </a:xfrm>
          <a:prstGeom prst="rect">
            <a:avLst/>
          </a:prstGeom>
          <a:noFill/>
          <a:ln/>
        </p:spPr>
        <p:txBody>
          <a:bodyPr wrap="square" lIns="63500" tIns="63500" rIns="63500" bIns="63500" rtlCol="0" anchor="t"/>
          <a:lstStyle/>
          <a:p>
            <a:pPr marL="0" indent="0" algn="l">
              <a:buNone/>
            </a:pPr>
            <a:r>
              <a:rPr lang="en-US" sz="1050" dirty="0">
                <a:solidFill>
                  <a:srgbClr val="1A1A2E"/>
                </a:solidFill>
                <a:latin typeface="Arial" pitchFamily="34" charset="0"/>
                <a:ea typeface="Arial" pitchFamily="34" charset="-122"/>
                <a:cs typeface="Arial" pitchFamily="34" charset="-120"/>
              </a:rPr>
              <a:t>Iteration count stayed constant at 7 across n = 100 → 1000 → 3000. This is not coincidental.</a:t>
            </a:r>
            <a:endParaRPr lang="en-US" sz="1050" dirty="0"/>
          </a:p>
          <a:p>
            <a:pPr marL="0" indent="0" algn="l">
              <a:buNone/>
            </a:pPr>
            <a:endParaRPr lang="en-US" sz="1050" dirty="0"/>
          </a:p>
          <a:p>
            <a:pPr marL="0" indent="0" algn="l">
              <a:buNone/>
            </a:pPr>
            <a:r>
              <a:rPr lang="en-US" sz="1050" dirty="0">
                <a:solidFill>
                  <a:srgbClr val="1A1A2E"/>
                </a:solidFill>
                <a:latin typeface="Arial" pitchFamily="34" charset="0"/>
                <a:ea typeface="Arial" pitchFamily="34" charset="-122"/>
                <a:cs typeface="Arial" pitchFamily="34" charset="-120"/>
              </a:rPr>
              <a:t>The test matrices A = RᵀR + nI have a dominant diagonal shift nI. Both the smallest eigenvalue (≥n) and the largest eigenvalue grow proportionally to n. Their ratio κ(A) = λ_max/λ_min remains approximately constant regardless of n.</a:t>
            </a:r>
            <a:endParaRPr lang="en-US" sz="1050" dirty="0"/>
          </a:p>
          <a:p>
            <a:pPr marL="0" indent="0" algn="l">
              <a:buNone/>
            </a:pPr>
            <a:endParaRPr lang="en-US" sz="1050" dirty="0"/>
          </a:p>
          <a:p>
            <a:pPr marL="0" indent="0" algn="l">
              <a:buNone/>
            </a:pPr>
            <a:r>
              <a:rPr lang="en-US" sz="1050" dirty="0">
                <a:solidFill>
                  <a:srgbClr val="1A1A2E"/>
                </a:solidFill>
                <a:latin typeface="Arial" pitchFamily="34" charset="0"/>
                <a:ea typeface="Arial" pitchFamily="34" charset="-122"/>
                <a:cs typeface="Arial" pitchFamily="34" charset="-120"/>
              </a:rPr>
              <a:t>Since CG’s convergence bound depends on κ(A) and not directly on n, the iteration count stays stable. This empirically confirms: CG convergence is determined by the EIGENVALUE DISTRIBUTION, not the matrix size.</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3087"/>
          </a:solidFill>
          <a:ln w="12700">
            <a:solidFill>
              <a:srgbClr val="003087"/>
            </a:solidFill>
            <a:prstDash val="solid"/>
          </a:ln>
        </p:spPr>
        <p:txBody>
          <a:bodyPr/>
          <a:lstStyle/>
          <a:p>
            <a:endParaRPr lang="en-NG"/>
          </a:p>
        </p:txBody>
      </p:sp>
      <p:sp>
        <p:nvSpPr>
          <p:cNvPr id="3" name="Text 1"/>
          <p:cNvSpPr/>
          <p:nvPr/>
        </p:nvSpPr>
        <p:spPr>
          <a:xfrm>
            <a:off x="320040" y="54864"/>
            <a:ext cx="7589520" cy="530352"/>
          </a:xfrm>
          <a:prstGeom prst="rect">
            <a:avLst/>
          </a:prstGeom>
          <a:noFill/>
          <a:ln/>
        </p:spPr>
        <p:txBody>
          <a:bodyPr wrap="square" lIns="50800" tIns="50800" rIns="50800" bIns="50800" rtlCol="0" anchor="ctr"/>
          <a:lstStyle/>
          <a:p>
            <a:pPr marL="0" indent="0" algn="l">
              <a:buNone/>
            </a:pPr>
            <a:r>
              <a:rPr lang="en-US" sz="1900" b="1" dirty="0">
                <a:solidFill>
                  <a:srgbClr val="FFFFFF"/>
                </a:solidFill>
                <a:latin typeface="Cambria" pitchFamily="34" charset="0"/>
                <a:ea typeface="Cambria" pitchFamily="34" charset="-122"/>
                <a:cs typeface="Cambria" pitchFamily="34" charset="-120"/>
              </a:rPr>
              <a:t>16.  Results — 1D Poisson Sparse Matrix (n = 500)</a:t>
            </a:r>
            <a:endParaRPr lang="en-US" sz="1900" dirty="0"/>
          </a:p>
        </p:txBody>
      </p:sp>
      <p:sp>
        <p:nvSpPr>
          <p:cNvPr id="4" name="Text 2"/>
          <p:cNvSpPr/>
          <p:nvPr/>
        </p:nvSpPr>
        <p:spPr>
          <a:xfrm>
            <a:off x="8138160" y="54864"/>
            <a:ext cx="640080" cy="530352"/>
          </a:xfrm>
          <a:prstGeom prst="rect">
            <a:avLst/>
          </a:prstGeom>
          <a:noFill/>
          <a:ln/>
        </p:spPr>
        <p:txBody>
          <a:bodyPr wrap="square" lIns="25400" tIns="25400" rIns="25400" bIns="25400" rtlCol="0" anchor="ctr"/>
          <a:lstStyle/>
          <a:p>
            <a:pPr marL="0" indent="0" algn="r">
              <a:buNone/>
            </a:pPr>
            <a:r>
              <a:rPr lang="en-US" sz="1000" dirty="0">
                <a:solidFill>
                  <a:srgbClr val="AAC0E8"/>
                </a:solidFill>
                <a:latin typeface="Arial" pitchFamily="34" charset="0"/>
                <a:ea typeface="Arial" pitchFamily="34" charset="-122"/>
                <a:cs typeface="Arial" pitchFamily="34" charset="-120"/>
              </a:rPr>
              <a:t>16 / 20</a:t>
            </a:r>
            <a:endParaRPr lang="en-US" sz="1000" dirty="0"/>
          </a:p>
        </p:txBody>
      </p:sp>
      <p:sp>
        <p:nvSpPr>
          <p:cNvPr id="5" name="Shape 3"/>
          <p:cNvSpPr/>
          <p:nvPr/>
        </p:nvSpPr>
        <p:spPr>
          <a:xfrm>
            <a:off x="0" y="640080"/>
            <a:ext cx="9144000" cy="45720"/>
          </a:xfrm>
          <a:prstGeom prst="rect">
            <a:avLst/>
          </a:prstGeom>
          <a:solidFill>
            <a:srgbClr val="C8102E"/>
          </a:solidFill>
          <a:ln w="12700">
            <a:solidFill>
              <a:srgbClr val="C8102E"/>
            </a:solidFill>
            <a:prstDash val="solid"/>
          </a:ln>
        </p:spPr>
        <p:txBody>
          <a:bodyPr/>
          <a:lstStyle/>
          <a:p>
            <a:endParaRPr lang="en-NG"/>
          </a:p>
        </p:txBody>
      </p:sp>
      <p:sp>
        <p:nvSpPr>
          <p:cNvPr id="6" name="Text 4"/>
          <p:cNvSpPr/>
          <p:nvPr/>
        </p:nvSpPr>
        <p:spPr>
          <a:xfrm>
            <a:off x="320040" y="749808"/>
            <a:ext cx="8503920" cy="320040"/>
          </a:xfrm>
          <a:prstGeom prst="rect">
            <a:avLst/>
          </a:prstGeom>
          <a:noFill/>
          <a:ln/>
        </p:spPr>
        <p:txBody>
          <a:bodyPr wrap="square" lIns="25400" tIns="25400" rIns="25400" bIns="25400" rtlCol="0" anchor="t"/>
          <a:lstStyle/>
          <a:p>
            <a:pPr marL="0" indent="0" algn="l">
              <a:buNone/>
            </a:pPr>
            <a:r>
              <a:rPr lang="en-US" sz="1100" dirty="0">
                <a:solidFill>
                  <a:srgbClr val="1A1A2E"/>
                </a:solidFill>
                <a:latin typeface="Arial" pitchFamily="34" charset="0"/>
                <a:ea typeface="Arial" pitchFamily="34" charset="-122"/>
                <a:cs typeface="Arial" pitchFamily="34" charset="-120"/>
              </a:rPr>
              <a:t>Matrix: A = tridiag(-1,4,-1) + I, n=500, nnz=1498 (fill=0.60%). Loaded as MATLAB sparse matrix. Real sparse test case from PDE discretisation (Lecture 8, Nasedkina 2026).</a:t>
            </a:r>
            <a:endParaRPr lang="en-US" sz="1100" dirty="0"/>
          </a:p>
        </p:txBody>
      </p:sp>
      <p:sp>
        <p:nvSpPr>
          <p:cNvPr id="7" name="Text 5"/>
          <p:cNvSpPr/>
          <p:nvPr/>
        </p:nvSpPr>
        <p:spPr>
          <a:xfrm>
            <a:off x="320040" y="1115568"/>
            <a:ext cx="8503920" cy="256032"/>
          </a:xfrm>
          <a:prstGeom prst="rect">
            <a:avLst/>
          </a:prstGeom>
          <a:noFill/>
          <a:ln/>
        </p:spPr>
        <p:txBody>
          <a:bodyPr wrap="square" lIns="25400" tIns="25400" rIns="25400" bIns="25400" rtlCol="0" anchor="t"/>
          <a:lstStyle/>
          <a:p>
            <a:pPr marL="0" indent="0" algn="l">
              <a:buNone/>
            </a:pPr>
            <a:r>
              <a:rPr lang="en-US" sz="1200" b="1" dirty="0">
                <a:solidFill>
                  <a:srgbClr val="003087"/>
                </a:solidFill>
                <a:latin typeface="Cambria" pitchFamily="34" charset="0"/>
                <a:ea typeface="Cambria" pitchFamily="34" charset="-122"/>
                <a:cs typeface="Cambria" pitchFamily="34" charset="-120"/>
              </a:rPr>
              <a:t>Table 3: CG and PCG on 1D Poisson sparse matrix, n = 500, nnz = 1498</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20040" y="1389888"/>
          <a:ext cx="8503920" cy="1399032"/>
        </p:xfrm>
        <a:graphic>
          <a:graphicData uri="http://schemas.openxmlformats.org/drawingml/2006/table">
            <a:tbl>
              <a:tblPr/>
              <a:tblGrid>
                <a:gridCol w="10972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gridCol w="1280160">
                  <a:extLst>
                    <a:ext uri="{9D8B030D-6E8A-4147-A177-3AD203B41FA5}">
                      <a16:colId xmlns:a16="http://schemas.microsoft.com/office/drawing/2014/main" val="20006"/>
                    </a:ext>
                  </a:extLst>
                </a:gridCol>
              </a:tblGrid>
              <a:tr h="466344">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Method</a:t>
                      </a:r>
                      <a:endParaRPr lang="en-US" sz="1100" dirty="0">
                        <a:latin typeface="Arial" charset="0"/>
                        <a:ea typeface="Arial" charset="0"/>
                        <a:cs typeface="Arial" charset="0"/>
                      </a:endParaRPr>
                    </a:p>
                  </a:txBody>
                  <a:tcPr marL="88900" marR="88900" marT="88900" marB="88900" anchor="ctr">
                    <a:lnL w="0" cap="flat" cmpd="sng" algn="ctr">
                      <a:noFill/>
                    </a:lnL>
                    <a:lnR w="0" cap="flat" cmpd="sng" algn="ctr">
                      <a:noFill/>
                    </a:lnR>
                    <a:lnT w="6350" cap="flat" cmpd="sng" algn="ctr">
                      <a:solidFill>
                        <a:srgbClr val="DDE3EF"/>
                      </a:solidFill>
                      <a:prstDash val="solid"/>
                      <a:round/>
                      <a:headEnd type="none" w="med" len="med"/>
                      <a:tailEnd type="none" w="med" len="med"/>
                    </a:lnT>
                    <a:lnB w="0" cap="flat" cmpd="sng" algn="ctr">
                      <a:noFill/>
                    </a:lnB>
                    <a:solidFill>
                      <a:srgbClr val="003087"/>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Iterations</a:t>
                      </a:r>
                      <a:endParaRPr lang="en-US" sz="1100" dirty="0">
                        <a:latin typeface="Arial" charset="0"/>
                        <a:ea typeface="Arial" charset="0"/>
                        <a:cs typeface="Arial" charset="0"/>
                      </a:endParaRPr>
                    </a:p>
                  </a:txBody>
                  <a:tcPr marL="88900" marR="88900" marT="88900" marB="88900" anchor="ctr">
                    <a:lnL w="0" cap="flat" cmpd="sng" algn="ctr">
                      <a:noFill/>
                    </a:lnL>
                    <a:lnR w="0" cap="flat" cmpd="sng" algn="ctr">
                      <a:noFill/>
                    </a:lnR>
                    <a:lnT w="6350" cap="flat" cmpd="sng" algn="ctr">
                      <a:solidFill>
                        <a:srgbClr val="DDE3EF"/>
                      </a:solidFill>
                      <a:prstDash val="solid"/>
                      <a:round/>
                      <a:headEnd type="none" w="med" len="med"/>
                      <a:tailEnd type="none" w="med" len="med"/>
                    </a:lnT>
                    <a:lnB w="0" cap="flat" cmpd="sng" algn="ctr">
                      <a:noFill/>
                    </a:lnB>
                    <a:solidFill>
                      <a:srgbClr val="003087"/>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‖r‖₂</a:t>
                      </a:r>
                      <a:endParaRPr lang="en-US" sz="1100" dirty="0">
                        <a:latin typeface="Arial" charset="0"/>
                        <a:ea typeface="Arial" charset="0"/>
                        <a:cs typeface="Arial" charset="0"/>
                      </a:endParaRPr>
                    </a:p>
                  </a:txBody>
                  <a:tcPr marL="88900" marR="88900" marT="88900" marB="88900" anchor="ctr">
                    <a:lnL w="0" cap="flat" cmpd="sng" algn="ctr">
                      <a:noFill/>
                    </a:lnL>
                    <a:lnR w="0" cap="flat" cmpd="sng" algn="ctr">
                      <a:noFill/>
                    </a:lnR>
                    <a:lnT w="6350" cap="flat" cmpd="sng" algn="ctr">
                      <a:solidFill>
                        <a:srgbClr val="DDE3EF"/>
                      </a:solidFill>
                      <a:prstDash val="solid"/>
                      <a:round/>
                      <a:headEnd type="none" w="med" len="med"/>
                      <a:tailEnd type="none" w="med" len="med"/>
                    </a:lnT>
                    <a:lnB w="0" cap="flat" cmpd="sng" algn="ctr">
                      <a:noFill/>
                    </a:lnB>
                    <a:solidFill>
                      <a:srgbClr val="003087"/>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Relative Residual</a:t>
                      </a:r>
                      <a:endParaRPr lang="en-US" sz="1100" dirty="0">
                        <a:latin typeface="Arial" charset="0"/>
                        <a:ea typeface="Arial" charset="0"/>
                        <a:cs typeface="Arial" charset="0"/>
                      </a:endParaRPr>
                    </a:p>
                  </a:txBody>
                  <a:tcPr marL="88900" marR="88900" marT="88900" marB="88900" anchor="ctr">
                    <a:lnL w="0" cap="flat" cmpd="sng" algn="ctr">
                      <a:noFill/>
                    </a:lnL>
                    <a:lnR w="0" cap="flat" cmpd="sng" algn="ctr">
                      <a:noFill/>
                    </a:lnR>
                    <a:lnT w="6350" cap="flat" cmpd="sng" algn="ctr">
                      <a:solidFill>
                        <a:srgbClr val="DDE3EF"/>
                      </a:solidFill>
                      <a:prstDash val="solid"/>
                      <a:round/>
                      <a:headEnd type="none" w="med" len="med"/>
                      <a:tailEnd type="none" w="med" len="med"/>
                    </a:lnT>
                    <a:lnB w="0" cap="flat" cmpd="sng" algn="ctr">
                      <a:noFill/>
                    </a:lnB>
                    <a:solidFill>
                      <a:srgbClr val="003087"/>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Absolute Error</a:t>
                      </a:r>
                      <a:endParaRPr lang="en-US" sz="1100" dirty="0">
                        <a:latin typeface="Arial" charset="0"/>
                        <a:ea typeface="Arial" charset="0"/>
                        <a:cs typeface="Arial" charset="0"/>
                      </a:endParaRPr>
                    </a:p>
                  </a:txBody>
                  <a:tcPr marL="88900" marR="88900" marT="88900" marB="88900" anchor="ctr">
                    <a:lnL w="0" cap="flat" cmpd="sng" algn="ctr">
                      <a:noFill/>
                    </a:lnL>
                    <a:lnR w="0" cap="flat" cmpd="sng" algn="ctr">
                      <a:noFill/>
                    </a:lnR>
                    <a:lnT w="6350" cap="flat" cmpd="sng" algn="ctr">
                      <a:solidFill>
                        <a:srgbClr val="DDE3EF"/>
                      </a:solidFill>
                      <a:prstDash val="solid"/>
                      <a:round/>
                      <a:headEnd type="none" w="med" len="med"/>
                      <a:tailEnd type="none" w="med" len="med"/>
                    </a:lnT>
                    <a:lnB w="0" cap="flat" cmpd="sng" algn="ctr">
                      <a:noFill/>
                    </a:lnB>
                    <a:solidFill>
                      <a:srgbClr val="003087"/>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CPU (s)</a:t>
                      </a:r>
                      <a:endParaRPr lang="en-US" sz="1100" dirty="0">
                        <a:latin typeface="Arial" charset="0"/>
                        <a:ea typeface="Arial" charset="0"/>
                        <a:cs typeface="Arial" charset="0"/>
                      </a:endParaRPr>
                    </a:p>
                  </a:txBody>
                  <a:tcPr marL="88900" marR="88900" marT="88900" marB="88900" anchor="ctr">
                    <a:lnL w="0" cap="flat" cmpd="sng" algn="ctr">
                      <a:noFill/>
                    </a:lnL>
                    <a:lnR w="0" cap="flat" cmpd="sng" algn="ctr">
                      <a:noFill/>
                    </a:lnR>
                    <a:lnT w="6350" cap="flat" cmpd="sng" algn="ctr">
                      <a:solidFill>
                        <a:srgbClr val="DDE3EF"/>
                      </a:solidFill>
                      <a:prstDash val="solid"/>
                      <a:round/>
                      <a:headEnd type="none" w="med" len="med"/>
                      <a:tailEnd type="none" w="med" len="med"/>
                    </a:lnT>
                    <a:lnB w="0" cap="flat" cmpd="sng" algn="ctr">
                      <a:noFill/>
                    </a:lnB>
                    <a:solidFill>
                      <a:srgbClr val="003087"/>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Converged?</a:t>
                      </a:r>
                      <a:endParaRPr lang="en-US" sz="1100" dirty="0">
                        <a:latin typeface="Arial" charset="0"/>
                        <a:ea typeface="Arial" charset="0"/>
                        <a:cs typeface="Arial" charset="0"/>
                      </a:endParaRPr>
                    </a:p>
                  </a:txBody>
                  <a:tcPr marL="88900" marR="88900" marT="88900" marB="88900" anchor="ctr">
                    <a:lnL w="0" cap="flat" cmpd="sng" algn="ctr">
                      <a:noFill/>
                    </a:lnL>
                    <a:lnR w="0" cap="flat" cmpd="sng" algn="ctr">
                      <a:noFill/>
                    </a:lnR>
                    <a:lnT w="6350" cap="flat" cmpd="sng" algn="ctr">
                      <a:solidFill>
                        <a:srgbClr val="DDE3EF"/>
                      </a:solidFill>
                      <a:prstDash val="solid"/>
                      <a:round/>
                      <a:headEnd type="none" w="med" len="med"/>
                      <a:tailEnd type="none" w="med" len="med"/>
                    </a:lnT>
                    <a:lnB w="0" cap="flat" cmpd="sng" algn="ctr">
                      <a:noFill/>
                    </a:lnB>
                    <a:solidFill>
                      <a:srgbClr val="003087"/>
                    </a:solidFill>
                  </a:tcPr>
                </a:tc>
                <a:extLst>
                  <a:ext uri="{0D108BD9-81ED-4DB2-BD59-A6C34878D82A}">
                    <a16:rowId xmlns:a16="http://schemas.microsoft.com/office/drawing/2014/main" val="10000"/>
                  </a:ext>
                </a:extLst>
              </a:tr>
              <a:tr h="466344">
                <a:tc>
                  <a:txBody>
                    <a:bodyPr/>
                    <a:lstStyle/>
                    <a:p>
                      <a:pPr marL="0" indent="0" algn="ctr">
                        <a:buNone/>
                      </a:pPr>
                      <a:r>
                        <a:rPr lang="en-US" sz="1100" dirty="0">
                          <a:solidFill>
                            <a:srgbClr val="1A1A2E"/>
                          </a:solidFill>
                          <a:latin typeface="Arial" pitchFamily="34" charset="0"/>
                          <a:ea typeface="Arial" pitchFamily="34" charset="-122"/>
                          <a:cs typeface="Arial" pitchFamily="34" charset="-120"/>
                        </a:rPr>
                        <a:t>CG</a:t>
                      </a:r>
                      <a:endParaRPr lang="en-US" sz="1100" dirty="0">
                        <a:latin typeface="Arial" charset="0"/>
                        <a:ea typeface="Arial" charset="0"/>
                        <a:cs typeface="Arial" charset="0"/>
                      </a:endParaRPr>
                    </a:p>
                  </a:txBody>
                  <a:tcPr marL="88900" marR="88900" marT="88900" marB="889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100" dirty="0">
                          <a:solidFill>
                            <a:srgbClr val="1A1A2E"/>
                          </a:solidFill>
                          <a:latin typeface="Arial" pitchFamily="34" charset="0"/>
                          <a:ea typeface="Arial" pitchFamily="34" charset="-122"/>
                          <a:cs typeface="Arial" pitchFamily="34" charset="-120"/>
                        </a:rPr>
                        <a:t>11</a:t>
                      </a:r>
                      <a:endParaRPr lang="en-US" sz="1100" dirty="0">
                        <a:latin typeface="Arial" charset="0"/>
                        <a:ea typeface="Arial" charset="0"/>
                        <a:cs typeface="Arial" charset="0"/>
                      </a:endParaRPr>
                    </a:p>
                  </a:txBody>
                  <a:tcPr marL="88900" marR="88900" marT="88900" marB="889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100" dirty="0">
                          <a:solidFill>
                            <a:srgbClr val="1A1A2E"/>
                          </a:solidFill>
                          <a:latin typeface="Arial" pitchFamily="34" charset="0"/>
                          <a:ea typeface="Arial" pitchFamily="34" charset="-122"/>
                          <a:cs typeface="Arial" pitchFamily="34" charset="-120"/>
                        </a:rPr>
                        <a:t>3.09e-07</a:t>
                      </a:r>
                      <a:endParaRPr lang="en-US" sz="1100" dirty="0">
                        <a:latin typeface="Arial" charset="0"/>
                        <a:ea typeface="Arial" charset="0"/>
                        <a:cs typeface="Arial" charset="0"/>
                      </a:endParaRPr>
                    </a:p>
                  </a:txBody>
                  <a:tcPr marL="88900" marR="88900" marT="88900" marB="889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100" dirty="0">
                          <a:solidFill>
                            <a:srgbClr val="1A1A2E"/>
                          </a:solidFill>
                          <a:latin typeface="Arial" pitchFamily="34" charset="0"/>
                          <a:ea typeface="Arial" pitchFamily="34" charset="-122"/>
                          <a:cs typeface="Arial" pitchFamily="34" charset="-120"/>
                        </a:rPr>
                        <a:t>4.60e-09</a:t>
                      </a:r>
                      <a:endParaRPr lang="en-US" sz="1100" dirty="0">
                        <a:latin typeface="Arial" charset="0"/>
                        <a:ea typeface="Arial" charset="0"/>
                        <a:cs typeface="Arial" charset="0"/>
                      </a:endParaRPr>
                    </a:p>
                  </a:txBody>
                  <a:tcPr marL="88900" marR="88900" marT="88900" marB="889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100" dirty="0">
                          <a:solidFill>
                            <a:srgbClr val="1A1A2E"/>
                          </a:solidFill>
                          <a:latin typeface="Arial" pitchFamily="34" charset="0"/>
                          <a:ea typeface="Arial" pitchFamily="34" charset="-122"/>
                          <a:cs typeface="Arial" pitchFamily="34" charset="-120"/>
                        </a:rPr>
                        <a:t>7.04e-08</a:t>
                      </a:r>
                      <a:endParaRPr lang="en-US" sz="1100" dirty="0">
                        <a:latin typeface="Arial" charset="0"/>
                        <a:ea typeface="Arial" charset="0"/>
                        <a:cs typeface="Arial" charset="0"/>
                      </a:endParaRPr>
                    </a:p>
                  </a:txBody>
                  <a:tcPr marL="88900" marR="88900" marT="88900" marB="889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100" dirty="0">
                          <a:solidFill>
                            <a:srgbClr val="1A1A2E"/>
                          </a:solidFill>
                          <a:latin typeface="Arial" pitchFamily="34" charset="0"/>
                          <a:ea typeface="Arial" pitchFamily="34" charset="-122"/>
                          <a:cs typeface="Arial" pitchFamily="34" charset="-120"/>
                        </a:rPr>
                        <a:t>0.031</a:t>
                      </a:r>
                      <a:endParaRPr lang="en-US" sz="1100" dirty="0">
                        <a:latin typeface="Arial" charset="0"/>
                        <a:ea typeface="Arial" charset="0"/>
                        <a:cs typeface="Arial" charset="0"/>
                      </a:endParaRPr>
                    </a:p>
                  </a:txBody>
                  <a:tcPr marL="88900" marR="88900" marT="88900" marB="889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100" b="1" dirty="0">
                          <a:solidFill>
                            <a:srgbClr val="1B6B3A"/>
                          </a:solidFill>
                          <a:latin typeface="Arial" pitchFamily="34" charset="0"/>
                          <a:ea typeface="Arial" pitchFamily="34" charset="-122"/>
                          <a:cs typeface="Arial" pitchFamily="34" charset="-120"/>
                        </a:rPr>
                        <a:t>✓  Yes</a:t>
                      </a:r>
                      <a:endParaRPr lang="en-US" sz="1100" dirty="0">
                        <a:latin typeface="Arial" charset="0"/>
                        <a:ea typeface="Arial" charset="0"/>
                        <a:cs typeface="Arial" charset="0"/>
                      </a:endParaRPr>
                    </a:p>
                  </a:txBody>
                  <a:tcPr marL="88900" marR="88900" marT="88900" marB="889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1"/>
                  </a:ext>
                </a:extLst>
              </a:tr>
              <a:tr h="466344">
                <a:tc>
                  <a:txBody>
                    <a:bodyPr/>
                    <a:lstStyle/>
                    <a:p>
                      <a:pPr marL="0" indent="0" algn="ctr">
                        <a:buNone/>
                      </a:pPr>
                      <a:r>
                        <a:rPr lang="en-US" sz="1100" dirty="0">
                          <a:solidFill>
                            <a:srgbClr val="1A1A2E"/>
                          </a:solidFill>
                          <a:latin typeface="Arial" pitchFamily="34" charset="0"/>
                          <a:ea typeface="Arial" pitchFamily="34" charset="-122"/>
                          <a:cs typeface="Arial" pitchFamily="34" charset="-120"/>
                        </a:rPr>
                        <a:t>PCG (IC)</a:t>
                      </a:r>
                      <a:endParaRPr lang="en-US" sz="1100" dirty="0">
                        <a:latin typeface="Arial" charset="0"/>
                        <a:ea typeface="Arial" charset="0"/>
                        <a:cs typeface="Arial" charset="0"/>
                      </a:endParaRPr>
                    </a:p>
                  </a:txBody>
                  <a:tcPr marL="88900" marR="88900" marT="88900" marB="889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100" dirty="0">
                          <a:solidFill>
                            <a:srgbClr val="1A1A2E"/>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88900" marR="88900" marT="88900" marB="889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100" dirty="0">
                          <a:solidFill>
                            <a:srgbClr val="1A1A2E"/>
                          </a:solidFill>
                          <a:latin typeface="Arial" pitchFamily="34" charset="0"/>
                          <a:ea typeface="Arial" pitchFamily="34" charset="-122"/>
                          <a:cs typeface="Arial" pitchFamily="34" charset="-120"/>
                        </a:rPr>
                        <a:t>1.15e-14</a:t>
                      </a:r>
                      <a:endParaRPr lang="en-US" sz="1100" dirty="0">
                        <a:latin typeface="Arial" charset="0"/>
                        <a:ea typeface="Arial" charset="0"/>
                        <a:cs typeface="Arial" charset="0"/>
                      </a:endParaRPr>
                    </a:p>
                  </a:txBody>
                  <a:tcPr marL="88900" marR="88900" marT="88900" marB="889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100" dirty="0">
                          <a:solidFill>
                            <a:srgbClr val="1A1A2E"/>
                          </a:solidFill>
                          <a:latin typeface="Arial" pitchFamily="34" charset="0"/>
                          <a:ea typeface="Arial" pitchFamily="34" charset="-122"/>
                          <a:cs typeface="Arial" pitchFamily="34" charset="-120"/>
                        </a:rPr>
                        <a:t>1.71e-16</a:t>
                      </a:r>
                      <a:endParaRPr lang="en-US" sz="1100" dirty="0">
                        <a:latin typeface="Arial" charset="0"/>
                        <a:ea typeface="Arial" charset="0"/>
                        <a:cs typeface="Arial" charset="0"/>
                      </a:endParaRPr>
                    </a:p>
                  </a:txBody>
                  <a:tcPr marL="88900" marR="88900" marT="88900" marB="889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100" dirty="0">
                          <a:solidFill>
                            <a:srgbClr val="1A1A2E"/>
                          </a:solidFill>
                          <a:latin typeface="Arial" pitchFamily="34" charset="0"/>
                          <a:ea typeface="Arial" pitchFamily="34" charset="-122"/>
                          <a:cs typeface="Arial" pitchFamily="34" charset="-120"/>
                        </a:rPr>
                        <a:t>1.88e-15</a:t>
                      </a:r>
                      <a:endParaRPr lang="en-US" sz="1100" dirty="0">
                        <a:latin typeface="Arial" charset="0"/>
                        <a:ea typeface="Arial" charset="0"/>
                        <a:cs typeface="Arial" charset="0"/>
                      </a:endParaRPr>
                    </a:p>
                  </a:txBody>
                  <a:tcPr marL="88900" marR="88900" marT="88900" marB="889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100" dirty="0">
                          <a:solidFill>
                            <a:srgbClr val="1A1A2E"/>
                          </a:solidFill>
                          <a:latin typeface="Arial" pitchFamily="34" charset="0"/>
                          <a:ea typeface="Arial" pitchFamily="34" charset="-122"/>
                          <a:cs typeface="Arial" pitchFamily="34" charset="-120"/>
                        </a:rPr>
                        <a:t>0.009</a:t>
                      </a:r>
                      <a:endParaRPr lang="en-US" sz="1100" dirty="0">
                        <a:latin typeface="Arial" charset="0"/>
                        <a:ea typeface="Arial" charset="0"/>
                        <a:cs typeface="Arial" charset="0"/>
                      </a:endParaRPr>
                    </a:p>
                  </a:txBody>
                  <a:tcPr marL="88900" marR="88900" marT="88900" marB="889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100" b="1" dirty="0">
                          <a:solidFill>
                            <a:srgbClr val="1B6B3A"/>
                          </a:solidFill>
                          <a:latin typeface="Arial" pitchFamily="34" charset="0"/>
                          <a:ea typeface="Arial" pitchFamily="34" charset="-122"/>
                          <a:cs typeface="Arial" pitchFamily="34" charset="-120"/>
                        </a:rPr>
                        <a:t>✓  Yes</a:t>
                      </a:r>
                      <a:endParaRPr lang="en-US" sz="1100" dirty="0">
                        <a:latin typeface="Arial" charset="0"/>
                        <a:ea typeface="Arial" charset="0"/>
                        <a:cs typeface="Arial" charset="0"/>
                      </a:endParaRPr>
                    </a:p>
                  </a:txBody>
                  <a:tcPr marL="88900" marR="88900" marT="88900" marB="889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2"/>
                  </a:ext>
                </a:extLst>
              </a:tr>
            </a:tbl>
          </a:graphicData>
        </a:graphic>
      </p:graphicFrame>
      <p:sp>
        <p:nvSpPr>
          <p:cNvPr id="9" name="Shape 6"/>
          <p:cNvSpPr/>
          <p:nvPr/>
        </p:nvSpPr>
        <p:spPr>
          <a:xfrm>
            <a:off x="320040" y="2450592"/>
            <a:ext cx="4096512" cy="2029968"/>
          </a:xfrm>
          <a:prstGeom prst="roundRect">
            <a:avLst>
              <a:gd name="adj" fmla="val 2703"/>
            </a:avLst>
          </a:prstGeom>
          <a:solidFill>
            <a:srgbClr val="F4F6FA"/>
          </a:solidFill>
          <a:ln w="12700">
            <a:solidFill>
              <a:srgbClr val="DDE3EF"/>
            </a:solidFill>
            <a:prstDash val="solid"/>
          </a:ln>
        </p:spPr>
        <p:txBody>
          <a:bodyPr/>
          <a:lstStyle/>
          <a:p>
            <a:endParaRPr lang="en-NG"/>
          </a:p>
        </p:txBody>
      </p:sp>
      <p:sp>
        <p:nvSpPr>
          <p:cNvPr id="10" name="Text 7"/>
          <p:cNvSpPr/>
          <p:nvPr/>
        </p:nvSpPr>
        <p:spPr>
          <a:xfrm>
            <a:off x="429768" y="2496312"/>
            <a:ext cx="3877056" cy="274320"/>
          </a:xfrm>
          <a:prstGeom prst="rect">
            <a:avLst/>
          </a:prstGeom>
          <a:noFill/>
          <a:ln/>
        </p:spPr>
        <p:txBody>
          <a:bodyPr wrap="square" lIns="63500" tIns="63500" rIns="63500" bIns="63500" rtlCol="0" anchor="t"/>
          <a:lstStyle/>
          <a:p>
            <a:pPr marL="0" indent="0" algn="l">
              <a:buNone/>
            </a:pPr>
            <a:r>
              <a:rPr lang="en-US" sz="1150" b="1" dirty="0">
                <a:solidFill>
                  <a:srgbClr val="003087"/>
                </a:solidFill>
                <a:latin typeface="Cambria" pitchFamily="34" charset="0"/>
                <a:ea typeface="Cambria" pitchFamily="34" charset="-122"/>
                <a:cs typeface="Cambria" pitchFamily="34" charset="-120"/>
              </a:rPr>
              <a:t>CG: 11 iterations — correct for this structure</a:t>
            </a:r>
            <a:endParaRPr lang="en-US" sz="1150" dirty="0"/>
          </a:p>
        </p:txBody>
      </p:sp>
      <p:sp>
        <p:nvSpPr>
          <p:cNvPr id="11" name="Text 8"/>
          <p:cNvSpPr/>
          <p:nvPr/>
        </p:nvSpPr>
        <p:spPr>
          <a:xfrm>
            <a:off x="429768" y="2798064"/>
            <a:ext cx="3877056" cy="1627632"/>
          </a:xfrm>
          <a:prstGeom prst="rect">
            <a:avLst/>
          </a:prstGeom>
          <a:noFill/>
          <a:ln/>
        </p:spPr>
        <p:txBody>
          <a:bodyPr wrap="square" lIns="63500" tIns="63500" rIns="63500" bIns="63500" rtlCol="0" anchor="t"/>
          <a:lstStyle/>
          <a:p>
            <a:pPr marL="0" indent="0" algn="l">
              <a:buNone/>
            </a:pPr>
            <a:r>
              <a:rPr lang="en-US" sz="1050" dirty="0">
                <a:solidFill>
                  <a:srgbClr val="1A1A2E"/>
                </a:solidFill>
                <a:latin typeface="Arial" pitchFamily="34" charset="0"/>
                <a:ea typeface="Arial" pitchFamily="34" charset="-122"/>
                <a:cs typeface="Arial" pitchFamily="34" charset="-120"/>
              </a:rPr>
              <a:t>The tridiagonal Poisson matrix has a moderate condition number. 11 iterations is consistent with the convergence bound for this eigenvalue distribution.</a:t>
            </a:r>
            <a:endParaRPr lang="en-US" sz="1050" dirty="0"/>
          </a:p>
          <a:p>
            <a:pPr marL="0" indent="0" algn="l">
              <a:buNone/>
            </a:pPr>
            <a:endParaRPr lang="en-US" sz="1050" dirty="0"/>
          </a:p>
          <a:p>
            <a:pPr marL="0" indent="0" algn="l">
              <a:buNone/>
            </a:pPr>
            <a:r>
              <a:rPr lang="en-US" sz="1050" dirty="0">
                <a:solidFill>
                  <a:srgbClr val="1A1A2E"/>
                </a:solidFill>
                <a:latin typeface="Arial" pitchFamily="34" charset="0"/>
                <a:ea typeface="Arial" pitchFamily="34" charset="-122"/>
                <a:cs typeface="Arial" pitchFamily="34" charset="-120"/>
              </a:rPr>
              <a:t>Note: CG requires 11 iterations vs 7 for the random test matrices. This reflects the difference in condition number between the structured Poisson matrix and the artificially well-conditioned RᵀR+nI matrices.</a:t>
            </a:r>
            <a:endParaRPr lang="en-US" sz="1050" dirty="0"/>
          </a:p>
        </p:txBody>
      </p:sp>
      <p:sp>
        <p:nvSpPr>
          <p:cNvPr id="12" name="Shape 9"/>
          <p:cNvSpPr/>
          <p:nvPr/>
        </p:nvSpPr>
        <p:spPr>
          <a:xfrm>
            <a:off x="4727448" y="2450592"/>
            <a:ext cx="4096512" cy="2029968"/>
          </a:xfrm>
          <a:prstGeom prst="roundRect">
            <a:avLst>
              <a:gd name="adj" fmla="val 2703"/>
            </a:avLst>
          </a:prstGeom>
          <a:solidFill>
            <a:srgbClr val="F0FAF4"/>
          </a:solidFill>
          <a:ln w="19050">
            <a:solidFill>
              <a:srgbClr val="1B6B3A"/>
            </a:solidFill>
            <a:prstDash val="solid"/>
          </a:ln>
        </p:spPr>
        <p:txBody>
          <a:bodyPr/>
          <a:lstStyle/>
          <a:p>
            <a:endParaRPr lang="en-NG"/>
          </a:p>
        </p:txBody>
      </p:sp>
      <p:sp>
        <p:nvSpPr>
          <p:cNvPr id="13" name="Text 10"/>
          <p:cNvSpPr/>
          <p:nvPr/>
        </p:nvSpPr>
        <p:spPr>
          <a:xfrm>
            <a:off x="4837176" y="2496312"/>
            <a:ext cx="3877056" cy="274320"/>
          </a:xfrm>
          <a:prstGeom prst="rect">
            <a:avLst/>
          </a:prstGeom>
          <a:noFill/>
          <a:ln/>
        </p:spPr>
        <p:txBody>
          <a:bodyPr wrap="square" lIns="63500" tIns="63500" rIns="63500" bIns="63500" rtlCol="0" anchor="t"/>
          <a:lstStyle/>
          <a:p>
            <a:pPr marL="0" indent="0" algn="l">
              <a:buNone/>
            </a:pPr>
            <a:r>
              <a:rPr lang="en-US" sz="1150" b="1" dirty="0">
                <a:solidFill>
                  <a:srgbClr val="1B6B3A"/>
                </a:solidFill>
                <a:latin typeface="Cambria" pitchFamily="34" charset="0"/>
                <a:ea typeface="Cambria" pitchFamily="34" charset="-122"/>
                <a:cs typeface="Cambria" pitchFamily="34" charset="-120"/>
              </a:rPr>
              <a:t>PCG: 1 iteration = near-exact preconditioning</a:t>
            </a:r>
            <a:endParaRPr lang="en-US" sz="1150" dirty="0"/>
          </a:p>
        </p:txBody>
      </p:sp>
      <p:sp>
        <p:nvSpPr>
          <p:cNvPr id="14" name="Text 11"/>
          <p:cNvSpPr/>
          <p:nvPr/>
        </p:nvSpPr>
        <p:spPr>
          <a:xfrm>
            <a:off x="4837176" y="2798064"/>
            <a:ext cx="3877056" cy="1627632"/>
          </a:xfrm>
          <a:prstGeom prst="rect">
            <a:avLst/>
          </a:prstGeom>
          <a:noFill/>
          <a:ln/>
        </p:spPr>
        <p:txBody>
          <a:bodyPr wrap="square" lIns="63500" tIns="63500" rIns="63500" bIns="63500" rtlCol="0" anchor="t"/>
          <a:lstStyle/>
          <a:p>
            <a:pPr marL="0" indent="0" algn="l">
              <a:buNone/>
            </a:pPr>
            <a:r>
              <a:rPr lang="en-US" sz="1050" dirty="0">
                <a:solidFill>
                  <a:srgbClr val="1A1A2E"/>
                </a:solidFill>
                <a:latin typeface="Arial" pitchFamily="34" charset="0"/>
                <a:ea typeface="Arial" pitchFamily="34" charset="-122"/>
                <a:cs typeface="Arial" pitchFamily="34" charset="-120"/>
              </a:rPr>
              <a:t>The tridiagonal structure means the Cholesky factor L is bidiagonal. When ichol performs the Cholesky algorithm on a tridiagonal matrix, there is no fill-in to drop — L̃ = L exactly.</a:t>
            </a:r>
            <a:endParaRPr lang="en-US" sz="1050" dirty="0"/>
          </a:p>
          <a:p>
            <a:pPr marL="0" indent="0" algn="l">
              <a:buNone/>
            </a:pPr>
            <a:endParaRPr lang="en-US" sz="1050" dirty="0"/>
          </a:p>
          <a:p>
            <a:pPr marL="0" indent="0" algn="l">
              <a:buNone/>
            </a:pPr>
            <a:r>
              <a:rPr lang="en-US" sz="1050" dirty="0">
                <a:solidFill>
                  <a:srgbClr val="1A1A2E"/>
                </a:solidFill>
                <a:latin typeface="Arial" pitchFamily="34" charset="0"/>
                <a:ea typeface="Arial" pitchFamily="34" charset="-122"/>
                <a:cs typeface="Arial" pitchFamily="34" charset="-120"/>
              </a:rPr>
              <a:t>Therefore M = L̃L̃ᵀ = A exactly, giving κ(M⁻¹A) = 1. One CG step suffices.</a:t>
            </a:r>
            <a:endParaRPr lang="en-US" sz="1050" dirty="0"/>
          </a:p>
          <a:p>
            <a:pPr marL="0" indent="0" algn="l">
              <a:buNone/>
            </a:pPr>
            <a:endParaRPr lang="en-US" sz="1050" dirty="0"/>
          </a:p>
          <a:p>
            <a:pPr marL="0" indent="0" algn="l">
              <a:buNone/>
            </a:pPr>
            <a:r>
              <a:rPr lang="en-US" sz="1050" dirty="0">
                <a:solidFill>
                  <a:srgbClr val="1A1A2E"/>
                </a:solidFill>
                <a:latin typeface="Arial" pitchFamily="34" charset="0"/>
                <a:ea typeface="Arial" pitchFamily="34" charset="-122"/>
                <a:cs typeface="Arial" pitchFamily="34" charset="-120"/>
              </a:rPr>
              <a:t>This is the maximum possible benefit of preconditioning.</a:t>
            </a:r>
            <a:endParaRPr lang="en-US" sz="1050" dirty="0"/>
          </a:p>
        </p:txBody>
      </p:sp>
      <p:sp>
        <p:nvSpPr>
          <p:cNvPr id="15" name="Shape 12"/>
          <p:cNvSpPr/>
          <p:nvPr/>
        </p:nvSpPr>
        <p:spPr>
          <a:xfrm>
            <a:off x="320040" y="4553712"/>
            <a:ext cx="8503920" cy="534924"/>
          </a:xfrm>
          <a:prstGeom prst="roundRect">
            <a:avLst>
              <a:gd name="adj" fmla="val 15789"/>
            </a:avLst>
          </a:prstGeom>
          <a:solidFill>
            <a:srgbClr val="EBF0FA"/>
          </a:solidFill>
          <a:ln w="12700">
            <a:solidFill>
              <a:srgbClr val="003087"/>
            </a:solidFill>
            <a:prstDash val="solid"/>
          </a:ln>
        </p:spPr>
        <p:txBody>
          <a:bodyPr/>
          <a:lstStyle/>
          <a:p>
            <a:endParaRPr lang="en-NG"/>
          </a:p>
        </p:txBody>
      </p:sp>
      <p:sp>
        <p:nvSpPr>
          <p:cNvPr id="16" name="Text 13"/>
          <p:cNvSpPr/>
          <p:nvPr/>
        </p:nvSpPr>
        <p:spPr>
          <a:xfrm>
            <a:off x="457200" y="4590288"/>
            <a:ext cx="8229600" cy="274320"/>
          </a:xfrm>
          <a:prstGeom prst="rect">
            <a:avLst/>
          </a:prstGeom>
          <a:noFill/>
          <a:ln/>
        </p:spPr>
        <p:txBody>
          <a:bodyPr wrap="square" lIns="50800" tIns="50800" rIns="50800" bIns="50800" rtlCol="0" anchor="t"/>
          <a:lstStyle/>
          <a:p>
            <a:pPr marL="0" indent="0" algn="l">
              <a:buNone/>
            </a:pPr>
            <a:r>
              <a:rPr lang="en-US" sz="1050" dirty="0">
                <a:solidFill>
                  <a:srgbClr val="003087"/>
                </a:solidFill>
                <a:latin typeface="Arial" pitchFamily="34" charset="0"/>
                <a:ea typeface="Arial" pitchFamily="34" charset="-122"/>
                <a:cs typeface="Arial" pitchFamily="34" charset="-120"/>
              </a:rPr>
              <a:t>Observation: PCG CPU (0.009s) is faster than CG CPU (0.031s) here because the iteration saving (10 iterations) outweighs the triangular solve cost.</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3087"/>
          </a:solidFill>
          <a:ln w="12700">
            <a:solidFill>
              <a:srgbClr val="003087"/>
            </a:solidFill>
            <a:prstDash val="solid"/>
          </a:ln>
        </p:spPr>
        <p:txBody>
          <a:bodyPr/>
          <a:lstStyle/>
          <a:p>
            <a:endParaRPr lang="en-NG"/>
          </a:p>
        </p:txBody>
      </p:sp>
      <p:sp>
        <p:nvSpPr>
          <p:cNvPr id="3" name="Text 1"/>
          <p:cNvSpPr/>
          <p:nvPr/>
        </p:nvSpPr>
        <p:spPr>
          <a:xfrm>
            <a:off x="320040" y="54864"/>
            <a:ext cx="7589520" cy="530352"/>
          </a:xfrm>
          <a:prstGeom prst="rect">
            <a:avLst/>
          </a:prstGeom>
          <a:noFill/>
          <a:ln/>
        </p:spPr>
        <p:txBody>
          <a:bodyPr wrap="square" lIns="50800" tIns="50800" rIns="50800" bIns="50800" rtlCol="0" anchor="ctr"/>
          <a:lstStyle/>
          <a:p>
            <a:pPr marL="0" indent="0" algn="l">
              <a:buNone/>
            </a:pPr>
            <a:r>
              <a:rPr lang="en-US" sz="1900" b="1" dirty="0">
                <a:solidFill>
                  <a:srgbClr val="FFFFFF"/>
                </a:solidFill>
                <a:latin typeface="Cambria" pitchFamily="34" charset="0"/>
                <a:ea typeface="Cambria" pitchFamily="34" charset="-122"/>
                <a:cs typeface="Cambria" pitchFamily="34" charset="-120"/>
              </a:rPr>
              <a:t>17.  Results — Matrix Market gr30×30 (n = 900)</a:t>
            </a:r>
            <a:endParaRPr lang="en-US" sz="1900" dirty="0"/>
          </a:p>
        </p:txBody>
      </p:sp>
      <p:sp>
        <p:nvSpPr>
          <p:cNvPr id="4" name="Text 2"/>
          <p:cNvSpPr/>
          <p:nvPr/>
        </p:nvSpPr>
        <p:spPr>
          <a:xfrm>
            <a:off x="8138160" y="54864"/>
            <a:ext cx="640080" cy="530352"/>
          </a:xfrm>
          <a:prstGeom prst="rect">
            <a:avLst/>
          </a:prstGeom>
          <a:noFill/>
          <a:ln/>
        </p:spPr>
        <p:txBody>
          <a:bodyPr wrap="square" lIns="25400" tIns="25400" rIns="25400" bIns="25400" rtlCol="0" anchor="ctr"/>
          <a:lstStyle/>
          <a:p>
            <a:pPr marL="0" indent="0" algn="r">
              <a:buNone/>
            </a:pPr>
            <a:r>
              <a:rPr lang="en-US" sz="1000" dirty="0">
                <a:solidFill>
                  <a:srgbClr val="AAC0E8"/>
                </a:solidFill>
                <a:latin typeface="Arial" pitchFamily="34" charset="0"/>
                <a:ea typeface="Arial" pitchFamily="34" charset="-122"/>
                <a:cs typeface="Arial" pitchFamily="34" charset="-120"/>
              </a:rPr>
              <a:t>17 / 20</a:t>
            </a:r>
            <a:endParaRPr lang="en-US" sz="1000" dirty="0"/>
          </a:p>
        </p:txBody>
      </p:sp>
      <p:sp>
        <p:nvSpPr>
          <p:cNvPr id="5" name="Shape 3"/>
          <p:cNvSpPr/>
          <p:nvPr/>
        </p:nvSpPr>
        <p:spPr>
          <a:xfrm>
            <a:off x="0" y="640080"/>
            <a:ext cx="9144000" cy="45720"/>
          </a:xfrm>
          <a:prstGeom prst="rect">
            <a:avLst/>
          </a:prstGeom>
          <a:solidFill>
            <a:srgbClr val="C8102E"/>
          </a:solidFill>
          <a:ln w="12700">
            <a:solidFill>
              <a:srgbClr val="C8102E"/>
            </a:solidFill>
            <a:prstDash val="solid"/>
          </a:ln>
        </p:spPr>
        <p:txBody>
          <a:bodyPr/>
          <a:lstStyle/>
          <a:p>
            <a:endParaRPr lang="en-NG"/>
          </a:p>
        </p:txBody>
      </p:sp>
      <p:sp>
        <p:nvSpPr>
          <p:cNvPr id="6" name="Text 4"/>
          <p:cNvSpPr/>
          <p:nvPr/>
        </p:nvSpPr>
        <p:spPr>
          <a:xfrm>
            <a:off x="320040" y="749808"/>
            <a:ext cx="8503920" cy="320040"/>
          </a:xfrm>
          <a:prstGeom prst="rect">
            <a:avLst/>
          </a:prstGeom>
          <a:noFill/>
          <a:ln/>
        </p:spPr>
        <p:txBody>
          <a:bodyPr wrap="square" lIns="25400" tIns="25400" rIns="25400" bIns="25400" rtlCol="0" anchor="t"/>
          <a:lstStyle/>
          <a:p>
            <a:pPr marL="0" indent="0" algn="l">
              <a:buNone/>
            </a:pPr>
            <a:r>
              <a:rPr lang="en-US" sz="1100" dirty="0">
                <a:solidFill>
                  <a:srgbClr val="1A1A2E"/>
                </a:solidFill>
                <a:latin typeface="Arial" pitchFamily="34" charset="0"/>
                <a:ea typeface="Arial" pitchFamily="34" charset="-122"/>
                <a:cs typeface="Arial" pitchFamily="34" charset="-120"/>
              </a:rPr>
              <a:t>Real sparse SPD matrix from NIST Matrix Market. Source: 2D finite difference discretisation on a 30×30 grid. Downloaded as gr30x30.mtx, loaded via mmread().</a:t>
            </a:r>
            <a:endParaRPr lang="en-US" sz="1100" dirty="0"/>
          </a:p>
        </p:txBody>
      </p:sp>
      <p:sp>
        <p:nvSpPr>
          <p:cNvPr id="7" name="Text 5"/>
          <p:cNvSpPr/>
          <p:nvPr/>
        </p:nvSpPr>
        <p:spPr>
          <a:xfrm>
            <a:off x="320040" y="1115568"/>
            <a:ext cx="8503920" cy="256032"/>
          </a:xfrm>
          <a:prstGeom prst="rect">
            <a:avLst/>
          </a:prstGeom>
          <a:noFill/>
          <a:ln/>
        </p:spPr>
        <p:txBody>
          <a:bodyPr wrap="square" lIns="25400" tIns="25400" rIns="25400" bIns="25400" rtlCol="0" anchor="t"/>
          <a:lstStyle/>
          <a:p>
            <a:pPr marL="0" indent="0" algn="l">
              <a:buNone/>
            </a:pPr>
            <a:r>
              <a:rPr lang="en-US" sz="1200" b="1" dirty="0">
                <a:solidFill>
                  <a:srgbClr val="003087"/>
                </a:solidFill>
                <a:latin typeface="Cambria" pitchFamily="34" charset="0"/>
                <a:ea typeface="Cambria" pitchFamily="34" charset="-122"/>
                <a:cs typeface="Cambria" pitchFamily="34" charset="-120"/>
              </a:rPr>
              <a:t>Table 4: CG vs PCG on gr30×30 Matrix Market matrix, n = 900, nnz = 7744</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4168000874"/>
              </p:ext>
            </p:extLst>
          </p:nvPr>
        </p:nvGraphicFramePr>
        <p:xfrm>
          <a:off x="320040" y="1389889"/>
          <a:ext cx="8503920" cy="1234440"/>
        </p:xfrm>
        <a:graphic>
          <a:graphicData uri="http://schemas.openxmlformats.org/drawingml/2006/table">
            <a:tbl>
              <a:tblPr/>
              <a:tblGrid>
                <a:gridCol w="10972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gridCol w="1188720">
                  <a:extLst>
                    <a:ext uri="{9D8B030D-6E8A-4147-A177-3AD203B41FA5}">
                      <a16:colId xmlns:a16="http://schemas.microsoft.com/office/drawing/2014/main" val="20006"/>
                    </a:ext>
                  </a:extLst>
                </a:gridCol>
              </a:tblGrid>
              <a:tr h="411480">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Method</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solidFill>
                        <a:srgbClr val="DDE3EF"/>
                      </a:solidFill>
                      <a:prstDash val="solid"/>
                      <a:round/>
                      <a:headEnd type="none" w="med" len="med"/>
                      <a:tailEnd type="none" w="med" len="med"/>
                    </a:lnT>
                    <a:lnB w="0" cap="flat" cmpd="sng" algn="ctr">
                      <a:noFill/>
                    </a:lnB>
                    <a:solidFill>
                      <a:srgbClr val="003087"/>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Iterations</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solidFill>
                        <a:srgbClr val="DDE3EF"/>
                      </a:solidFill>
                      <a:prstDash val="solid"/>
                      <a:round/>
                      <a:headEnd type="none" w="med" len="med"/>
                      <a:tailEnd type="none" w="med" len="med"/>
                    </a:lnT>
                    <a:lnB w="0" cap="flat" cmpd="sng" algn="ctr">
                      <a:noFill/>
                    </a:lnB>
                    <a:solidFill>
                      <a:srgbClr val="003087"/>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‖r‖₂</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solidFill>
                        <a:srgbClr val="DDE3EF"/>
                      </a:solidFill>
                      <a:prstDash val="solid"/>
                      <a:round/>
                      <a:headEnd type="none" w="med" len="med"/>
                      <a:tailEnd type="none" w="med" len="med"/>
                    </a:lnT>
                    <a:lnB w="0" cap="flat" cmpd="sng" algn="ctr">
                      <a:noFill/>
                    </a:lnB>
                    <a:solidFill>
                      <a:srgbClr val="003087"/>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Relative Residual</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solidFill>
                        <a:srgbClr val="DDE3EF"/>
                      </a:solidFill>
                      <a:prstDash val="solid"/>
                      <a:round/>
                      <a:headEnd type="none" w="med" len="med"/>
                      <a:tailEnd type="none" w="med" len="med"/>
                    </a:lnT>
                    <a:lnB w="0" cap="flat" cmpd="sng" algn="ctr">
                      <a:noFill/>
                    </a:lnB>
                    <a:solidFill>
                      <a:srgbClr val="003087"/>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Absolute Error</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solidFill>
                        <a:srgbClr val="DDE3EF"/>
                      </a:solidFill>
                      <a:prstDash val="solid"/>
                      <a:round/>
                      <a:headEnd type="none" w="med" len="med"/>
                      <a:tailEnd type="none" w="med" len="med"/>
                    </a:lnT>
                    <a:lnB w="0" cap="flat" cmpd="sng" algn="ctr">
                      <a:noFill/>
                    </a:lnB>
                    <a:solidFill>
                      <a:srgbClr val="003087"/>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CPU (s)</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solidFill>
                        <a:srgbClr val="DDE3EF"/>
                      </a:solidFill>
                      <a:prstDash val="solid"/>
                      <a:round/>
                      <a:headEnd type="none" w="med" len="med"/>
                      <a:tailEnd type="none" w="med" len="med"/>
                    </a:lnT>
                    <a:lnB w="0" cap="flat" cmpd="sng" algn="ctr">
                      <a:noFill/>
                    </a:lnB>
                    <a:solidFill>
                      <a:srgbClr val="003087"/>
                    </a:solidFill>
                  </a:tcPr>
                </a:tc>
                <a:tc>
                  <a:txBody>
                    <a:bodyPr/>
                    <a:lstStyle/>
                    <a:p>
                      <a:pPr marL="0" indent="0" algn="ctr">
                        <a:buNone/>
                      </a:pPr>
                      <a:r>
                        <a:rPr lang="en-US" sz="1200" b="1" dirty="0">
                          <a:solidFill>
                            <a:srgbClr val="FFFFFF"/>
                          </a:solidFill>
                          <a:latin typeface="Arial" pitchFamily="34" charset="0"/>
                          <a:ea typeface="Arial" pitchFamily="34" charset="-122"/>
                          <a:cs typeface="Arial" pitchFamily="34" charset="-120"/>
                        </a:rPr>
                        <a:t>Converged?</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solidFill>
                        <a:srgbClr val="DDE3EF"/>
                      </a:solidFill>
                      <a:prstDash val="solid"/>
                      <a:round/>
                      <a:headEnd type="none" w="med" len="med"/>
                      <a:tailEnd type="none" w="med" len="med"/>
                    </a:lnT>
                    <a:lnB w="0" cap="flat" cmpd="sng" algn="ctr">
                      <a:noFill/>
                    </a:lnB>
                    <a:solidFill>
                      <a:srgbClr val="003087"/>
                    </a:solidFill>
                  </a:tcPr>
                </a:tc>
                <a:extLst>
                  <a:ext uri="{0D108BD9-81ED-4DB2-BD59-A6C34878D82A}">
                    <a16:rowId xmlns:a16="http://schemas.microsoft.com/office/drawing/2014/main" val="10000"/>
                  </a:ext>
                </a:extLst>
              </a:tr>
              <a:tr h="411480">
                <a:tc>
                  <a:txBody>
                    <a:bodyPr/>
                    <a:lstStyle/>
                    <a:p>
                      <a:pPr marL="0" indent="0" algn="ctr">
                        <a:buNone/>
                      </a:pPr>
                      <a:r>
                        <a:rPr lang="en-US" sz="1200" b="1" dirty="0">
                          <a:solidFill>
                            <a:srgbClr val="C8102E"/>
                          </a:solidFill>
                          <a:latin typeface="Arial" pitchFamily="34" charset="0"/>
                          <a:ea typeface="Arial" pitchFamily="34" charset="-122"/>
                          <a:cs typeface="Arial" pitchFamily="34" charset="-120"/>
                        </a:rPr>
                        <a:t>CG</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200" dirty="0">
                          <a:solidFill>
                            <a:srgbClr val="1A1A2E"/>
                          </a:solidFill>
                          <a:latin typeface="Arial" pitchFamily="34" charset="0"/>
                          <a:ea typeface="Arial" pitchFamily="34" charset="-122"/>
                          <a:cs typeface="Arial" pitchFamily="34" charset="-120"/>
                        </a:rPr>
                        <a:t>41</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200" dirty="0">
                          <a:solidFill>
                            <a:srgbClr val="1A1A2E"/>
                          </a:solidFill>
                          <a:latin typeface="Arial" pitchFamily="34" charset="0"/>
                          <a:ea typeface="Arial" pitchFamily="34" charset="-122"/>
                          <a:cs typeface="Arial" pitchFamily="34" charset="-120"/>
                        </a:rPr>
                        <a:t>2.38e-07</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200" dirty="0">
                          <a:solidFill>
                            <a:srgbClr val="1A1A2E"/>
                          </a:solidFill>
                          <a:latin typeface="Arial" pitchFamily="34" charset="0"/>
                          <a:ea typeface="Arial" pitchFamily="34" charset="-122"/>
                          <a:cs typeface="Arial" pitchFamily="34" charset="-120"/>
                        </a:rPr>
                        <a:t>7.14e-09</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200" dirty="0">
                          <a:solidFill>
                            <a:srgbClr val="1A1A2E"/>
                          </a:solidFill>
                          <a:latin typeface="Arial" pitchFamily="34" charset="0"/>
                          <a:ea typeface="Arial" pitchFamily="34" charset="-122"/>
                          <a:cs typeface="Arial" pitchFamily="34" charset="-120"/>
                        </a:rPr>
                        <a:t>5.10e-08</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200" dirty="0">
                          <a:solidFill>
                            <a:srgbClr val="1A1A2E"/>
                          </a:solidFill>
                          <a:latin typeface="Arial" pitchFamily="34" charset="0"/>
                          <a:ea typeface="Arial" pitchFamily="34" charset="-122"/>
                          <a:cs typeface="Arial" pitchFamily="34" charset="-120"/>
                        </a:rPr>
                        <a:t>0.0071</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200" b="1" dirty="0">
                          <a:solidFill>
                            <a:srgbClr val="1B6B3A"/>
                          </a:solidFill>
                          <a:latin typeface="Arial" pitchFamily="34" charset="0"/>
                          <a:ea typeface="Arial" pitchFamily="34" charset="-122"/>
                          <a:cs typeface="Arial" pitchFamily="34" charset="-120"/>
                        </a:rPr>
                        <a:t>✓  Yes</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1"/>
                  </a:ext>
                </a:extLst>
              </a:tr>
              <a:tr h="411480">
                <a:tc>
                  <a:txBody>
                    <a:bodyPr/>
                    <a:lstStyle/>
                    <a:p>
                      <a:pPr marL="0" indent="0" algn="ctr">
                        <a:buNone/>
                      </a:pPr>
                      <a:r>
                        <a:rPr lang="en-US" sz="1200" b="1" dirty="0">
                          <a:solidFill>
                            <a:srgbClr val="1B6B3A"/>
                          </a:solidFill>
                          <a:latin typeface="Arial" pitchFamily="34" charset="0"/>
                          <a:ea typeface="Arial" pitchFamily="34" charset="-122"/>
                          <a:cs typeface="Arial" pitchFamily="34" charset="-120"/>
                        </a:rPr>
                        <a:t>PCG (IC)</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200" dirty="0">
                          <a:solidFill>
                            <a:srgbClr val="1A1A2E"/>
                          </a:solidFill>
                          <a:latin typeface="Arial" pitchFamily="34" charset="0"/>
                          <a:ea typeface="Arial" pitchFamily="34" charset="-122"/>
                          <a:cs typeface="Arial" pitchFamily="34" charset="-120"/>
                        </a:rPr>
                        <a:t>22</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200" dirty="0">
                          <a:solidFill>
                            <a:srgbClr val="1A1A2E"/>
                          </a:solidFill>
                          <a:latin typeface="Arial" pitchFamily="34" charset="0"/>
                          <a:ea typeface="Arial" pitchFamily="34" charset="-122"/>
                          <a:cs typeface="Arial" pitchFamily="34" charset="-120"/>
                        </a:rPr>
                        <a:t>2.24e-07</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200" dirty="0">
                          <a:solidFill>
                            <a:srgbClr val="1A1A2E"/>
                          </a:solidFill>
                          <a:latin typeface="Arial" pitchFamily="34" charset="0"/>
                          <a:ea typeface="Arial" pitchFamily="34" charset="-122"/>
                          <a:cs typeface="Arial" pitchFamily="34" charset="-120"/>
                        </a:rPr>
                        <a:t>6.72e-09</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200" dirty="0">
                          <a:solidFill>
                            <a:srgbClr val="1A1A2E"/>
                          </a:solidFill>
                          <a:latin typeface="Arial" pitchFamily="34" charset="0"/>
                          <a:ea typeface="Arial" pitchFamily="34" charset="-122"/>
                          <a:cs typeface="Arial" pitchFamily="34" charset="-120"/>
                        </a:rPr>
                        <a:t>4.85e-07</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200" dirty="0">
                          <a:solidFill>
                            <a:srgbClr val="1A1A2E"/>
                          </a:solidFill>
                          <a:latin typeface="Arial" pitchFamily="34" charset="0"/>
                          <a:ea typeface="Arial" pitchFamily="34" charset="-122"/>
                          <a:cs typeface="Arial" pitchFamily="34" charset="-120"/>
                        </a:rPr>
                        <a:t>0.0089</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200" b="1" dirty="0">
                          <a:solidFill>
                            <a:srgbClr val="1B6B3A"/>
                          </a:solidFill>
                          <a:latin typeface="Arial" pitchFamily="34" charset="0"/>
                          <a:ea typeface="Arial" pitchFamily="34" charset="-122"/>
                          <a:cs typeface="Arial" pitchFamily="34" charset="-120"/>
                        </a:rPr>
                        <a:t>✓  Yes</a:t>
                      </a:r>
                      <a:endParaRPr lang="en-US" sz="1200" dirty="0">
                        <a:latin typeface="Arial" charset="0"/>
                        <a:ea typeface="Arial" charset="0"/>
                        <a:cs typeface="Arial" charset="0"/>
                      </a:endParaRPr>
                    </a:p>
                  </a:txBody>
                  <a:tcPr marL="101600" marR="101600" marT="101600" marB="1016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2"/>
                  </a:ext>
                </a:extLst>
              </a:tr>
            </a:tbl>
          </a:graphicData>
        </a:graphic>
      </p:graphicFrame>
      <p:sp>
        <p:nvSpPr>
          <p:cNvPr id="9" name="Shape 6"/>
          <p:cNvSpPr/>
          <p:nvPr/>
        </p:nvSpPr>
        <p:spPr>
          <a:xfrm>
            <a:off x="320040" y="2926080"/>
            <a:ext cx="2743200" cy="1920240"/>
          </a:xfrm>
          <a:prstGeom prst="roundRect">
            <a:avLst>
              <a:gd name="adj" fmla="val 2857"/>
            </a:avLst>
          </a:prstGeom>
          <a:solidFill>
            <a:srgbClr val="EBF0FA"/>
          </a:solidFill>
          <a:ln w="19050">
            <a:solidFill>
              <a:srgbClr val="003087"/>
            </a:solidFill>
            <a:prstDash val="solid"/>
          </a:ln>
        </p:spPr>
        <p:txBody>
          <a:bodyPr/>
          <a:lstStyle/>
          <a:p>
            <a:endParaRPr lang="en-NG"/>
          </a:p>
        </p:txBody>
      </p:sp>
      <p:sp>
        <p:nvSpPr>
          <p:cNvPr id="10" name="Text 7"/>
          <p:cNvSpPr/>
          <p:nvPr/>
        </p:nvSpPr>
        <p:spPr>
          <a:xfrm>
            <a:off x="457200" y="3294952"/>
            <a:ext cx="2468880" cy="685800"/>
          </a:xfrm>
          <a:prstGeom prst="rect">
            <a:avLst/>
          </a:prstGeom>
          <a:noFill/>
          <a:ln/>
        </p:spPr>
        <p:txBody>
          <a:bodyPr wrap="square" lIns="0" tIns="0" rIns="0" bIns="0" rtlCol="0" anchor="ctr"/>
          <a:lstStyle/>
          <a:p>
            <a:pPr marL="0" indent="0" algn="ctr">
              <a:buNone/>
            </a:pPr>
            <a:r>
              <a:rPr lang="en-US" sz="4800" b="1" dirty="0">
                <a:solidFill>
                  <a:srgbClr val="003087"/>
                </a:solidFill>
                <a:latin typeface="Cambria" pitchFamily="34" charset="0"/>
                <a:ea typeface="Cambria" pitchFamily="34" charset="-122"/>
                <a:cs typeface="Cambria" pitchFamily="34" charset="-120"/>
              </a:rPr>
              <a:t>46%</a:t>
            </a:r>
            <a:endParaRPr lang="en-US" sz="4800" dirty="0"/>
          </a:p>
        </p:txBody>
      </p:sp>
      <p:sp>
        <p:nvSpPr>
          <p:cNvPr id="11" name="Text 8"/>
          <p:cNvSpPr/>
          <p:nvPr/>
        </p:nvSpPr>
        <p:spPr>
          <a:xfrm>
            <a:off x="429768" y="4035810"/>
            <a:ext cx="2468880" cy="292608"/>
          </a:xfrm>
          <a:prstGeom prst="rect">
            <a:avLst/>
          </a:prstGeom>
          <a:noFill/>
          <a:ln/>
        </p:spPr>
        <p:txBody>
          <a:bodyPr wrap="square" lIns="0" tIns="0" rIns="0" bIns="0" rtlCol="0" anchor="t"/>
          <a:lstStyle/>
          <a:p>
            <a:pPr marL="0" indent="0" algn="ctr">
              <a:buNone/>
            </a:pPr>
            <a:r>
              <a:rPr lang="en-US" sz="1200" b="1" dirty="0">
                <a:solidFill>
                  <a:srgbClr val="003087"/>
                </a:solidFill>
                <a:latin typeface="Arial" pitchFamily="34" charset="0"/>
                <a:ea typeface="Arial" pitchFamily="34" charset="-122"/>
                <a:cs typeface="Arial" pitchFamily="34" charset="-120"/>
              </a:rPr>
              <a:t>fewer iterations with PCG</a:t>
            </a:r>
            <a:endParaRPr lang="en-US" sz="1200" dirty="0"/>
          </a:p>
        </p:txBody>
      </p:sp>
      <p:sp>
        <p:nvSpPr>
          <p:cNvPr id="12" name="Text 9"/>
          <p:cNvSpPr/>
          <p:nvPr/>
        </p:nvSpPr>
        <p:spPr>
          <a:xfrm>
            <a:off x="457200" y="4349625"/>
            <a:ext cx="2468880" cy="475488"/>
          </a:xfrm>
          <a:prstGeom prst="rect">
            <a:avLst/>
          </a:prstGeom>
          <a:noFill/>
          <a:ln/>
        </p:spPr>
        <p:txBody>
          <a:bodyPr wrap="square" lIns="25400" tIns="25400" rIns="25400" bIns="25400" rtlCol="0" anchor="t"/>
          <a:lstStyle/>
          <a:p>
            <a:pPr marL="0" indent="0" algn="ctr">
              <a:buNone/>
            </a:pPr>
            <a:r>
              <a:rPr lang="en-US" sz="1000" dirty="0">
                <a:solidFill>
                  <a:srgbClr val="6B7C99"/>
                </a:solidFill>
                <a:latin typeface="Arial" pitchFamily="34" charset="0"/>
                <a:ea typeface="Arial" pitchFamily="34" charset="-122"/>
                <a:cs typeface="Arial" pitchFamily="34" charset="-120"/>
              </a:rPr>
              <a:t>(22 vs 41 — a reduction of approximately 46%)</a:t>
            </a:r>
            <a:endParaRPr lang="en-US" sz="1000" dirty="0"/>
          </a:p>
        </p:txBody>
      </p:sp>
      <p:sp>
        <p:nvSpPr>
          <p:cNvPr id="13" name="Shape 10"/>
          <p:cNvSpPr/>
          <p:nvPr/>
        </p:nvSpPr>
        <p:spPr>
          <a:xfrm>
            <a:off x="3246120" y="2898648"/>
            <a:ext cx="5577840" cy="2036908"/>
          </a:xfrm>
          <a:prstGeom prst="roundRect">
            <a:avLst>
              <a:gd name="adj" fmla="val 2857"/>
            </a:avLst>
          </a:prstGeom>
          <a:solidFill>
            <a:srgbClr val="FFF5F5"/>
          </a:solidFill>
          <a:ln w="15240">
            <a:solidFill>
              <a:srgbClr val="C8102E"/>
            </a:solidFill>
            <a:prstDash val="solid"/>
          </a:ln>
        </p:spPr>
        <p:txBody>
          <a:bodyPr/>
          <a:lstStyle/>
          <a:p>
            <a:endParaRPr lang="en-NG"/>
          </a:p>
        </p:txBody>
      </p:sp>
      <p:sp>
        <p:nvSpPr>
          <p:cNvPr id="14" name="Text 11"/>
          <p:cNvSpPr/>
          <p:nvPr/>
        </p:nvSpPr>
        <p:spPr>
          <a:xfrm>
            <a:off x="3355848" y="2624328"/>
            <a:ext cx="5358384" cy="274320"/>
          </a:xfrm>
          <a:prstGeom prst="rect">
            <a:avLst/>
          </a:prstGeom>
          <a:noFill/>
          <a:ln/>
        </p:spPr>
        <p:txBody>
          <a:bodyPr wrap="square" lIns="63500" tIns="63500" rIns="63500" bIns="63500" rtlCol="0" anchor="t"/>
          <a:lstStyle/>
          <a:p>
            <a:pPr marL="0" indent="0" algn="l">
              <a:buNone/>
            </a:pPr>
            <a:r>
              <a:rPr lang="en-US" sz="1200" b="1" dirty="0">
                <a:solidFill>
                  <a:srgbClr val="C8102E"/>
                </a:solidFill>
                <a:latin typeface="Cambria" pitchFamily="34" charset="0"/>
                <a:ea typeface="Cambria" pitchFamily="34" charset="-122"/>
                <a:cs typeface="Cambria" pitchFamily="34" charset="-120"/>
              </a:rPr>
              <a:t>The CPU Time Paradox — Analytically Explained</a:t>
            </a:r>
            <a:endParaRPr lang="en-US" sz="1200" dirty="0"/>
          </a:p>
        </p:txBody>
      </p:sp>
      <p:sp>
        <p:nvSpPr>
          <p:cNvPr id="15" name="Text 12"/>
          <p:cNvSpPr/>
          <p:nvPr/>
        </p:nvSpPr>
        <p:spPr>
          <a:xfrm>
            <a:off x="3355848" y="2926079"/>
            <a:ext cx="5358384" cy="1899033"/>
          </a:xfrm>
          <a:prstGeom prst="rect">
            <a:avLst/>
          </a:prstGeom>
          <a:noFill/>
          <a:ln/>
        </p:spPr>
        <p:txBody>
          <a:bodyPr wrap="square" lIns="63500" tIns="63500" rIns="63500" bIns="63500" rtlCol="0" anchor="t"/>
          <a:lstStyle/>
          <a:p>
            <a:pPr marL="0" indent="0" algn="l">
              <a:buNone/>
            </a:pPr>
            <a:r>
              <a:rPr lang="en-US" sz="1050" dirty="0">
                <a:solidFill>
                  <a:srgbClr val="1A1A2E"/>
                </a:solidFill>
                <a:latin typeface="Arial" pitchFamily="34" charset="0"/>
                <a:ea typeface="Arial" pitchFamily="34" charset="-122"/>
                <a:cs typeface="Arial" pitchFamily="34" charset="-120"/>
              </a:rPr>
              <a:t>PCG: 0.0089s  vs  CG: 0.0071s  —  PCG was marginally SLOWER despite 46% fewer iterations.</a:t>
            </a:r>
            <a:endParaRPr lang="en-US" sz="1050" dirty="0"/>
          </a:p>
          <a:p>
            <a:pPr marL="0" indent="0" algn="l">
              <a:buNone/>
            </a:pPr>
            <a:endParaRPr lang="en-US" sz="1050" dirty="0"/>
          </a:p>
          <a:p>
            <a:pPr marL="0" indent="0" algn="l">
              <a:buNone/>
            </a:pPr>
            <a:r>
              <a:rPr lang="en-US" sz="1050" dirty="0">
                <a:solidFill>
                  <a:srgbClr val="1A1A2E"/>
                </a:solidFill>
                <a:latin typeface="Arial" pitchFamily="34" charset="0"/>
                <a:ea typeface="Arial" pitchFamily="34" charset="-122"/>
                <a:cs typeface="Arial" pitchFamily="34" charset="-120"/>
              </a:rPr>
              <a:t>Why: Each PCG iteration adds 2 triangular solves (L̃ and L̃ᵀ) on top of the matrix-vector product. At n=900 with nnz=7744, the triangular solve cost is comparable to the mat-vec cost. Saving 19 iterations does not fully compensate.</a:t>
            </a:r>
            <a:endParaRPr lang="en-US" sz="1050" dirty="0"/>
          </a:p>
          <a:p>
            <a:pPr marL="0" indent="0" algn="l">
              <a:buNone/>
            </a:pPr>
            <a:endParaRPr lang="en-US" sz="1050" dirty="0"/>
          </a:p>
          <a:p>
            <a:pPr marL="0" indent="0" algn="l">
              <a:buNone/>
            </a:pPr>
            <a:r>
              <a:rPr lang="en-US" sz="1050" dirty="0">
                <a:solidFill>
                  <a:srgbClr val="1A1A2E"/>
                </a:solidFill>
                <a:latin typeface="Arial" pitchFamily="34" charset="0"/>
                <a:ea typeface="Arial" pitchFamily="34" charset="-122"/>
                <a:cs typeface="Arial" pitchFamily="34" charset="-120"/>
              </a:rPr>
              <a:t>At n ≥ 10⁵: the matrix-vector product O(nnz) dominates all other costs. A 46% reduction in mat-vec products gives ≈46% less total time. PCG wins decisively.</a:t>
            </a:r>
            <a:endParaRPr lang="en-US" sz="1050" dirty="0"/>
          </a:p>
          <a:p>
            <a:pPr marL="0" indent="0" algn="l">
              <a:buNone/>
            </a:pPr>
            <a:endParaRPr lang="en-US" sz="1050" dirty="0"/>
          </a:p>
          <a:p>
            <a:pPr marL="0" indent="0" algn="l">
              <a:buNone/>
            </a:pPr>
            <a:r>
              <a:rPr lang="en-US" sz="1050" dirty="0">
                <a:solidFill>
                  <a:srgbClr val="1A1A2E"/>
                </a:solidFill>
                <a:latin typeface="Arial" pitchFamily="34" charset="0"/>
                <a:ea typeface="Arial" pitchFamily="34" charset="-122"/>
                <a:cs typeface="Arial" pitchFamily="34" charset="-120"/>
              </a:rPr>
              <a:t>Conclusion: the decision to precondition must consider BOTH κ(A) AND problem scale, not iteration count alone.</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3087"/>
          </a:solidFill>
          <a:ln w="12700">
            <a:solidFill>
              <a:srgbClr val="003087"/>
            </a:solidFill>
            <a:prstDash val="solid"/>
          </a:ln>
        </p:spPr>
        <p:txBody>
          <a:bodyPr/>
          <a:lstStyle/>
          <a:p>
            <a:endParaRPr lang="en-NG"/>
          </a:p>
        </p:txBody>
      </p:sp>
      <p:sp>
        <p:nvSpPr>
          <p:cNvPr id="3" name="Text 1"/>
          <p:cNvSpPr/>
          <p:nvPr/>
        </p:nvSpPr>
        <p:spPr>
          <a:xfrm>
            <a:off x="320040" y="54864"/>
            <a:ext cx="7589520" cy="530352"/>
          </a:xfrm>
          <a:prstGeom prst="rect">
            <a:avLst/>
          </a:prstGeom>
          <a:noFill/>
          <a:ln/>
        </p:spPr>
        <p:txBody>
          <a:bodyPr wrap="square" lIns="50800" tIns="50800" rIns="50800" bIns="50800" rtlCol="0" anchor="ctr"/>
          <a:lstStyle/>
          <a:p>
            <a:pPr marL="0" indent="0" algn="l">
              <a:buNone/>
            </a:pPr>
            <a:r>
              <a:rPr lang="en-US" sz="1900" b="1" dirty="0">
                <a:solidFill>
                  <a:srgbClr val="FFFFFF"/>
                </a:solidFill>
                <a:latin typeface="Cambria" pitchFamily="34" charset="0"/>
                <a:ea typeface="Cambria" pitchFamily="34" charset="-122"/>
                <a:cs typeface="Cambria" pitchFamily="34" charset="-120"/>
              </a:rPr>
              <a:t>18.  Convergence Comparison — CG vs PCG on Sparse Matrix</a:t>
            </a:r>
            <a:endParaRPr lang="en-US" sz="1900" dirty="0"/>
          </a:p>
        </p:txBody>
      </p:sp>
      <p:sp>
        <p:nvSpPr>
          <p:cNvPr id="4" name="Text 2"/>
          <p:cNvSpPr/>
          <p:nvPr/>
        </p:nvSpPr>
        <p:spPr>
          <a:xfrm>
            <a:off x="8138160" y="54864"/>
            <a:ext cx="640080" cy="530352"/>
          </a:xfrm>
          <a:prstGeom prst="rect">
            <a:avLst/>
          </a:prstGeom>
          <a:noFill/>
          <a:ln/>
        </p:spPr>
        <p:txBody>
          <a:bodyPr wrap="square" lIns="25400" tIns="25400" rIns="25400" bIns="25400" rtlCol="0" anchor="ctr"/>
          <a:lstStyle/>
          <a:p>
            <a:pPr marL="0" indent="0" algn="r">
              <a:buNone/>
            </a:pPr>
            <a:r>
              <a:rPr lang="en-US" sz="1000" dirty="0">
                <a:solidFill>
                  <a:srgbClr val="AAC0E8"/>
                </a:solidFill>
                <a:latin typeface="Arial" pitchFamily="34" charset="0"/>
                <a:ea typeface="Arial" pitchFamily="34" charset="-122"/>
                <a:cs typeface="Arial" pitchFamily="34" charset="-120"/>
              </a:rPr>
              <a:t>18 / 20</a:t>
            </a:r>
            <a:endParaRPr lang="en-US" sz="1000" dirty="0"/>
          </a:p>
        </p:txBody>
      </p:sp>
      <p:sp>
        <p:nvSpPr>
          <p:cNvPr id="5" name="Shape 3"/>
          <p:cNvSpPr/>
          <p:nvPr/>
        </p:nvSpPr>
        <p:spPr>
          <a:xfrm>
            <a:off x="0" y="640080"/>
            <a:ext cx="9144000" cy="45720"/>
          </a:xfrm>
          <a:prstGeom prst="rect">
            <a:avLst/>
          </a:prstGeom>
          <a:solidFill>
            <a:srgbClr val="C8102E"/>
          </a:solidFill>
          <a:ln w="12700">
            <a:solidFill>
              <a:srgbClr val="C8102E"/>
            </a:solidFill>
            <a:prstDash val="solid"/>
          </a:ln>
        </p:spPr>
        <p:txBody>
          <a:bodyPr/>
          <a:lstStyle/>
          <a:p>
            <a:endParaRPr lang="en-NG"/>
          </a:p>
        </p:txBody>
      </p:sp>
      <p:sp>
        <p:nvSpPr>
          <p:cNvPr id="6" name="Text 4"/>
          <p:cNvSpPr/>
          <p:nvPr/>
        </p:nvSpPr>
        <p:spPr>
          <a:xfrm>
            <a:off x="320040" y="749808"/>
            <a:ext cx="8503920" cy="320040"/>
          </a:xfrm>
          <a:prstGeom prst="rect">
            <a:avLst/>
          </a:prstGeom>
          <a:noFill/>
          <a:ln/>
        </p:spPr>
        <p:txBody>
          <a:bodyPr wrap="square" lIns="25400" tIns="25400" rIns="25400" bIns="25400" rtlCol="0" anchor="t"/>
          <a:lstStyle/>
          <a:p>
            <a:pPr marL="0" indent="0" algn="l">
              <a:buNone/>
            </a:pPr>
            <a:r>
              <a:rPr lang="en-US" sz="1100" dirty="0">
                <a:solidFill>
                  <a:srgbClr val="1A1A2E"/>
                </a:solidFill>
                <a:latin typeface="Arial" pitchFamily="34" charset="0"/>
                <a:ea typeface="Arial" pitchFamily="34" charset="-122"/>
                <a:cs typeface="Arial" pitchFamily="34" charset="-120"/>
              </a:rPr>
              <a:t>Convergence history on a 2D Poisson-type sparse matrix (n=200). Both curves show relative residual ‖r_k‖/‖b‖ on logarithmic scale vs iteration k.</a:t>
            </a:r>
            <a:endParaRPr lang="en-US" sz="1100" dirty="0"/>
          </a:p>
        </p:txBody>
      </p:sp>
      <p:sp>
        <p:nvSpPr>
          <p:cNvPr id="7" name="Shape 5"/>
          <p:cNvSpPr/>
          <p:nvPr/>
        </p:nvSpPr>
        <p:spPr>
          <a:xfrm>
            <a:off x="320040" y="1115568"/>
            <a:ext cx="8503920" cy="2907792"/>
          </a:xfrm>
          <a:prstGeom prst="roundRect">
            <a:avLst>
              <a:gd name="adj" fmla="val 1887"/>
            </a:avLst>
          </a:prstGeom>
          <a:solidFill>
            <a:srgbClr val="F4F6FA"/>
          </a:solidFill>
          <a:ln w="12700">
            <a:solidFill>
              <a:srgbClr val="DDE3EF"/>
            </a:solidFill>
            <a:prstDash val="solid"/>
          </a:ln>
        </p:spPr>
        <p:txBody>
          <a:bodyPr/>
          <a:lstStyle/>
          <a:p>
            <a:endParaRPr lang="en-NG"/>
          </a:p>
        </p:txBody>
      </p:sp>
      <p:pic>
        <p:nvPicPr>
          <p:cNvPr id="8" name="Image 0" descr="preencoded.png"/>
          <p:cNvPicPr>
            <a:picLocks noChangeAspect="1"/>
          </p:cNvPicPr>
          <p:nvPr/>
        </p:nvPicPr>
        <p:blipFill>
          <a:blip r:embed="rId3"/>
          <a:srcRect/>
          <a:stretch/>
        </p:blipFill>
        <p:spPr>
          <a:xfrm>
            <a:off x="502920" y="1170432"/>
            <a:ext cx="8138160" cy="2788920"/>
          </a:xfrm>
          <a:prstGeom prst="rect">
            <a:avLst/>
          </a:prstGeom>
        </p:spPr>
      </p:pic>
      <p:sp>
        <p:nvSpPr>
          <p:cNvPr id="9" name="Shape 6"/>
          <p:cNvSpPr/>
          <p:nvPr/>
        </p:nvSpPr>
        <p:spPr>
          <a:xfrm>
            <a:off x="320040" y="4096512"/>
            <a:ext cx="2697480" cy="713232"/>
          </a:xfrm>
          <a:prstGeom prst="roundRect">
            <a:avLst>
              <a:gd name="adj" fmla="val 7692"/>
            </a:avLst>
          </a:prstGeom>
          <a:solidFill>
            <a:srgbClr val="FFFFFF"/>
          </a:solidFill>
          <a:ln w="12700">
            <a:solidFill>
              <a:srgbClr val="DDE3EF"/>
            </a:solidFill>
            <a:prstDash val="solid"/>
          </a:ln>
        </p:spPr>
        <p:txBody>
          <a:bodyPr/>
          <a:lstStyle/>
          <a:p>
            <a:endParaRPr lang="en-NG"/>
          </a:p>
        </p:txBody>
      </p:sp>
      <p:sp>
        <p:nvSpPr>
          <p:cNvPr id="10" name="Text 7"/>
          <p:cNvSpPr/>
          <p:nvPr/>
        </p:nvSpPr>
        <p:spPr>
          <a:xfrm>
            <a:off x="411480" y="4133088"/>
            <a:ext cx="2514600" cy="237744"/>
          </a:xfrm>
          <a:prstGeom prst="rect">
            <a:avLst/>
          </a:prstGeom>
          <a:noFill/>
          <a:ln/>
        </p:spPr>
        <p:txBody>
          <a:bodyPr wrap="square" lIns="63500" tIns="63500" rIns="63500" bIns="63500" rtlCol="0" anchor="t"/>
          <a:lstStyle/>
          <a:p>
            <a:pPr marL="0" indent="0" algn="l">
              <a:buNone/>
            </a:pPr>
            <a:r>
              <a:rPr lang="en-US" sz="1050" b="1" dirty="0">
                <a:solidFill>
                  <a:srgbClr val="003087"/>
                </a:solidFill>
                <a:latin typeface="Cambria" pitchFamily="34" charset="0"/>
                <a:ea typeface="Cambria" pitchFamily="34" charset="-122"/>
                <a:cs typeface="Cambria" pitchFamily="34" charset="-120"/>
              </a:rPr>
              <a:t>PCG (blue solid)</a:t>
            </a:r>
            <a:endParaRPr lang="en-US" sz="1050" dirty="0"/>
          </a:p>
        </p:txBody>
      </p:sp>
      <p:sp>
        <p:nvSpPr>
          <p:cNvPr id="11" name="Text 8"/>
          <p:cNvSpPr/>
          <p:nvPr/>
        </p:nvSpPr>
        <p:spPr>
          <a:xfrm>
            <a:off x="411480" y="4370832"/>
            <a:ext cx="2514600" cy="402336"/>
          </a:xfrm>
          <a:prstGeom prst="rect">
            <a:avLst/>
          </a:prstGeom>
          <a:noFill/>
          <a:ln/>
        </p:spPr>
        <p:txBody>
          <a:bodyPr wrap="square" lIns="63500" tIns="63500" rIns="63500" bIns="63500" rtlCol="0" anchor="t"/>
          <a:lstStyle/>
          <a:p>
            <a:pPr marL="0" indent="0" algn="l">
              <a:buNone/>
            </a:pPr>
            <a:r>
              <a:rPr lang="en-US" sz="950" dirty="0">
                <a:solidFill>
                  <a:srgbClr val="1A1A2E"/>
                </a:solidFill>
                <a:latin typeface="Arial" pitchFamily="34" charset="0"/>
                <a:ea typeface="Arial" pitchFamily="34" charset="-122"/>
                <a:cs typeface="Arial" pitchFamily="34" charset="-120"/>
              </a:rPr>
              <a:t>Reaches tolerance in far fewer iterations. Steep initial drop due to IC preconditioner compressing eigenvalue spectrum.</a:t>
            </a:r>
            <a:endParaRPr lang="en-US" sz="950" dirty="0"/>
          </a:p>
        </p:txBody>
      </p:sp>
      <p:sp>
        <p:nvSpPr>
          <p:cNvPr id="12" name="Shape 9"/>
          <p:cNvSpPr/>
          <p:nvPr/>
        </p:nvSpPr>
        <p:spPr>
          <a:xfrm>
            <a:off x="3172968" y="4096512"/>
            <a:ext cx="2697480" cy="713232"/>
          </a:xfrm>
          <a:prstGeom prst="roundRect">
            <a:avLst>
              <a:gd name="adj" fmla="val 7692"/>
            </a:avLst>
          </a:prstGeom>
          <a:solidFill>
            <a:srgbClr val="FFFFFF"/>
          </a:solidFill>
          <a:ln w="12700">
            <a:solidFill>
              <a:srgbClr val="DDE3EF"/>
            </a:solidFill>
            <a:prstDash val="solid"/>
          </a:ln>
        </p:spPr>
        <p:txBody>
          <a:bodyPr/>
          <a:lstStyle/>
          <a:p>
            <a:endParaRPr lang="en-NG"/>
          </a:p>
        </p:txBody>
      </p:sp>
      <p:sp>
        <p:nvSpPr>
          <p:cNvPr id="13" name="Text 10"/>
          <p:cNvSpPr/>
          <p:nvPr/>
        </p:nvSpPr>
        <p:spPr>
          <a:xfrm>
            <a:off x="3264408" y="4133088"/>
            <a:ext cx="2514600" cy="237744"/>
          </a:xfrm>
          <a:prstGeom prst="rect">
            <a:avLst/>
          </a:prstGeom>
          <a:noFill/>
          <a:ln/>
        </p:spPr>
        <p:txBody>
          <a:bodyPr wrap="square" lIns="63500" tIns="63500" rIns="63500" bIns="63500" rtlCol="0" anchor="t"/>
          <a:lstStyle/>
          <a:p>
            <a:pPr marL="0" indent="0" algn="l">
              <a:buNone/>
            </a:pPr>
            <a:r>
              <a:rPr lang="en-US" sz="1050" b="1" dirty="0">
                <a:solidFill>
                  <a:srgbClr val="C8102E"/>
                </a:solidFill>
                <a:latin typeface="Cambria" pitchFamily="34" charset="0"/>
                <a:ea typeface="Cambria" pitchFamily="34" charset="-122"/>
                <a:cs typeface="Cambria" pitchFamily="34" charset="-120"/>
              </a:rPr>
              <a:t>CG (red dashed)</a:t>
            </a:r>
            <a:endParaRPr lang="en-US" sz="1050" dirty="0"/>
          </a:p>
        </p:txBody>
      </p:sp>
      <p:sp>
        <p:nvSpPr>
          <p:cNvPr id="14" name="Text 11"/>
          <p:cNvSpPr/>
          <p:nvPr/>
        </p:nvSpPr>
        <p:spPr>
          <a:xfrm>
            <a:off x="3264408" y="4370832"/>
            <a:ext cx="2514600" cy="402336"/>
          </a:xfrm>
          <a:prstGeom prst="rect">
            <a:avLst/>
          </a:prstGeom>
          <a:noFill/>
          <a:ln/>
        </p:spPr>
        <p:txBody>
          <a:bodyPr wrap="square" lIns="63500" tIns="63500" rIns="63500" bIns="63500" rtlCol="0" anchor="t"/>
          <a:lstStyle/>
          <a:p>
            <a:pPr marL="0" indent="0" algn="l">
              <a:buNone/>
            </a:pPr>
            <a:r>
              <a:rPr lang="en-US" sz="950" dirty="0">
                <a:solidFill>
                  <a:srgbClr val="1A1A2E"/>
                </a:solidFill>
                <a:latin typeface="Arial" pitchFamily="34" charset="0"/>
                <a:ea typeface="Arial" pitchFamily="34" charset="-122"/>
                <a:cs typeface="Arial" pitchFamily="34" charset="-120"/>
              </a:rPr>
              <a:t>Slower, shallower descent. More iterations needed because κ(A) is larger than κ(M⁻¹A).</a:t>
            </a:r>
            <a:endParaRPr lang="en-US" sz="950" dirty="0"/>
          </a:p>
        </p:txBody>
      </p:sp>
      <p:sp>
        <p:nvSpPr>
          <p:cNvPr id="15" name="Shape 12"/>
          <p:cNvSpPr/>
          <p:nvPr/>
        </p:nvSpPr>
        <p:spPr>
          <a:xfrm>
            <a:off x="6025896" y="4096512"/>
            <a:ext cx="2697480" cy="713232"/>
          </a:xfrm>
          <a:prstGeom prst="roundRect">
            <a:avLst>
              <a:gd name="adj" fmla="val 7692"/>
            </a:avLst>
          </a:prstGeom>
          <a:solidFill>
            <a:srgbClr val="FFFFFF"/>
          </a:solidFill>
          <a:ln w="12700">
            <a:solidFill>
              <a:srgbClr val="DDE3EF"/>
            </a:solidFill>
            <a:prstDash val="solid"/>
          </a:ln>
        </p:spPr>
        <p:txBody>
          <a:bodyPr/>
          <a:lstStyle/>
          <a:p>
            <a:endParaRPr lang="en-NG"/>
          </a:p>
        </p:txBody>
      </p:sp>
      <p:sp>
        <p:nvSpPr>
          <p:cNvPr id="16" name="Text 13"/>
          <p:cNvSpPr/>
          <p:nvPr/>
        </p:nvSpPr>
        <p:spPr>
          <a:xfrm>
            <a:off x="6117336" y="4133088"/>
            <a:ext cx="2514600" cy="237744"/>
          </a:xfrm>
          <a:prstGeom prst="rect">
            <a:avLst/>
          </a:prstGeom>
          <a:noFill/>
          <a:ln/>
        </p:spPr>
        <p:txBody>
          <a:bodyPr wrap="square" lIns="63500" tIns="63500" rIns="63500" bIns="63500" rtlCol="0" anchor="t"/>
          <a:lstStyle/>
          <a:p>
            <a:pPr marL="0" indent="0" algn="l">
              <a:buNone/>
            </a:pPr>
            <a:r>
              <a:rPr lang="en-US" sz="1050" b="1" dirty="0">
                <a:solidFill>
                  <a:srgbClr val="1B6B3A"/>
                </a:solidFill>
                <a:latin typeface="Cambria" pitchFamily="34" charset="0"/>
                <a:ea typeface="Cambria" pitchFamily="34" charset="-122"/>
                <a:cs typeface="Cambria" pitchFamily="34" charset="-120"/>
              </a:rPr>
              <a:t>Interpretation</a:t>
            </a:r>
            <a:endParaRPr lang="en-US" sz="1050" dirty="0"/>
          </a:p>
        </p:txBody>
      </p:sp>
      <p:sp>
        <p:nvSpPr>
          <p:cNvPr id="17" name="Text 14"/>
          <p:cNvSpPr/>
          <p:nvPr/>
        </p:nvSpPr>
        <p:spPr>
          <a:xfrm>
            <a:off x="6117336" y="4370832"/>
            <a:ext cx="2514600" cy="402336"/>
          </a:xfrm>
          <a:prstGeom prst="rect">
            <a:avLst/>
          </a:prstGeom>
          <a:noFill/>
          <a:ln/>
        </p:spPr>
        <p:txBody>
          <a:bodyPr wrap="square" lIns="63500" tIns="63500" rIns="63500" bIns="63500" rtlCol="0" anchor="t"/>
          <a:lstStyle/>
          <a:p>
            <a:pPr marL="0" indent="0" algn="l">
              <a:buNone/>
            </a:pPr>
            <a:r>
              <a:rPr lang="en-US" sz="950" dirty="0">
                <a:solidFill>
                  <a:srgbClr val="1A1A2E"/>
                </a:solidFill>
                <a:latin typeface="Arial" pitchFamily="34" charset="0"/>
                <a:ea typeface="Arial" pitchFamily="34" charset="-122"/>
                <a:cs typeface="Arial" pitchFamily="34" charset="-120"/>
              </a:rPr>
              <a:t>Both curves decrease monotonically. Non-smooth descent reflects varying convergence rate as different eigenvalue clusters are resolved.</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03087"/>
          </a:solidFill>
          <a:ln w="12700">
            <a:solidFill>
              <a:srgbClr val="003087"/>
            </a:solidFill>
            <a:prstDash val="solid"/>
          </a:ln>
        </p:spPr>
        <p:txBody>
          <a:bodyPr/>
          <a:lstStyle/>
          <a:p>
            <a:endParaRPr lang="en-NG"/>
          </a:p>
        </p:txBody>
      </p:sp>
      <p:sp>
        <p:nvSpPr>
          <p:cNvPr id="3" name="Text 1"/>
          <p:cNvSpPr/>
          <p:nvPr/>
        </p:nvSpPr>
        <p:spPr>
          <a:xfrm>
            <a:off x="320040" y="54864"/>
            <a:ext cx="7589520" cy="530352"/>
          </a:xfrm>
          <a:prstGeom prst="rect">
            <a:avLst/>
          </a:prstGeom>
          <a:noFill/>
          <a:ln/>
        </p:spPr>
        <p:txBody>
          <a:bodyPr wrap="square" lIns="50800" tIns="50800" rIns="50800" bIns="50800" rtlCol="0" anchor="ctr"/>
          <a:lstStyle/>
          <a:p>
            <a:pPr marL="0" indent="0" algn="l">
              <a:buNone/>
            </a:pPr>
            <a:r>
              <a:rPr lang="en-US" sz="1900" b="1" dirty="0">
                <a:solidFill>
                  <a:srgbClr val="FFFFFF"/>
                </a:solidFill>
                <a:latin typeface="Cambria" pitchFamily="34" charset="0"/>
                <a:ea typeface="Cambria" pitchFamily="34" charset="-122"/>
                <a:cs typeface="Cambria" pitchFamily="34" charset="-120"/>
              </a:rPr>
              <a:t>19.  CG vs PCG — Full Comparison and Decision Guide</a:t>
            </a:r>
            <a:endParaRPr lang="en-US" sz="1900" dirty="0"/>
          </a:p>
        </p:txBody>
      </p:sp>
      <p:sp>
        <p:nvSpPr>
          <p:cNvPr id="4" name="Text 2"/>
          <p:cNvSpPr/>
          <p:nvPr/>
        </p:nvSpPr>
        <p:spPr>
          <a:xfrm>
            <a:off x="8138160" y="54864"/>
            <a:ext cx="640080" cy="530352"/>
          </a:xfrm>
          <a:prstGeom prst="rect">
            <a:avLst/>
          </a:prstGeom>
          <a:noFill/>
          <a:ln/>
        </p:spPr>
        <p:txBody>
          <a:bodyPr wrap="square" lIns="25400" tIns="25400" rIns="25400" bIns="25400" rtlCol="0" anchor="ctr"/>
          <a:lstStyle/>
          <a:p>
            <a:pPr marL="0" indent="0" algn="r">
              <a:buNone/>
            </a:pPr>
            <a:r>
              <a:rPr lang="en-US" sz="1000" dirty="0">
                <a:solidFill>
                  <a:srgbClr val="AAC0E8"/>
                </a:solidFill>
                <a:latin typeface="Arial" pitchFamily="34" charset="0"/>
                <a:ea typeface="Arial" pitchFamily="34" charset="-122"/>
                <a:cs typeface="Arial" pitchFamily="34" charset="-120"/>
              </a:rPr>
              <a:t>19 / 20</a:t>
            </a:r>
            <a:endParaRPr lang="en-US" sz="1000" dirty="0"/>
          </a:p>
        </p:txBody>
      </p:sp>
      <p:sp>
        <p:nvSpPr>
          <p:cNvPr id="5" name="Shape 3"/>
          <p:cNvSpPr/>
          <p:nvPr/>
        </p:nvSpPr>
        <p:spPr>
          <a:xfrm>
            <a:off x="0" y="640080"/>
            <a:ext cx="9144000" cy="45720"/>
          </a:xfrm>
          <a:prstGeom prst="rect">
            <a:avLst/>
          </a:prstGeom>
          <a:solidFill>
            <a:srgbClr val="C8102E"/>
          </a:solidFill>
          <a:ln w="12700">
            <a:solidFill>
              <a:srgbClr val="C8102E"/>
            </a:solidFill>
            <a:prstDash val="solid"/>
          </a:ln>
        </p:spPr>
        <p:txBody>
          <a:bodyPr/>
          <a:lstStyle/>
          <a:p>
            <a:endParaRPr lang="en-NG"/>
          </a:p>
        </p:txBody>
      </p:sp>
      <p:sp>
        <p:nvSpPr>
          <p:cNvPr id="6" name="Text 4"/>
          <p:cNvSpPr/>
          <p:nvPr/>
        </p:nvSpPr>
        <p:spPr>
          <a:xfrm>
            <a:off x="320040" y="749808"/>
            <a:ext cx="8503920" cy="274320"/>
          </a:xfrm>
          <a:prstGeom prst="rect">
            <a:avLst/>
          </a:prstGeom>
          <a:noFill/>
          <a:ln/>
        </p:spPr>
        <p:txBody>
          <a:bodyPr wrap="square" lIns="25400" tIns="25400" rIns="25400" bIns="25400" rtlCol="0" anchor="t"/>
          <a:lstStyle/>
          <a:p>
            <a:pPr marL="0" indent="0" algn="l">
              <a:buNone/>
            </a:pPr>
            <a:r>
              <a:rPr lang="en-US" sz="1100" dirty="0">
                <a:solidFill>
                  <a:srgbClr val="1A1A2E"/>
                </a:solidFill>
                <a:latin typeface="Arial" pitchFamily="34" charset="0"/>
                <a:ea typeface="Arial" pitchFamily="34" charset="-122"/>
                <a:cs typeface="Arial" pitchFamily="34" charset="-120"/>
              </a:rPr>
              <a:t>Complete structural and algorithmic comparison of the two methods:</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2913334241"/>
              </p:ext>
            </p:extLst>
          </p:nvPr>
        </p:nvGraphicFramePr>
        <p:xfrm>
          <a:off x="320040" y="1060704"/>
          <a:ext cx="8503920" cy="3456432"/>
        </p:xfrm>
        <a:graphic>
          <a:graphicData uri="http://schemas.openxmlformats.org/drawingml/2006/table">
            <a:tbl>
              <a:tblPr/>
              <a:tblGrid>
                <a:gridCol w="1828800">
                  <a:extLst>
                    <a:ext uri="{9D8B030D-6E8A-4147-A177-3AD203B41FA5}">
                      <a16:colId xmlns:a16="http://schemas.microsoft.com/office/drawing/2014/main" val="20000"/>
                    </a:ext>
                  </a:extLst>
                </a:gridCol>
                <a:gridCol w="3337560">
                  <a:extLst>
                    <a:ext uri="{9D8B030D-6E8A-4147-A177-3AD203B41FA5}">
                      <a16:colId xmlns:a16="http://schemas.microsoft.com/office/drawing/2014/main" val="20001"/>
                    </a:ext>
                  </a:extLst>
                </a:gridCol>
                <a:gridCol w="3337560">
                  <a:extLst>
                    <a:ext uri="{9D8B030D-6E8A-4147-A177-3AD203B41FA5}">
                      <a16:colId xmlns:a16="http://schemas.microsoft.com/office/drawing/2014/main" val="20002"/>
                    </a:ext>
                  </a:extLst>
                </a:gridCol>
              </a:tblGrid>
              <a:tr h="384048">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Property</a:t>
                      </a:r>
                      <a:endParaRPr lang="en-US" sz="110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solidFill>
                        <a:srgbClr val="DDE3EF"/>
                      </a:solidFill>
                      <a:prstDash val="solid"/>
                      <a:round/>
                      <a:headEnd type="none" w="med" len="med"/>
                      <a:tailEnd type="none" w="med" len="med"/>
                    </a:lnT>
                    <a:lnB w="0" cap="flat" cmpd="sng" algn="ctr">
                      <a:noFill/>
                    </a:lnB>
                    <a:solidFill>
                      <a:srgbClr val="003087"/>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CG (Method No. 20)</a:t>
                      </a:r>
                      <a:endParaRPr lang="en-US" sz="110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solidFill>
                        <a:srgbClr val="DDE3EF"/>
                      </a:solidFill>
                      <a:prstDash val="solid"/>
                      <a:round/>
                      <a:headEnd type="none" w="med" len="med"/>
                      <a:tailEnd type="none" w="med" len="med"/>
                    </a:lnT>
                    <a:lnB w="0" cap="flat" cmpd="sng" algn="ctr">
                      <a:noFill/>
                    </a:lnB>
                    <a:solidFill>
                      <a:srgbClr val="003087"/>
                    </a:solidFill>
                  </a:tcPr>
                </a:tc>
                <a:tc>
                  <a:txBody>
                    <a:bodyPr/>
                    <a:lstStyle/>
                    <a:p>
                      <a:pPr marL="0" indent="0" algn="ctr">
                        <a:buNone/>
                      </a:pPr>
                      <a:r>
                        <a:rPr lang="en-US" sz="1100" b="1" dirty="0">
                          <a:solidFill>
                            <a:srgbClr val="FFFFFF"/>
                          </a:solidFill>
                          <a:latin typeface="Arial" pitchFamily="34" charset="0"/>
                          <a:ea typeface="Arial" pitchFamily="34" charset="-122"/>
                          <a:cs typeface="Arial" pitchFamily="34" charset="-120"/>
                        </a:rPr>
                        <a:t>PCG (Method No. 30)</a:t>
                      </a:r>
                      <a:endParaRPr lang="en-US" sz="110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solidFill>
                        <a:srgbClr val="DDE3EF"/>
                      </a:solidFill>
                      <a:prstDash val="solid"/>
                      <a:round/>
                      <a:headEnd type="none" w="med" len="med"/>
                      <a:tailEnd type="none" w="med" len="med"/>
                    </a:lnT>
                    <a:lnB w="0" cap="flat" cmpd="sng" algn="ctr">
                      <a:noFill/>
                    </a:lnB>
                    <a:solidFill>
                      <a:srgbClr val="003087"/>
                    </a:solidFill>
                  </a:tcPr>
                </a:tc>
                <a:extLst>
                  <a:ext uri="{0D108BD9-81ED-4DB2-BD59-A6C34878D82A}">
                    <a16:rowId xmlns:a16="http://schemas.microsoft.com/office/drawing/2014/main" val="10000"/>
                  </a:ext>
                </a:extLst>
              </a:tr>
              <a:tr h="384048">
                <a:tc>
                  <a:txBody>
                    <a:bodyPr/>
                    <a:lstStyle/>
                    <a:p>
                      <a:pPr marL="0" indent="0" algn="l">
                        <a:buNone/>
                      </a:pPr>
                      <a:r>
                        <a:rPr lang="en-US" sz="1050" dirty="0">
                          <a:solidFill>
                            <a:srgbClr val="1A1A2E"/>
                          </a:solidFill>
                          <a:latin typeface="Arial" pitchFamily="34" charset="0"/>
                          <a:ea typeface="Arial" pitchFamily="34" charset="-122"/>
                          <a:cs typeface="Arial" pitchFamily="34" charset="-120"/>
                        </a:rPr>
                        <a:t>Applicability</a:t>
                      </a:r>
                      <a:endParaRPr lang="en-US" sz="105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050" dirty="0">
                          <a:solidFill>
                            <a:srgbClr val="1A1A2E"/>
                          </a:solidFill>
                          <a:latin typeface="Arial" pitchFamily="34" charset="0"/>
                          <a:ea typeface="Arial" pitchFamily="34" charset="-122"/>
                          <a:cs typeface="Arial" pitchFamily="34" charset="-120"/>
                        </a:rPr>
                        <a:t>SPD matrices (A=Aᵀ, all λ&gt;0)</a:t>
                      </a:r>
                      <a:endParaRPr lang="en-US" sz="105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050" dirty="0">
                          <a:solidFill>
                            <a:srgbClr val="1A1A2E"/>
                          </a:solidFill>
                          <a:latin typeface="Arial" pitchFamily="34" charset="0"/>
                          <a:ea typeface="Arial" pitchFamily="34" charset="-122"/>
                          <a:cs typeface="Arial" pitchFamily="34" charset="-120"/>
                        </a:rPr>
                        <a:t>SPD matrix A + SPD preconditioner M</a:t>
                      </a:r>
                      <a:endParaRPr lang="en-US" sz="105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050" dirty="0">
                          <a:solidFill>
                            <a:srgbClr val="1A1A2E"/>
                          </a:solidFill>
                          <a:latin typeface="Arial" pitchFamily="34" charset="0"/>
                          <a:ea typeface="Arial" pitchFamily="34" charset="-122"/>
                          <a:cs typeface="Arial" pitchFamily="34" charset="-120"/>
                        </a:rPr>
                        <a:t>α_j formula</a:t>
                      </a:r>
                      <a:endParaRPr lang="en-US" sz="105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050" dirty="0">
                          <a:solidFill>
                            <a:srgbClr val="1A1A2E"/>
                          </a:solidFill>
                          <a:latin typeface="Arial" pitchFamily="34" charset="0"/>
                          <a:ea typeface="Arial" pitchFamily="34" charset="-122"/>
                          <a:cs typeface="Arial" pitchFamily="34" charset="-120"/>
                        </a:rPr>
                        <a:t>(r_j, r_j) / (Ap_j, p_j)</a:t>
                      </a:r>
                      <a:endParaRPr lang="en-US" sz="105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050" dirty="0">
                          <a:solidFill>
                            <a:srgbClr val="1A1A2E"/>
                          </a:solidFill>
                          <a:latin typeface="Arial" pitchFamily="34" charset="0"/>
                          <a:ea typeface="Arial" pitchFamily="34" charset="-122"/>
                          <a:cs typeface="Arial" pitchFamily="34" charset="-120"/>
                        </a:rPr>
                        <a:t>(r_j, z_j) / (Ap_j, p_j)</a:t>
                      </a:r>
                      <a:endParaRPr lang="en-US" sz="105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2"/>
                  </a:ext>
                </a:extLst>
              </a:tr>
              <a:tr h="384048">
                <a:tc>
                  <a:txBody>
                    <a:bodyPr/>
                    <a:lstStyle/>
                    <a:p>
                      <a:pPr marL="0" indent="0" algn="l">
                        <a:buNone/>
                      </a:pPr>
                      <a:r>
                        <a:rPr lang="en-US" sz="1050" dirty="0">
                          <a:solidFill>
                            <a:srgbClr val="1A1A2E"/>
                          </a:solidFill>
                          <a:latin typeface="Arial" pitchFamily="34" charset="0"/>
                          <a:ea typeface="Arial" pitchFamily="34" charset="-122"/>
                          <a:cs typeface="Arial" pitchFamily="34" charset="-120"/>
                        </a:rPr>
                        <a:t>β_j formula</a:t>
                      </a:r>
                      <a:endParaRPr lang="en-US" sz="105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050" dirty="0">
                          <a:solidFill>
                            <a:srgbClr val="1A1A2E"/>
                          </a:solidFill>
                          <a:latin typeface="Arial" pitchFamily="34" charset="0"/>
                          <a:ea typeface="Arial" pitchFamily="34" charset="-122"/>
                          <a:cs typeface="Arial" pitchFamily="34" charset="-120"/>
                        </a:rPr>
                        <a:t>‖r_{j+1}‖² / ‖r_j‖²</a:t>
                      </a:r>
                      <a:endParaRPr lang="en-US" sz="105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050" dirty="0">
                          <a:solidFill>
                            <a:srgbClr val="1A1A2E"/>
                          </a:solidFill>
                          <a:latin typeface="Arial" pitchFamily="34" charset="0"/>
                          <a:ea typeface="Arial" pitchFamily="34" charset="-122"/>
                          <a:cs typeface="Arial" pitchFamily="34" charset="-120"/>
                        </a:rPr>
                        <a:t>(r_{j+1},z_{j+1}) / (r_j,z_j)</a:t>
                      </a:r>
                      <a:endParaRPr lang="en-US" sz="105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050" dirty="0">
                          <a:solidFill>
                            <a:srgbClr val="1A1A2E"/>
                          </a:solidFill>
                          <a:latin typeface="Arial" pitchFamily="34" charset="0"/>
                          <a:ea typeface="Arial" pitchFamily="34" charset="-122"/>
                          <a:cs typeface="Arial" pitchFamily="34" charset="-120"/>
                        </a:rPr>
                        <a:t>Extra step per iter.</a:t>
                      </a:r>
                      <a:endParaRPr lang="en-US" sz="105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050" dirty="0">
                          <a:solidFill>
                            <a:srgbClr val="1A1A2E"/>
                          </a:solidFill>
                          <a:latin typeface="Arial" pitchFamily="34" charset="0"/>
                          <a:ea typeface="Arial" pitchFamily="34" charset="-122"/>
                          <a:cs typeface="Arial" pitchFamily="34" charset="-120"/>
                        </a:rPr>
                        <a:t>None</a:t>
                      </a:r>
                      <a:endParaRPr lang="en-US" sz="105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050" dirty="0">
                          <a:solidFill>
                            <a:srgbClr val="1A1A2E"/>
                          </a:solidFill>
                          <a:latin typeface="Arial" pitchFamily="34" charset="0"/>
                          <a:ea typeface="Arial" pitchFamily="34" charset="-122"/>
                          <a:cs typeface="Arial" pitchFamily="34" charset="-120"/>
                        </a:rPr>
                        <a:t>z_{k+1} = M⁻¹ r_{k+1}</a:t>
                      </a:r>
                      <a:endParaRPr lang="en-US" sz="105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4"/>
                  </a:ext>
                </a:extLst>
              </a:tr>
              <a:tr h="384048">
                <a:tc>
                  <a:txBody>
                    <a:bodyPr/>
                    <a:lstStyle/>
                    <a:p>
                      <a:pPr marL="0" indent="0" algn="l">
                        <a:buNone/>
                      </a:pPr>
                      <a:r>
                        <a:rPr lang="en-US" sz="1050" dirty="0">
                          <a:solidFill>
                            <a:srgbClr val="1A1A2E"/>
                          </a:solidFill>
                          <a:latin typeface="Arial" pitchFamily="34" charset="0"/>
                          <a:ea typeface="Arial" pitchFamily="34" charset="-122"/>
                          <a:cs typeface="Arial" pitchFamily="34" charset="-120"/>
                        </a:rPr>
                        <a:t>Convergence rate</a:t>
                      </a:r>
                      <a:endParaRPr lang="en-US" sz="105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050" dirty="0">
                          <a:solidFill>
                            <a:srgbClr val="1A1A2E"/>
                          </a:solidFill>
                          <a:latin typeface="Arial" pitchFamily="34" charset="0"/>
                          <a:ea typeface="Arial" pitchFamily="34" charset="-122"/>
                          <a:cs typeface="Arial" pitchFamily="34" charset="-120"/>
                        </a:rPr>
                        <a:t>κ(A)-dependent</a:t>
                      </a:r>
                      <a:endParaRPr lang="en-US" sz="105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050" dirty="0">
                          <a:solidFill>
                            <a:srgbClr val="1A1A2E"/>
                          </a:solidFill>
                          <a:latin typeface="Arial" pitchFamily="34" charset="0"/>
                          <a:ea typeface="Arial" pitchFamily="34" charset="-122"/>
                          <a:cs typeface="Arial" pitchFamily="34" charset="-120"/>
                        </a:rPr>
                        <a:t>κ(M⁻¹A)-dependent  [≪κ(A)]</a:t>
                      </a:r>
                      <a:endParaRPr lang="en-US" sz="105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5"/>
                  </a:ext>
                </a:extLst>
              </a:tr>
              <a:tr h="384048">
                <a:tc>
                  <a:txBody>
                    <a:bodyPr/>
                    <a:lstStyle/>
                    <a:p>
                      <a:pPr marL="0" indent="0" algn="l">
                        <a:buNone/>
                      </a:pPr>
                      <a:r>
                        <a:rPr lang="en-US" sz="1050" dirty="0">
                          <a:solidFill>
                            <a:srgbClr val="1A1A2E"/>
                          </a:solidFill>
                          <a:latin typeface="Arial" pitchFamily="34" charset="0"/>
                          <a:ea typeface="Arial" pitchFamily="34" charset="-122"/>
                          <a:cs typeface="Arial" pitchFamily="34" charset="-120"/>
                        </a:rPr>
                        <a:t>Cost per iteration</a:t>
                      </a:r>
                      <a:endParaRPr lang="en-US" sz="105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050" dirty="0">
                          <a:solidFill>
                            <a:srgbClr val="1A1A2E"/>
                          </a:solidFill>
                          <a:latin typeface="Arial" pitchFamily="34" charset="0"/>
                          <a:ea typeface="Arial" pitchFamily="34" charset="-122"/>
                          <a:cs typeface="Arial" pitchFamily="34" charset="-120"/>
                        </a:rPr>
                        <a:t>1 mat-vec: O(nnz)</a:t>
                      </a:r>
                      <a:endParaRPr lang="en-US" sz="105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050" dirty="0">
                          <a:solidFill>
                            <a:srgbClr val="1A1A2E"/>
                          </a:solidFill>
                          <a:latin typeface="Arial" pitchFamily="34" charset="0"/>
                          <a:ea typeface="Arial" pitchFamily="34" charset="-122"/>
                          <a:cs typeface="Arial" pitchFamily="34" charset="-120"/>
                        </a:rPr>
                        <a:t>1 mat-vec + 2 triangular solves</a:t>
                      </a:r>
                      <a:endParaRPr lang="en-US" sz="105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6"/>
                  </a:ext>
                </a:extLst>
              </a:tr>
              <a:tr h="384048">
                <a:tc>
                  <a:txBody>
                    <a:bodyPr/>
                    <a:lstStyle/>
                    <a:p>
                      <a:pPr marL="0" indent="0" algn="l">
                        <a:buNone/>
                      </a:pPr>
                      <a:r>
                        <a:rPr lang="en-US" sz="1050" dirty="0">
                          <a:solidFill>
                            <a:srgbClr val="1A1A2E"/>
                          </a:solidFill>
                          <a:latin typeface="Arial" pitchFamily="34" charset="0"/>
                          <a:ea typeface="Arial" pitchFamily="34" charset="-122"/>
                          <a:cs typeface="Arial" pitchFamily="34" charset="-120"/>
                        </a:rPr>
                        <a:t>Memory required</a:t>
                      </a:r>
                      <a:endParaRPr lang="en-US" sz="105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050" dirty="0">
                          <a:solidFill>
                            <a:srgbClr val="1A1A2E"/>
                          </a:solidFill>
                          <a:latin typeface="Arial" pitchFamily="34" charset="0"/>
                          <a:ea typeface="Arial" pitchFamily="34" charset="-122"/>
                          <a:cs typeface="Arial" pitchFamily="34" charset="-120"/>
                        </a:rPr>
                        <a:t>x, r, p, Ap (4 vectors)</a:t>
                      </a:r>
                      <a:endParaRPr lang="en-US" sz="105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050" dirty="0">
                          <a:solidFill>
                            <a:srgbClr val="1A1A2E"/>
                          </a:solidFill>
                          <a:latin typeface="Arial" pitchFamily="34" charset="0"/>
                          <a:ea typeface="Arial" pitchFamily="34" charset="-122"/>
                          <a:cs typeface="Arial" pitchFamily="34" charset="-120"/>
                        </a:rPr>
                        <a:t>same + z vector (5 vectors)</a:t>
                      </a:r>
                      <a:endParaRPr lang="en-US" sz="105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7"/>
                  </a:ext>
                </a:extLst>
              </a:tr>
              <a:tr h="384048">
                <a:tc>
                  <a:txBody>
                    <a:bodyPr/>
                    <a:lstStyle/>
                    <a:p>
                      <a:pPr marL="0" indent="0" algn="l">
                        <a:buNone/>
                      </a:pPr>
                      <a:r>
                        <a:rPr lang="en-US" sz="1050" dirty="0">
                          <a:solidFill>
                            <a:srgbClr val="1A1A2E"/>
                          </a:solidFill>
                          <a:latin typeface="Arial" pitchFamily="34" charset="0"/>
                          <a:ea typeface="Arial" pitchFamily="34" charset="-122"/>
                          <a:cs typeface="Arial" pitchFamily="34" charset="-120"/>
                        </a:rPr>
                        <a:t>Best suited for</a:t>
                      </a:r>
                      <a:endParaRPr lang="en-US" sz="105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050" dirty="0">
                          <a:solidFill>
                            <a:srgbClr val="1A1A2E"/>
                          </a:solidFill>
                          <a:latin typeface="Arial" pitchFamily="34" charset="0"/>
                          <a:ea typeface="Arial" pitchFamily="34" charset="-122"/>
                          <a:cs typeface="Arial" pitchFamily="34" charset="-120"/>
                        </a:rPr>
                        <a:t>Well-conditioned SPD, moderate n</a:t>
                      </a:r>
                      <a:endParaRPr lang="en-US" sz="105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tc>
                  <a:txBody>
                    <a:bodyPr/>
                    <a:lstStyle/>
                    <a:p>
                      <a:pPr marL="0" indent="0" algn="ctr">
                        <a:buNone/>
                      </a:pPr>
                      <a:r>
                        <a:rPr lang="en-US" sz="1050" dirty="0">
                          <a:solidFill>
                            <a:srgbClr val="1A1A2E"/>
                          </a:solidFill>
                          <a:latin typeface="Arial" pitchFamily="34" charset="0"/>
                          <a:ea typeface="Arial" pitchFamily="34" charset="-122"/>
                          <a:cs typeface="Arial" pitchFamily="34" charset="-120"/>
                        </a:rPr>
                        <a:t>Ill-conditioned or large-scale SPD</a:t>
                      </a:r>
                      <a:endParaRPr lang="en-US" sz="1050" dirty="0">
                        <a:latin typeface="Arial" charset="0"/>
                        <a:ea typeface="Arial" charset="0"/>
                        <a:cs typeface="Arial" charset="0"/>
                      </a:endParaRPr>
                    </a:p>
                  </a:txBody>
                  <a:tcPr marL="76200" marR="76200" marT="76200" marB="76200" anchor="ctr">
                    <a:lnL w="0" cap="flat" cmpd="sng" algn="ctr">
                      <a:noFill/>
                    </a:lnL>
                    <a:lnR w="0" cap="flat" cmpd="sng" algn="ctr">
                      <a:noFill/>
                    </a:lnR>
                    <a:lnT w="6350" cap="flat" cmpd="sng" algn="ctr">
                      <a:noFill/>
                      <a:prstDash val="solid"/>
                      <a:round/>
                      <a:headEnd type="none" w="med" len="med"/>
                      <a:tailEnd type="none" w="med" len="med"/>
                    </a:lnT>
                    <a:lnB w="0" cap="flat" cmpd="sng" algn="ctr">
                      <a:noFill/>
                    </a:lnB>
                    <a:solidFill>
                      <a:srgbClr val="FFFFFF"/>
                    </a:solidFill>
                  </a:tcPr>
                </a:tc>
                <a:extLst>
                  <a:ext uri="{0D108BD9-81ED-4DB2-BD59-A6C34878D82A}">
                    <a16:rowId xmlns:a16="http://schemas.microsoft.com/office/drawing/2014/main" val="10008"/>
                  </a:ext>
                </a:extLst>
              </a:tr>
            </a:tbl>
          </a:graphicData>
        </a:graphic>
      </p:graphicFrame>
      <p:sp>
        <p:nvSpPr>
          <p:cNvPr id="8" name="Shape 5"/>
          <p:cNvSpPr/>
          <p:nvPr/>
        </p:nvSpPr>
        <p:spPr>
          <a:xfrm>
            <a:off x="320040" y="4553712"/>
            <a:ext cx="4224528" cy="534924"/>
          </a:xfrm>
          <a:prstGeom prst="roundRect">
            <a:avLst>
              <a:gd name="adj" fmla="val 6818"/>
            </a:avLst>
          </a:prstGeom>
          <a:solidFill>
            <a:srgbClr val="EBF0FA"/>
          </a:solidFill>
          <a:ln w="15240">
            <a:solidFill>
              <a:srgbClr val="003087"/>
            </a:solidFill>
            <a:prstDash val="solid"/>
          </a:ln>
        </p:spPr>
        <p:txBody>
          <a:bodyPr/>
          <a:lstStyle/>
          <a:p>
            <a:endParaRPr lang="en-NG"/>
          </a:p>
        </p:txBody>
      </p:sp>
      <p:sp>
        <p:nvSpPr>
          <p:cNvPr id="9" name="Text 6"/>
          <p:cNvSpPr/>
          <p:nvPr/>
        </p:nvSpPr>
        <p:spPr>
          <a:xfrm>
            <a:off x="402337" y="4490640"/>
            <a:ext cx="4005072" cy="256032"/>
          </a:xfrm>
          <a:prstGeom prst="rect">
            <a:avLst/>
          </a:prstGeom>
          <a:noFill/>
          <a:ln/>
        </p:spPr>
        <p:txBody>
          <a:bodyPr wrap="square" lIns="63500" tIns="63500" rIns="63500" bIns="63500" rtlCol="0" anchor="t"/>
          <a:lstStyle/>
          <a:p>
            <a:pPr marL="0" indent="0" algn="l">
              <a:buNone/>
            </a:pPr>
            <a:r>
              <a:rPr lang="en-US" sz="1150" b="1" dirty="0">
                <a:solidFill>
                  <a:srgbClr val="003087"/>
                </a:solidFill>
                <a:latin typeface="Cambria" pitchFamily="34" charset="0"/>
                <a:ea typeface="Cambria" pitchFamily="34" charset="-122"/>
                <a:cs typeface="Cambria" pitchFamily="34" charset="-120"/>
              </a:rPr>
              <a:t>Use CG when:</a:t>
            </a:r>
            <a:endParaRPr lang="en-US" sz="1150" dirty="0"/>
          </a:p>
        </p:txBody>
      </p:sp>
      <p:sp>
        <p:nvSpPr>
          <p:cNvPr id="10" name="Text 7"/>
          <p:cNvSpPr/>
          <p:nvPr/>
        </p:nvSpPr>
        <p:spPr>
          <a:xfrm>
            <a:off x="484632" y="4370832"/>
            <a:ext cx="3913632" cy="457200"/>
          </a:xfrm>
          <a:prstGeom prst="rect">
            <a:avLst/>
          </a:prstGeom>
          <a:noFill/>
          <a:ln/>
        </p:spPr>
        <p:txBody>
          <a:bodyPr wrap="square" lIns="0" tIns="0" rIns="0" bIns="0" rtlCol="0" anchor="t"/>
          <a:lstStyle/>
          <a:p>
            <a:pPr marL="0" indent="0" algn="l">
              <a:buNone/>
            </a:pPr>
            <a:endParaRPr lang="en-US" sz="950" dirty="0"/>
          </a:p>
        </p:txBody>
      </p:sp>
      <p:sp>
        <p:nvSpPr>
          <p:cNvPr id="11" name="Text 8"/>
          <p:cNvSpPr/>
          <p:nvPr/>
        </p:nvSpPr>
        <p:spPr>
          <a:xfrm>
            <a:off x="484632" y="4370832"/>
            <a:ext cx="3913632" cy="457200"/>
          </a:xfrm>
          <a:prstGeom prst="rect">
            <a:avLst/>
          </a:prstGeom>
          <a:noFill/>
          <a:ln/>
        </p:spPr>
        <p:txBody>
          <a:bodyPr wrap="square" lIns="0" tIns="0" rIns="0" bIns="0" rtlCol="0" anchor="t"/>
          <a:lstStyle/>
          <a:p>
            <a:pPr marL="0" indent="0" algn="l">
              <a:buNone/>
            </a:pPr>
            <a:endParaRPr lang="en-US" sz="950" dirty="0"/>
          </a:p>
        </p:txBody>
      </p:sp>
      <p:sp>
        <p:nvSpPr>
          <p:cNvPr id="12" name="Text 9"/>
          <p:cNvSpPr/>
          <p:nvPr/>
        </p:nvSpPr>
        <p:spPr>
          <a:xfrm>
            <a:off x="484632" y="4370832"/>
            <a:ext cx="3913632" cy="457200"/>
          </a:xfrm>
          <a:prstGeom prst="rect">
            <a:avLst/>
          </a:prstGeom>
          <a:noFill/>
          <a:ln/>
        </p:spPr>
        <p:txBody>
          <a:bodyPr wrap="square" lIns="0" tIns="0" rIns="0" bIns="0" rtlCol="0" anchor="t"/>
          <a:lstStyle/>
          <a:p>
            <a:pPr marL="0" indent="0" algn="l">
              <a:buNone/>
            </a:pPr>
            <a:endParaRPr lang="en-US" sz="950" dirty="0"/>
          </a:p>
        </p:txBody>
      </p:sp>
      <p:sp>
        <p:nvSpPr>
          <p:cNvPr id="14" name="Text 11"/>
          <p:cNvSpPr/>
          <p:nvPr/>
        </p:nvSpPr>
        <p:spPr>
          <a:xfrm>
            <a:off x="347473" y="4746672"/>
            <a:ext cx="4059936" cy="278892"/>
          </a:xfrm>
          <a:prstGeom prst="rect">
            <a:avLst/>
          </a:prstGeom>
          <a:noFill/>
          <a:ln/>
        </p:spPr>
        <p:txBody>
          <a:bodyPr wrap="square" lIns="0" tIns="0" rIns="0" bIns="0" rtlCol="0" anchor="t"/>
          <a:lstStyle/>
          <a:p>
            <a:pPr marL="0" indent="0" algn="l">
              <a:buNone/>
            </a:pPr>
            <a:r>
              <a:rPr lang="en-US" sz="950" dirty="0">
                <a:solidFill>
                  <a:srgbClr val="1A1A2E"/>
                </a:solidFill>
                <a:latin typeface="Arial" pitchFamily="34" charset="0"/>
                <a:ea typeface="Arial" pitchFamily="34" charset="-122"/>
                <a:cs typeface="Arial" pitchFamily="34" charset="-120"/>
              </a:rPr>
              <a:t>▸ Matrix is SPD with moderate κ(A)  ▸ System size n is small to medium  ▸ Memory is very limited  ▸ No good SPD preconditioner available</a:t>
            </a:r>
            <a:endParaRPr lang="en-US" sz="950" dirty="0"/>
          </a:p>
        </p:txBody>
      </p:sp>
      <p:sp>
        <p:nvSpPr>
          <p:cNvPr id="15" name="Shape 12"/>
          <p:cNvSpPr/>
          <p:nvPr/>
        </p:nvSpPr>
        <p:spPr>
          <a:xfrm>
            <a:off x="4736592" y="4477860"/>
            <a:ext cx="4224528" cy="610776"/>
          </a:xfrm>
          <a:prstGeom prst="roundRect">
            <a:avLst>
              <a:gd name="adj" fmla="val 6818"/>
            </a:avLst>
          </a:prstGeom>
          <a:solidFill>
            <a:srgbClr val="F0FAF4"/>
          </a:solidFill>
          <a:ln w="15240">
            <a:solidFill>
              <a:srgbClr val="1B6B3A"/>
            </a:solidFill>
            <a:prstDash val="solid"/>
          </a:ln>
        </p:spPr>
        <p:txBody>
          <a:bodyPr/>
          <a:lstStyle/>
          <a:p>
            <a:endParaRPr lang="en-NG"/>
          </a:p>
        </p:txBody>
      </p:sp>
      <p:sp>
        <p:nvSpPr>
          <p:cNvPr id="16" name="Text 13"/>
          <p:cNvSpPr/>
          <p:nvPr/>
        </p:nvSpPr>
        <p:spPr>
          <a:xfrm>
            <a:off x="4892040" y="4477860"/>
            <a:ext cx="4005072" cy="256032"/>
          </a:xfrm>
          <a:prstGeom prst="rect">
            <a:avLst/>
          </a:prstGeom>
          <a:noFill/>
          <a:ln/>
        </p:spPr>
        <p:txBody>
          <a:bodyPr wrap="square" lIns="63500" tIns="63500" rIns="63500" bIns="63500" rtlCol="0" anchor="t"/>
          <a:lstStyle/>
          <a:p>
            <a:pPr marL="0" indent="0" algn="l">
              <a:buNone/>
            </a:pPr>
            <a:r>
              <a:rPr lang="en-US" sz="1150" b="1" dirty="0">
                <a:solidFill>
                  <a:srgbClr val="1B6B3A"/>
                </a:solidFill>
                <a:latin typeface="Cambria" pitchFamily="34" charset="0"/>
                <a:ea typeface="Cambria" pitchFamily="34" charset="-122"/>
                <a:cs typeface="Cambria" pitchFamily="34" charset="-120"/>
              </a:rPr>
              <a:t>Use PCG when:</a:t>
            </a:r>
            <a:endParaRPr lang="en-US" sz="1150" dirty="0"/>
          </a:p>
        </p:txBody>
      </p:sp>
      <p:sp>
        <p:nvSpPr>
          <p:cNvPr id="17" name="Text 14"/>
          <p:cNvSpPr/>
          <p:nvPr/>
        </p:nvSpPr>
        <p:spPr>
          <a:xfrm>
            <a:off x="4892040" y="4370832"/>
            <a:ext cx="3913632" cy="457200"/>
          </a:xfrm>
          <a:prstGeom prst="rect">
            <a:avLst/>
          </a:prstGeom>
          <a:noFill/>
          <a:ln/>
        </p:spPr>
        <p:txBody>
          <a:bodyPr wrap="square" lIns="0" tIns="0" rIns="0" bIns="0" rtlCol="0" anchor="t"/>
          <a:lstStyle/>
          <a:p>
            <a:pPr marL="0" indent="0" algn="l">
              <a:buNone/>
            </a:pPr>
            <a:endParaRPr lang="en-US" sz="950" dirty="0"/>
          </a:p>
        </p:txBody>
      </p:sp>
      <p:sp>
        <p:nvSpPr>
          <p:cNvPr id="18" name="Text 15"/>
          <p:cNvSpPr/>
          <p:nvPr/>
        </p:nvSpPr>
        <p:spPr>
          <a:xfrm>
            <a:off x="4892040" y="4370832"/>
            <a:ext cx="3913632" cy="457200"/>
          </a:xfrm>
          <a:prstGeom prst="rect">
            <a:avLst/>
          </a:prstGeom>
          <a:noFill/>
          <a:ln/>
        </p:spPr>
        <p:txBody>
          <a:bodyPr wrap="square" lIns="0" tIns="0" rIns="0" bIns="0" rtlCol="0" anchor="t"/>
          <a:lstStyle/>
          <a:p>
            <a:pPr marL="0" indent="0" algn="l">
              <a:buNone/>
            </a:pPr>
            <a:r>
              <a:rPr lang="en-US" sz="950" dirty="0">
                <a:solidFill>
                  <a:srgbClr val="1A1A2E"/>
                </a:solidFill>
                <a:latin typeface="Arial" pitchFamily="34" charset="0"/>
                <a:ea typeface="Arial" pitchFamily="34" charset="-122"/>
                <a:cs typeface="Arial" pitchFamily="34" charset="-120"/>
              </a:rPr>
              <a:t> </a:t>
            </a:r>
            <a:endParaRPr lang="en-US" sz="950" dirty="0"/>
          </a:p>
        </p:txBody>
      </p:sp>
      <p:sp>
        <p:nvSpPr>
          <p:cNvPr id="19" name="Text 16"/>
          <p:cNvSpPr/>
          <p:nvPr/>
        </p:nvSpPr>
        <p:spPr>
          <a:xfrm>
            <a:off x="4892040" y="4370832"/>
            <a:ext cx="3913632" cy="457200"/>
          </a:xfrm>
          <a:prstGeom prst="rect">
            <a:avLst/>
          </a:prstGeom>
          <a:noFill/>
          <a:ln/>
        </p:spPr>
        <p:txBody>
          <a:bodyPr wrap="square" lIns="0" tIns="0" rIns="0" bIns="0" rtlCol="0" anchor="t"/>
          <a:lstStyle/>
          <a:p>
            <a:pPr marL="0" indent="0" algn="l">
              <a:buNone/>
            </a:pPr>
            <a:endParaRPr lang="en-US" sz="950" dirty="0"/>
          </a:p>
        </p:txBody>
      </p:sp>
      <p:sp>
        <p:nvSpPr>
          <p:cNvPr id="7" name="Text 17"/>
          <p:cNvSpPr/>
          <p:nvPr/>
        </p:nvSpPr>
        <p:spPr>
          <a:xfrm>
            <a:off x="4892040" y="4370832"/>
            <a:ext cx="3913632" cy="457200"/>
          </a:xfrm>
          <a:prstGeom prst="rect">
            <a:avLst/>
          </a:prstGeom>
          <a:noFill/>
          <a:ln/>
        </p:spPr>
        <p:txBody>
          <a:bodyPr wrap="square" lIns="0" tIns="0" rIns="0" bIns="0" rtlCol="0" anchor="t"/>
          <a:lstStyle/>
          <a:p>
            <a:pPr marL="0" indent="0" algn="l">
              <a:buNone/>
            </a:pPr>
            <a:r>
              <a:rPr lang="en-US" sz="950" dirty="0">
                <a:solidFill>
                  <a:srgbClr val="1A1A2E"/>
                </a:solidFill>
                <a:latin typeface="Arial" pitchFamily="34" charset="0"/>
                <a:ea typeface="Arial" pitchFamily="34" charset="-122"/>
                <a:cs typeface="Arial" pitchFamily="34" charset="-120"/>
              </a:rPr>
              <a:t> </a:t>
            </a:r>
            <a:endParaRPr lang="en-US" sz="950" dirty="0"/>
          </a:p>
        </p:txBody>
      </p:sp>
      <p:sp>
        <p:nvSpPr>
          <p:cNvPr id="21" name="Text 18"/>
          <p:cNvSpPr/>
          <p:nvPr/>
        </p:nvSpPr>
        <p:spPr>
          <a:xfrm>
            <a:off x="4837176" y="4678092"/>
            <a:ext cx="3913632" cy="438912"/>
          </a:xfrm>
          <a:prstGeom prst="rect">
            <a:avLst/>
          </a:prstGeom>
          <a:noFill/>
          <a:ln/>
        </p:spPr>
        <p:txBody>
          <a:bodyPr wrap="square" lIns="0" tIns="0" rIns="0" bIns="0" rtlCol="0" anchor="t"/>
          <a:lstStyle/>
          <a:p>
            <a:pPr marL="0" indent="0" algn="l">
              <a:buNone/>
            </a:pPr>
            <a:r>
              <a:rPr lang="en-US" sz="950" dirty="0">
                <a:solidFill>
                  <a:srgbClr val="1A1A2E"/>
                </a:solidFill>
                <a:latin typeface="Arial" pitchFamily="34" charset="0"/>
                <a:ea typeface="Arial" pitchFamily="34" charset="-122"/>
                <a:cs typeface="Arial" pitchFamily="34" charset="-120"/>
              </a:rPr>
              <a:t>▸ Matrix is ill-conditioned: κ grows with mesh refinement  ▸ Problem size n is large (n ≥ 10⁴)  ▸ IC or other SPD preconditioner is available  ▸ Iteration savings justify per-iteration overhead</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308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138160" y="109728"/>
            <a:ext cx="731520" cy="731520"/>
          </a:xfrm>
          <a:prstGeom prst="rect">
            <a:avLst/>
          </a:prstGeom>
        </p:spPr>
      </p:pic>
      <p:sp>
        <p:nvSpPr>
          <p:cNvPr id="3" name="Shape 0"/>
          <p:cNvSpPr/>
          <p:nvPr/>
        </p:nvSpPr>
        <p:spPr>
          <a:xfrm>
            <a:off x="0" y="91440"/>
            <a:ext cx="7772400" cy="54864"/>
          </a:xfrm>
          <a:prstGeom prst="rect">
            <a:avLst/>
          </a:prstGeom>
          <a:solidFill>
            <a:srgbClr val="C8102E"/>
          </a:solidFill>
          <a:ln w="12700">
            <a:solidFill>
              <a:srgbClr val="C8102E"/>
            </a:solidFill>
            <a:prstDash val="solid"/>
          </a:ln>
        </p:spPr>
        <p:txBody>
          <a:bodyPr/>
          <a:lstStyle/>
          <a:p>
            <a:endParaRPr lang="en-NG"/>
          </a:p>
        </p:txBody>
      </p:sp>
      <p:sp>
        <p:nvSpPr>
          <p:cNvPr id="4" name="Text 1"/>
          <p:cNvSpPr/>
          <p:nvPr/>
        </p:nvSpPr>
        <p:spPr>
          <a:xfrm>
            <a:off x="365760" y="182880"/>
            <a:ext cx="731520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Conclusions</a:t>
            </a:r>
            <a:endParaRPr lang="en-US" sz="2800" dirty="0"/>
          </a:p>
        </p:txBody>
      </p:sp>
      <p:sp>
        <p:nvSpPr>
          <p:cNvPr id="5" name="Shape 2"/>
          <p:cNvSpPr/>
          <p:nvPr/>
        </p:nvSpPr>
        <p:spPr>
          <a:xfrm>
            <a:off x="320040" y="960120"/>
            <a:ext cx="4206240" cy="1572768"/>
          </a:xfrm>
          <a:prstGeom prst="roundRect">
            <a:avLst>
              <a:gd name="adj" fmla="val 3488"/>
            </a:avLst>
          </a:prstGeom>
          <a:solidFill>
            <a:srgbClr val="FFFFFF">
              <a:alpha val="8000"/>
            </a:srgbClr>
          </a:solidFill>
          <a:ln w="12700">
            <a:solidFill>
              <a:srgbClr val="FFFFFF">
                <a:alpha val="50000"/>
              </a:srgbClr>
            </a:solidFill>
            <a:prstDash val="solid"/>
          </a:ln>
        </p:spPr>
        <p:txBody>
          <a:bodyPr/>
          <a:lstStyle/>
          <a:p>
            <a:endParaRPr lang="en-NG"/>
          </a:p>
        </p:txBody>
      </p:sp>
      <p:sp>
        <p:nvSpPr>
          <p:cNvPr id="6" name="Text 3"/>
          <p:cNvSpPr/>
          <p:nvPr/>
        </p:nvSpPr>
        <p:spPr>
          <a:xfrm>
            <a:off x="429768" y="1051560"/>
            <a:ext cx="502920" cy="530352"/>
          </a:xfrm>
          <a:prstGeom prst="rect">
            <a:avLst/>
          </a:prstGeom>
          <a:noFill/>
          <a:ln/>
        </p:spPr>
        <p:txBody>
          <a:bodyPr wrap="square" lIns="0" tIns="0" rIns="0" bIns="0" rtlCol="0" anchor="ctr"/>
          <a:lstStyle/>
          <a:p>
            <a:pPr marL="0" indent="0" algn="ctr">
              <a:buNone/>
            </a:pPr>
            <a:r>
              <a:rPr lang="en-US" sz="2400" b="1" dirty="0">
                <a:solidFill>
                  <a:srgbClr val="B8860B"/>
                </a:solidFill>
                <a:latin typeface="Cambria" pitchFamily="34" charset="0"/>
                <a:ea typeface="Cambria" pitchFamily="34" charset="-122"/>
                <a:cs typeface="Cambria" pitchFamily="34" charset="-120"/>
              </a:rPr>
              <a:t>01</a:t>
            </a:r>
            <a:endParaRPr lang="en-US" sz="2400" dirty="0"/>
          </a:p>
        </p:txBody>
      </p:sp>
      <p:sp>
        <p:nvSpPr>
          <p:cNvPr id="7" name="Text 4"/>
          <p:cNvSpPr/>
          <p:nvPr/>
        </p:nvSpPr>
        <p:spPr>
          <a:xfrm>
            <a:off x="960120" y="1069848"/>
            <a:ext cx="3456432" cy="475488"/>
          </a:xfrm>
          <a:prstGeom prst="rect">
            <a:avLst/>
          </a:prstGeom>
          <a:noFill/>
          <a:ln/>
        </p:spPr>
        <p:txBody>
          <a:bodyPr wrap="square" lIns="0" tIns="0" rIns="0" bIns="0" rtlCol="0" anchor="ctr"/>
          <a:lstStyle/>
          <a:p>
            <a:pPr marL="0" indent="0">
              <a:buNone/>
            </a:pPr>
            <a:r>
              <a:rPr lang="en-US" sz="1100" b="1" dirty="0">
                <a:solidFill>
                  <a:srgbClr val="FFFFFF"/>
                </a:solidFill>
                <a:latin typeface="Cambria" pitchFamily="34" charset="0"/>
                <a:ea typeface="Cambria" pitchFamily="34" charset="-122"/>
                <a:cs typeface="Cambria" pitchFamily="34" charset="-120"/>
              </a:rPr>
              <a:t>CG is Theoretically Optimal for SPD</a:t>
            </a:r>
            <a:endParaRPr lang="en-US" sz="1100" dirty="0"/>
          </a:p>
        </p:txBody>
      </p:sp>
      <p:sp>
        <p:nvSpPr>
          <p:cNvPr id="8" name="Text 5"/>
          <p:cNvSpPr/>
          <p:nvPr/>
        </p:nvSpPr>
        <p:spPr>
          <a:xfrm>
            <a:off x="429768" y="1600200"/>
            <a:ext cx="3977640" cy="877824"/>
          </a:xfrm>
          <a:prstGeom prst="rect">
            <a:avLst/>
          </a:prstGeom>
          <a:noFill/>
          <a:ln/>
        </p:spPr>
        <p:txBody>
          <a:bodyPr wrap="square" lIns="0" tIns="0" rIns="0" bIns="0" rtlCol="0" anchor="ctr"/>
          <a:lstStyle/>
          <a:p>
            <a:pPr marL="0" indent="0">
              <a:buNone/>
            </a:pPr>
            <a:r>
              <a:rPr lang="en-US" sz="950" dirty="0">
                <a:solidFill>
                  <a:srgbClr val="CADCFC"/>
                </a:solidFill>
                <a:latin typeface="Arial" pitchFamily="34" charset="0"/>
                <a:ea typeface="Arial" pitchFamily="34" charset="-122"/>
                <a:cs typeface="Arial" pitchFamily="34" charset="-120"/>
              </a:rPr>
              <a:t>Derived from residual orthogonality and A-conjugacy conditions. The name 'Conjugate Gradient': gradient directions modified to be A-conjugate. Minimises ‖e_k‖_A over K_k with O(n) memory and 1 mat-vec per iteration.</a:t>
            </a:r>
            <a:endParaRPr lang="en-US" sz="950" dirty="0"/>
          </a:p>
        </p:txBody>
      </p:sp>
      <p:sp>
        <p:nvSpPr>
          <p:cNvPr id="9" name="Shape 6"/>
          <p:cNvSpPr/>
          <p:nvPr/>
        </p:nvSpPr>
        <p:spPr>
          <a:xfrm>
            <a:off x="4754880" y="960120"/>
            <a:ext cx="4206240" cy="1572768"/>
          </a:xfrm>
          <a:prstGeom prst="roundRect">
            <a:avLst>
              <a:gd name="adj" fmla="val 3488"/>
            </a:avLst>
          </a:prstGeom>
          <a:solidFill>
            <a:srgbClr val="FFFFFF">
              <a:alpha val="8000"/>
            </a:srgbClr>
          </a:solidFill>
          <a:ln w="12700">
            <a:solidFill>
              <a:srgbClr val="FFFFFF">
                <a:alpha val="50000"/>
              </a:srgbClr>
            </a:solidFill>
            <a:prstDash val="solid"/>
          </a:ln>
        </p:spPr>
        <p:txBody>
          <a:bodyPr/>
          <a:lstStyle/>
          <a:p>
            <a:endParaRPr lang="en-NG"/>
          </a:p>
        </p:txBody>
      </p:sp>
      <p:sp>
        <p:nvSpPr>
          <p:cNvPr id="10" name="Text 7"/>
          <p:cNvSpPr/>
          <p:nvPr/>
        </p:nvSpPr>
        <p:spPr>
          <a:xfrm>
            <a:off x="4864608" y="1051560"/>
            <a:ext cx="502920" cy="530352"/>
          </a:xfrm>
          <a:prstGeom prst="rect">
            <a:avLst/>
          </a:prstGeom>
          <a:noFill/>
          <a:ln/>
        </p:spPr>
        <p:txBody>
          <a:bodyPr wrap="square" lIns="0" tIns="0" rIns="0" bIns="0" rtlCol="0" anchor="ctr"/>
          <a:lstStyle/>
          <a:p>
            <a:pPr marL="0" indent="0" algn="ctr">
              <a:buNone/>
            </a:pPr>
            <a:r>
              <a:rPr lang="en-US" sz="2400" b="1" dirty="0">
                <a:solidFill>
                  <a:srgbClr val="B8860B"/>
                </a:solidFill>
                <a:latin typeface="Cambria" pitchFamily="34" charset="0"/>
                <a:ea typeface="Cambria" pitchFamily="34" charset="-122"/>
                <a:cs typeface="Cambria" pitchFamily="34" charset="-120"/>
              </a:rPr>
              <a:t>02</a:t>
            </a:r>
            <a:endParaRPr lang="en-US" sz="2400" dirty="0"/>
          </a:p>
        </p:txBody>
      </p:sp>
      <p:sp>
        <p:nvSpPr>
          <p:cNvPr id="11" name="Text 8"/>
          <p:cNvSpPr/>
          <p:nvPr/>
        </p:nvSpPr>
        <p:spPr>
          <a:xfrm>
            <a:off x="5394960" y="1069848"/>
            <a:ext cx="3456432" cy="475488"/>
          </a:xfrm>
          <a:prstGeom prst="rect">
            <a:avLst/>
          </a:prstGeom>
          <a:noFill/>
          <a:ln/>
        </p:spPr>
        <p:txBody>
          <a:bodyPr wrap="square" lIns="0" tIns="0" rIns="0" bIns="0" rtlCol="0" anchor="ctr"/>
          <a:lstStyle/>
          <a:p>
            <a:pPr marL="0" indent="0">
              <a:buNone/>
            </a:pPr>
            <a:r>
              <a:rPr lang="en-US" sz="1100" b="1" dirty="0">
                <a:solidFill>
                  <a:srgbClr val="FFFFFF"/>
                </a:solidFill>
                <a:latin typeface="Cambria" pitchFamily="34" charset="0"/>
                <a:ea typeface="Cambria" pitchFamily="34" charset="-122"/>
                <a:cs typeface="Cambria" pitchFamily="34" charset="-120"/>
              </a:rPr>
              <a:t>PCG Extends CG with One Extra Step</a:t>
            </a:r>
            <a:endParaRPr lang="en-US" sz="1100" dirty="0"/>
          </a:p>
        </p:txBody>
      </p:sp>
      <p:sp>
        <p:nvSpPr>
          <p:cNvPr id="12" name="Text 9"/>
          <p:cNvSpPr/>
          <p:nvPr/>
        </p:nvSpPr>
        <p:spPr>
          <a:xfrm>
            <a:off x="4864608" y="1600200"/>
            <a:ext cx="3977640" cy="877824"/>
          </a:xfrm>
          <a:prstGeom prst="rect">
            <a:avLst/>
          </a:prstGeom>
          <a:noFill/>
          <a:ln/>
        </p:spPr>
        <p:txBody>
          <a:bodyPr wrap="square" lIns="0" tIns="0" rIns="0" bIns="0" rtlCol="0" anchor="ctr"/>
          <a:lstStyle/>
          <a:p>
            <a:pPr marL="0" indent="0">
              <a:buNone/>
            </a:pPr>
            <a:r>
              <a:rPr lang="en-US" sz="950" dirty="0">
                <a:solidFill>
                  <a:srgbClr val="CADCFC"/>
                </a:solidFill>
                <a:latin typeface="Arial" pitchFamily="34" charset="0"/>
                <a:ea typeface="Arial" pitchFamily="34" charset="-122"/>
                <a:cs typeface="Arial" pitchFamily="34" charset="-120"/>
              </a:rPr>
              <a:t>z_{k+1}=M⁻¹r_{k+1} is the entire difference. IC preconditioning reduces κ(M⁻¹A)≪κ(A), compressing the eigenvalue spectrum. Same convergence bound, smaller effective κ.</a:t>
            </a:r>
            <a:endParaRPr lang="en-US" sz="950" dirty="0"/>
          </a:p>
        </p:txBody>
      </p:sp>
      <p:sp>
        <p:nvSpPr>
          <p:cNvPr id="13" name="Shape 10"/>
          <p:cNvSpPr/>
          <p:nvPr/>
        </p:nvSpPr>
        <p:spPr>
          <a:xfrm>
            <a:off x="320040" y="2679192"/>
            <a:ext cx="4206240" cy="1572768"/>
          </a:xfrm>
          <a:prstGeom prst="roundRect">
            <a:avLst>
              <a:gd name="adj" fmla="val 3488"/>
            </a:avLst>
          </a:prstGeom>
          <a:solidFill>
            <a:srgbClr val="FFFFFF">
              <a:alpha val="8000"/>
            </a:srgbClr>
          </a:solidFill>
          <a:ln w="12700">
            <a:solidFill>
              <a:srgbClr val="FFFFFF">
                <a:alpha val="50000"/>
              </a:srgbClr>
            </a:solidFill>
            <a:prstDash val="solid"/>
          </a:ln>
        </p:spPr>
        <p:txBody>
          <a:bodyPr/>
          <a:lstStyle/>
          <a:p>
            <a:endParaRPr lang="en-NG"/>
          </a:p>
        </p:txBody>
      </p:sp>
      <p:sp>
        <p:nvSpPr>
          <p:cNvPr id="14" name="Text 11"/>
          <p:cNvSpPr/>
          <p:nvPr/>
        </p:nvSpPr>
        <p:spPr>
          <a:xfrm>
            <a:off x="429768" y="2770632"/>
            <a:ext cx="502920" cy="530352"/>
          </a:xfrm>
          <a:prstGeom prst="rect">
            <a:avLst/>
          </a:prstGeom>
          <a:noFill/>
          <a:ln/>
        </p:spPr>
        <p:txBody>
          <a:bodyPr wrap="square" lIns="0" tIns="0" rIns="0" bIns="0" rtlCol="0" anchor="ctr"/>
          <a:lstStyle/>
          <a:p>
            <a:pPr marL="0" indent="0" algn="ctr">
              <a:buNone/>
            </a:pPr>
            <a:r>
              <a:rPr lang="en-US" sz="2400" b="1" dirty="0">
                <a:solidFill>
                  <a:srgbClr val="B8860B"/>
                </a:solidFill>
                <a:latin typeface="Cambria" pitchFamily="34" charset="0"/>
                <a:ea typeface="Cambria" pitchFamily="34" charset="-122"/>
                <a:cs typeface="Cambria" pitchFamily="34" charset="-120"/>
              </a:rPr>
              <a:t>03</a:t>
            </a:r>
            <a:endParaRPr lang="en-US" sz="2400" dirty="0"/>
          </a:p>
        </p:txBody>
      </p:sp>
      <p:sp>
        <p:nvSpPr>
          <p:cNvPr id="15" name="Text 12"/>
          <p:cNvSpPr/>
          <p:nvPr/>
        </p:nvSpPr>
        <p:spPr>
          <a:xfrm>
            <a:off x="960120" y="2788920"/>
            <a:ext cx="3456432" cy="475488"/>
          </a:xfrm>
          <a:prstGeom prst="rect">
            <a:avLst/>
          </a:prstGeom>
          <a:noFill/>
          <a:ln/>
        </p:spPr>
        <p:txBody>
          <a:bodyPr wrap="square" lIns="0" tIns="0" rIns="0" bIns="0" rtlCol="0" anchor="ctr"/>
          <a:lstStyle/>
          <a:p>
            <a:pPr marL="0" indent="0">
              <a:buNone/>
            </a:pPr>
            <a:r>
              <a:rPr lang="en-US" sz="1100" b="1" dirty="0">
                <a:solidFill>
                  <a:srgbClr val="FFFFFF"/>
                </a:solidFill>
                <a:latin typeface="Cambria" pitchFamily="34" charset="0"/>
                <a:ea typeface="Cambria" pitchFamily="34" charset="-122"/>
                <a:cs typeface="Cambria" pitchFamily="34" charset="-120"/>
              </a:rPr>
              <a:t>All Tests Converged — 46% Iteration Saving</a:t>
            </a:r>
            <a:endParaRPr lang="en-US" sz="1100" dirty="0"/>
          </a:p>
        </p:txBody>
      </p:sp>
      <p:sp>
        <p:nvSpPr>
          <p:cNvPr id="16" name="Text 13"/>
          <p:cNvSpPr/>
          <p:nvPr/>
        </p:nvSpPr>
        <p:spPr>
          <a:xfrm>
            <a:off x="429768" y="3319272"/>
            <a:ext cx="3977640" cy="877824"/>
          </a:xfrm>
          <a:prstGeom prst="rect">
            <a:avLst/>
          </a:prstGeom>
          <a:noFill/>
          <a:ln/>
        </p:spPr>
        <p:txBody>
          <a:bodyPr wrap="square" lIns="0" tIns="0" rIns="0" bIns="0" rtlCol="0" anchor="ctr"/>
          <a:lstStyle/>
          <a:p>
            <a:pPr marL="0" indent="0">
              <a:buNone/>
            </a:pPr>
            <a:r>
              <a:rPr lang="en-US" sz="950" dirty="0">
                <a:solidFill>
                  <a:srgbClr val="CADCFC"/>
                </a:solidFill>
                <a:latin typeface="Arial" pitchFamily="34" charset="0"/>
                <a:ea typeface="Arial" pitchFamily="34" charset="-122"/>
                <a:cs typeface="Arial" pitchFamily="34" charset="-120"/>
              </a:rPr>
              <a:t>CG: 41 iterations on gr30×30. PCG: 22 iterations — 46% reduction. CPU paradox at n=900 explained by triangular solve overhead. At n≥10⁵ PCG wins decisively in total time.</a:t>
            </a:r>
            <a:endParaRPr lang="en-US" sz="950" dirty="0"/>
          </a:p>
        </p:txBody>
      </p:sp>
      <p:sp>
        <p:nvSpPr>
          <p:cNvPr id="17" name="Shape 14"/>
          <p:cNvSpPr/>
          <p:nvPr/>
        </p:nvSpPr>
        <p:spPr>
          <a:xfrm>
            <a:off x="4754880" y="2679192"/>
            <a:ext cx="4206240" cy="1572768"/>
          </a:xfrm>
          <a:prstGeom prst="roundRect">
            <a:avLst>
              <a:gd name="adj" fmla="val 3488"/>
            </a:avLst>
          </a:prstGeom>
          <a:solidFill>
            <a:srgbClr val="FFFFFF">
              <a:alpha val="8000"/>
            </a:srgbClr>
          </a:solidFill>
          <a:ln w="12700">
            <a:solidFill>
              <a:srgbClr val="FFFFFF">
                <a:alpha val="50000"/>
              </a:srgbClr>
            </a:solidFill>
            <a:prstDash val="solid"/>
          </a:ln>
        </p:spPr>
        <p:txBody>
          <a:bodyPr/>
          <a:lstStyle/>
          <a:p>
            <a:endParaRPr lang="en-NG"/>
          </a:p>
        </p:txBody>
      </p:sp>
      <p:sp>
        <p:nvSpPr>
          <p:cNvPr id="18" name="Text 15"/>
          <p:cNvSpPr/>
          <p:nvPr/>
        </p:nvSpPr>
        <p:spPr>
          <a:xfrm>
            <a:off x="4864608" y="2770632"/>
            <a:ext cx="502920" cy="530352"/>
          </a:xfrm>
          <a:prstGeom prst="rect">
            <a:avLst/>
          </a:prstGeom>
          <a:noFill/>
          <a:ln/>
        </p:spPr>
        <p:txBody>
          <a:bodyPr wrap="square" lIns="0" tIns="0" rIns="0" bIns="0" rtlCol="0" anchor="ctr"/>
          <a:lstStyle/>
          <a:p>
            <a:pPr marL="0" indent="0" algn="ctr">
              <a:buNone/>
            </a:pPr>
            <a:r>
              <a:rPr lang="en-US" sz="2400" b="1" dirty="0">
                <a:solidFill>
                  <a:srgbClr val="B8860B"/>
                </a:solidFill>
                <a:latin typeface="Cambria" pitchFamily="34" charset="0"/>
                <a:ea typeface="Cambria" pitchFamily="34" charset="-122"/>
                <a:cs typeface="Cambria" pitchFamily="34" charset="-120"/>
              </a:rPr>
              <a:t>04</a:t>
            </a:r>
            <a:endParaRPr lang="en-US" sz="2400" dirty="0"/>
          </a:p>
        </p:txBody>
      </p:sp>
      <p:sp>
        <p:nvSpPr>
          <p:cNvPr id="19" name="Text 16"/>
          <p:cNvSpPr/>
          <p:nvPr/>
        </p:nvSpPr>
        <p:spPr>
          <a:xfrm>
            <a:off x="5394960" y="2788920"/>
            <a:ext cx="3456432" cy="475488"/>
          </a:xfrm>
          <a:prstGeom prst="rect">
            <a:avLst/>
          </a:prstGeom>
          <a:noFill/>
          <a:ln/>
        </p:spPr>
        <p:txBody>
          <a:bodyPr wrap="square" lIns="0" tIns="0" rIns="0" bIns="0" rtlCol="0" anchor="ctr"/>
          <a:lstStyle/>
          <a:p>
            <a:pPr marL="0" indent="0">
              <a:buNone/>
            </a:pPr>
            <a:r>
              <a:rPr lang="en-US" sz="1100" b="1" dirty="0">
                <a:solidFill>
                  <a:srgbClr val="FFFFFF"/>
                </a:solidFill>
                <a:latin typeface="Cambria" pitchFamily="34" charset="0"/>
                <a:ea typeface="Cambria" pitchFamily="34" charset="-122"/>
                <a:cs typeface="Cambria" pitchFamily="34" charset="-120"/>
              </a:rPr>
              <a:t>Implementations Verified Against MATLAB</a:t>
            </a:r>
            <a:endParaRPr lang="en-US" sz="1100" dirty="0"/>
          </a:p>
        </p:txBody>
      </p:sp>
      <p:sp>
        <p:nvSpPr>
          <p:cNvPr id="20" name="Text 17"/>
          <p:cNvSpPr/>
          <p:nvPr/>
        </p:nvSpPr>
        <p:spPr>
          <a:xfrm>
            <a:off x="4864608" y="3319272"/>
            <a:ext cx="3977640" cy="877824"/>
          </a:xfrm>
          <a:prstGeom prst="rect">
            <a:avLst/>
          </a:prstGeom>
          <a:noFill/>
          <a:ln/>
        </p:spPr>
        <p:txBody>
          <a:bodyPr wrap="square" lIns="0" tIns="0" rIns="0" bIns="0" rtlCol="0" anchor="ctr"/>
          <a:lstStyle/>
          <a:p>
            <a:pPr marL="0" indent="0">
              <a:buNone/>
            </a:pPr>
            <a:r>
              <a:rPr lang="en-US" sz="950" dirty="0">
                <a:solidFill>
                  <a:srgbClr val="CADCFC"/>
                </a:solidFill>
                <a:latin typeface="Arial" pitchFamily="34" charset="0"/>
                <a:ea typeface="Arial" pitchFamily="34" charset="-122"/>
                <a:cs typeface="Arial" pitchFamily="34" charset="-120"/>
              </a:rPr>
              <a:t>CG_solver and PCG_solver matched pcg() exactly in iteration count, residual norm, and solution error. Correct implementation of Nasedkina (2026) and Saad (2003) algorithms confirmed.</a:t>
            </a:r>
            <a:endParaRPr lang="en-US" sz="950" dirty="0"/>
          </a:p>
        </p:txBody>
      </p:sp>
      <p:sp>
        <p:nvSpPr>
          <p:cNvPr id="21" name="Text 18"/>
          <p:cNvSpPr/>
          <p:nvPr/>
        </p:nvSpPr>
        <p:spPr>
          <a:xfrm>
            <a:off x="320039" y="4283964"/>
            <a:ext cx="5155343" cy="608076"/>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Thank You</a:t>
            </a:r>
            <a:endParaRPr lang="en-US" sz="2400" dirty="0"/>
          </a:p>
        </p:txBody>
      </p:sp>
      <p:sp>
        <p:nvSpPr>
          <p:cNvPr id="22" name="Text 19"/>
          <p:cNvSpPr/>
          <p:nvPr/>
        </p:nvSpPr>
        <p:spPr>
          <a:xfrm>
            <a:off x="320040" y="4645152"/>
            <a:ext cx="7772400" cy="256032"/>
          </a:xfrm>
          <a:prstGeom prst="rect">
            <a:avLst/>
          </a:prstGeom>
          <a:noFill/>
          <a:ln/>
        </p:spPr>
        <p:txBody>
          <a:bodyPr wrap="square" lIns="0" tIns="0" rIns="0" bIns="0" rtlCol="0" anchor="ctr"/>
          <a:lstStyle/>
          <a:p>
            <a:pPr marL="0" indent="0">
              <a:buNone/>
            </a:pPr>
            <a:r>
              <a:rPr lang="en-US" sz="1200" dirty="0">
                <a:solidFill>
                  <a:srgbClr val="CADCFC"/>
                </a:solidFill>
                <a:latin typeface="Arial" pitchFamily="34" charset="0"/>
                <a:ea typeface="Arial" pitchFamily="34" charset="-122"/>
                <a:cs typeface="Arial" pitchFamily="34" charset="-120"/>
              </a:rPr>
              <a:t>Гориола-Обафеми Бабатунде Суканми   ·   Оволабани Айобами</a:t>
            </a:r>
            <a:endParaRPr lang="en-US" sz="1200" dirty="0"/>
          </a:p>
        </p:txBody>
      </p:sp>
      <p:sp>
        <p:nvSpPr>
          <p:cNvPr id="23" name="Text 20"/>
          <p:cNvSpPr/>
          <p:nvPr/>
        </p:nvSpPr>
        <p:spPr>
          <a:xfrm>
            <a:off x="320040" y="4901184"/>
            <a:ext cx="7772400" cy="201168"/>
          </a:xfrm>
          <a:prstGeom prst="rect">
            <a:avLst/>
          </a:prstGeom>
          <a:noFill/>
          <a:ln/>
        </p:spPr>
        <p:txBody>
          <a:bodyPr wrap="square" lIns="0" tIns="0" rIns="0" bIns="0" rtlCol="0" anchor="ctr"/>
          <a:lstStyle/>
          <a:p>
            <a:pPr marL="0" indent="0">
              <a:buNone/>
            </a:pPr>
            <a:r>
              <a:rPr lang="en-US" sz="1000" dirty="0">
                <a:solidFill>
                  <a:srgbClr val="6B7C99"/>
                </a:solidFill>
                <a:latin typeface="Arial" pitchFamily="34" charset="0"/>
                <a:ea typeface="Arial" pitchFamily="34" charset="-122"/>
                <a:cs typeface="Arial" pitchFamily="34" charset="-120"/>
              </a:rPr>
              <a:t>Supervisor: Anna Nasedkina  ·  Southern Federal University  ·  July 6, 2026</a:t>
            </a:r>
            <a:endParaRPr lang="en-US" sz="1000" dirty="0"/>
          </a:p>
        </p:txBody>
      </p:sp>
      <p:sp>
        <p:nvSpPr>
          <p:cNvPr id="24" name="Shape 21"/>
          <p:cNvSpPr/>
          <p:nvPr/>
        </p:nvSpPr>
        <p:spPr>
          <a:xfrm>
            <a:off x="0" y="5074920"/>
            <a:ext cx="9144000" cy="182880"/>
          </a:xfrm>
          <a:prstGeom prst="rect">
            <a:avLst/>
          </a:prstGeom>
          <a:solidFill>
            <a:srgbClr val="C8102E"/>
          </a:solidFill>
          <a:ln w="12700">
            <a:solidFill>
              <a:srgbClr val="C8102E"/>
            </a:solidFill>
            <a:prstDash val="solid"/>
          </a:ln>
        </p:spPr>
        <p:txBody>
          <a:bodyPr/>
          <a:lstStyle/>
          <a:p>
            <a:endParaRPr lang="en-NG"/>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215</TotalTime>
  <Words>6149</Words>
  <Application>Microsoft Office PowerPoint</Application>
  <PresentationFormat>On-screen Show (16:9)</PresentationFormat>
  <Paragraphs>502</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Goriola-Obafemi Babatunde Sukanmi</dc:creator>
  <cp:lastModifiedBy>Гориола-Обафеми Бабатунде Суканми</cp:lastModifiedBy>
  <cp:revision>2</cp:revision>
  <dcterms:created xsi:type="dcterms:W3CDTF">2026-07-05T11:58:23Z</dcterms:created>
  <dcterms:modified xsi:type="dcterms:W3CDTF">2026-07-05T15:36:48Z</dcterms:modified>
</cp:coreProperties>
</file>